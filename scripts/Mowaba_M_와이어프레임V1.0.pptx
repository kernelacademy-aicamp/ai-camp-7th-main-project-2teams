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772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161" y="3570982"/>
            <a:ext cx="16576182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80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모와바 (Mowaba)</a:t>
            </a:r>
            <a:endParaRPr lang="en-US" sz="8003" dirty="0"/>
          </a:p>
        </p:txBody>
      </p:sp>
      <p:sp>
        <p:nvSpPr>
          <p:cNvPr id="3" name="Text 1"/>
          <p:cNvSpPr/>
          <p:nvPr/>
        </p:nvSpPr>
        <p:spPr>
          <a:xfrm>
            <a:off x="1133475" y="5156746"/>
            <a:ext cx="1657618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와이어프레임 V1.0 — 반응형 모바일 웹 (360×780기준)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898761" y="2560290"/>
            <a:ext cx="2560290" cy="5486400"/>
          </a:xfrm>
          <a:prstGeom prst="roundRect">
            <a:avLst>
              <a:gd name="adj" fmla="val 855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49475" y="2651671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4904690" y="7881937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3974961" y="2646015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82800" y="2684115"/>
            <a:ext cx="933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773400" y="264601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835312" y="2679353"/>
            <a:ext cx="2000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16078200" y="264601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130588" y="2669828"/>
            <a:ext cx="2190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3974961" y="2988915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53555" y="3027015"/>
            <a:ext cx="38576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 필터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3974961" y="3274665"/>
            <a:ext cx="240789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51161" y="3331815"/>
            <a:ext cx="252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북마크 검색... (예: 리액트 훅 정리한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974961" y="3655665"/>
            <a:ext cx="647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82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65개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5163800" y="3655665"/>
            <a:ext cx="647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713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↕ 최신순</a:t>
            </a:r>
            <a:endParaRPr lang="en-US" sz="713" dirty="0"/>
          </a:p>
        </p:txBody>
      </p:sp>
      <p:sp>
        <p:nvSpPr>
          <p:cNvPr id="20" name="Shape 18"/>
          <p:cNvSpPr/>
          <p:nvPr/>
        </p:nvSpPr>
        <p:spPr>
          <a:xfrm>
            <a:off x="15887700" y="3655665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135350" y="3655665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974961" y="3941415"/>
            <a:ext cx="1165771" cy="196691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974961" y="3941415"/>
            <a:ext cx="1165771" cy="66675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24571" y="41414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032111" y="3998565"/>
            <a:ext cx="381000" cy="1524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</p:sp>
      <p:sp>
        <p:nvSpPr>
          <p:cNvPr id="26" name="Text 24"/>
          <p:cNvSpPr/>
          <p:nvPr/>
        </p:nvSpPr>
        <p:spPr>
          <a:xfrm>
            <a:off x="14136886" y="4017615"/>
            <a:ext cx="2476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675" dirty="0"/>
          </a:p>
        </p:txBody>
      </p:sp>
      <p:sp>
        <p:nvSpPr>
          <p:cNvPr id="27" name="Shape 25"/>
          <p:cNvSpPr/>
          <p:nvPr/>
        </p:nvSpPr>
        <p:spPr>
          <a:xfrm>
            <a:off x="14051161" y="4684365"/>
            <a:ext cx="1013371" cy="7620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28" name="Shape 26"/>
          <p:cNvSpPr/>
          <p:nvPr/>
        </p:nvSpPr>
        <p:spPr>
          <a:xfrm>
            <a:off x="14051161" y="4798665"/>
            <a:ext cx="822871" cy="7620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29" name="Shape 27"/>
          <p:cNvSpPr/>
          <p:nvPr/>
        </p:nvSpPr>
        <p:spPr>
          <a:xfrm>
            <a:off x="14051161" y="4970115"/>
            <a:ext cx="918121" cy="5715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30" name="Text 28"/>
          <p:cNvSpPr/>
          <p:nvPr/>
        </p:nvSpPr>
        <p:spPr>
          <a:xfrm>
            <a:off x="14051161" y="5627340"/>
            <a:ext cx="17561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14184511" y="5660678"/>
            <a:ext cx="666750" cy="57150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32" name="Shape 30"/>
          <p:cNvSpPr/>
          <p:nvPr/>
        </p:nvSpPr>
        <p:spPr>
          <a:xfrm>
            <a:off x="15217080" y="3941415"/>
            <a:ext cx="1165771" cy="196691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217080" y="3941415"/>
            <a:ext cx="1165771" cy="66675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34" name="Shape 32"/>
          <p:cNvSpPr/>
          <p:nvPr/>
        </p:nvSpPr>
        <p:spPr>
          <a:xfrm>
            <a:off x="15666690" y="41414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293280" y="4684365"/>
            <a:ext cx="571500" cy="7620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36" name="Shape 34"/>
          <p:cNvSpPr/>
          <p:nvPr/>
        </p:nvSpPr>
        <p:spPr>
          <a:xfrm>
            <a:off x="15293280" y="4836765"/>
            <a:ext cx="952500" cy="5715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37" name="Text 35"/>
          <p:cNvSpPr/>
          <p:nvPr/>
        </p:nvSpPr>
        <p:spPr>
          <a:xfrm>
            <a:off x="15293280" y="5627340"/>
            <a:ext cx="17561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15426630" y="5660678"/>
            <a:ext cx="666750" cy="57150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39" name="Shape 37"/>
          <p:cNvSpPr/>
          <p:nvPr/>
        </p:nvSpPr>
        <p:spPr>
          <a:xfrm>
            <a:off x="13974961" y="5984528"/>
            <a:ext cx="1165771" cy="196691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974961" y="5984528"/>
            <a:ext cx="1165771" cy="66675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41" name="Shape 39"/>
          <p:cNvSpPr/>
          <p:nvPr/>
        </p:nvSpPr>
        <p:spPr>
          <a:xfrm>
            <a:off x="14424571" y="6184553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032111" y="6041678"/>
            <a:ext cx="476250" cy="1524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</p:sp>
      <p:sp>
        <p:nvSpPr>
          <p:cNvPr id="43" name="Text 41"/>
          <p:cNvSpPr/>
          <p:nvPr/>
        </p:nvSpPr>
        <p:spPr>
          <a:xfrm>
            <a:off x="14098786" y="6060728"/>
            <a:ext cx="419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14051161" y="6727478"/>
            <a:ext cx="1013371" cy="7620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45" name="Shape 43"/>
          <p:cNvSpPr/>
          <p:nvPr/>
        </p:nvSpPr>
        <p:spPr>
          <a:xfrm>
            <a:off x="14051161" y="6841778"/>
            <a:ext cx="822871" cy="7620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46" name="Shape 44"/>
          <p:cNvSpPr/>
          <p:nvPr/>
        </p:nvSpPr>
        <p:spPr>
          <a:xfrm>
            <a:off x="14051161" y="7013228"/>
            <a:ext cx="918121" cy="5715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47" name="Text 45"/>
          <p:cNvSpPr/>
          <p:nvPr/>
        </p:nvSpPr>
        <p:spPr>
          <a:xfrm>
            <a:off x="14051161" y="7670453"/>
            <a:ext cx="17561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4184511" y="7703790"/>
            <a:ext cx="666750" cy="57150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49" name="Shape 47"/>
          <p:cNvSpPr/>
          <p:nvPr/>
        </p:nvSpPr>
        <p:spPr>
          <a:xfrm>
            <a:off x="15217080" y="5984528"/>
            <a:ext cx="1165771" cy="196691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217080" y="5984528"/>
            <a:ext cx="1165771" cy="66675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51" name="Shape 49"/>
          <p:cNvSpPr/>
          <p:nvPr/>
        </p:nvSpPr>
        <p:spPr>
          <a:xfrm>
            <a:off x="15666690" y="6184553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293280" y="6727478"/>
            <a:ext cx="571500" cy="7620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53" name="Shape 51"/>
          <p:cNvSpPr/>
          <p:nvPr/>
        </p:nvSpPr>
        <p:spPr>
          <a:xfrm>
            <a:off x="15293280" y="6879878"/>
            <a:ext cx="952500" cy="5715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54" name="Text 52"/>
          <p:cNvSpPr/>
          <p:nvPr/>
        </p:nvSpPr>
        <p:spPr>
          <a:xfrm>
            <a:off x="15293280" y="7670453"/>
            <a:ext cx="17561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15426630" y="7703790"/>
            <a:ext cx="666750" cy="57150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 · 변환 정책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변환 정책 — PC → 모바일 웹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914400" y="2011561"/>
            <a:ext cx="4023271" cy="100578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1317" y="2371576"/>
            <a:ext cx="40683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 (고정)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82480" y="2301925"/>
            <a:ext cx="624780" cy="48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279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798" dirty="0"/>
          </a:p>
        </p:txBody>
      </p:sp>
      <p:sp>
        <p:nvSpPr>
          <p:cNvPr id="8" name="Shape 6"/>
          <p:cNvSpPr/>
          <p:nvPr/>
        </p:nvSpPr>
        <p:spPr>
          <a:xfrm>
            <a:off x="5852071" y="2011561"/>
            <a:ext cx="4389090" cy="1005780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23500" y="2371576"/>
            <a:ext cx="4445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햄버거 드로어 (☰)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2415" y="190202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00943" y="1973907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12" name="Shape 10"/>
          <p:cNvSpPr/>
          <p:nvPr/>
        </p:nvSpPr>
        <p:spPr>
          <a:xfrm>
            <a:off x="914400" y="3510855"/>
            <a:ext cx="4023271" cy="100578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317" y="3870871"/>
            <a:ext cx="40683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그리드 3열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82480" y="3801219"/>
            <a:ext cx="624780" cy="48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279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798" dirty="0"/>
          </a:p>
        </p:txBody>
      </p:sp>
      <p:sp>
        <p:nvSpPr>
          <p:cNvPr id="15" name="Shape 13"/>
          <p:cNvSpPr/>
          <p:nvPr/>
        </p:nvSpPr>
        <p:spPr>
          <a:xfrm>
            <a:off x="5852071" y="3510855"/>
            <a:ext cx="4389090" cy="1005780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3500" y="3870871"/>
            <a:ext cx="4445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2열 / 리스트·컴팩트 1열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415" y="340131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00943" y="347409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19" name="Shape 17"/>
          <p:cNvSpPr/>
          <p:nvPr/>
        </p:nvSpPr>
        <p:spPr>
          <a:xfrm>
            <a:off x="914400" y="5011043"/>
            <a:ext cx="4023271" cy="100578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317" y="5371058"/>
            <a:ext cx="40683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오버레이 모달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82480" y="5300514"/>
            <a:ext cx="624780" cy="48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279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798" dirty="0"/>
          </a:p>
        </p:txBody>
      </p:sp>
      <p:sp>
        <p:nvSpPr>
          <p:cNvPr id="22" name="Shape 20"/>
          <p:cNvSpPr/>
          <p:nvPr/>
        </p:nvSpPr>
        <p:spPr>
          <a:xfrm>
            <a:off x="5852071" y="5011043"/>
            <a:ext cx="4389090" cy="1005780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23500" y="5371058"/>
            <a:ext cx="4445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 모달 · 풀스크린 시트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2415" y="490150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400943" y="4973241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26" name="Shape 24"/>
          <p:cNvSpPr/>
          <p:nvPr/>
        </p:nvSpPr>
        <p:spPr>
          <a:xfrm>
            <a:off x="914400" y="6510338"/>
            <a:ext cx="4023271" cy="100578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317" y="6870353"/>
            <a:ext cx="40683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텍스트 버튼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82480" y="6800701"/>
            <a:ext cx="624780" cy="48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279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798" dirty="0"/>
          </a:p>
        </p:txBody>
      </p:sp>
      <p:sp>
        <p:nvSpPr>
          <p:cNvPr id="29" name="Shape 27"/>
          <p:cNvSpPr/>
          <p:nvPr/>
        </p:nvSpPr>
        <p:spPr>
          <a:xfrm>
            <a:off x="5852071" y="6510338"/>
            <a:ext cx="4389090" cy="1005780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23500" y="6870353"/>
            <a:ext cx="4445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 축약 (사용법·업로드 상시 노출)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12415" y="640080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400943" y="647342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98" dirty="0"/>
          </a:p>
        </p:txBody>
      </p:sp>
      <p:sp>
        <p:nvSpPr>
          <p:cNvPr id="33" name="Shape 31"/>
          <p:cNvSpPr/>
          <p:nvPr/>
        </p:nvSpPr>
        <p:spPr>
          <a:xfrm>
            <a:off x="914400" y="8010525"/>
            <a:ext cx="4023271" cy="100578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1317" y="8370540"/>
            <a:ext cx="40683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Chrome 익스텐션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082480" y="8299847"/>
            <a:ext cx="624780" cy="48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279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798" dirty="0"/>
          </a:p>
        </p:txBody>
      </p:sp>
      <p:sp>
        <p:nvSpPr>
          <p:cNvPr id="36" name="Shape 34"/>
          <p:cNvSpPr/>
          <p:nvPr/>
        </p:nvSpPr>
        <p:spPr>
          <a:xfrm>
            <a:off x="5852071" y="8010525"/>
            <a:ext cx="4389090" cy="1005780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23500" y="8370540"/>
            <a:ext cx="4445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전용 → URL 직접 추가로 대체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12415" y="789994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400943" y="797272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98" dirty="0"/>
          </a:p>
        </p:txBody>
      </p:sp>
      <p:sp>
        <p:nvSpPr>
          <p:cNvPr id="40" name="Shape 38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1" name="Text 39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42" name="Shape 40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44" name="Text 42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 → 드로어</a:t>
            </a:r>
            <a:endParaRPr lang="en-US" sz="1898" dirty="0"/>
          </a:p>
        </p:txBody>
      </p:sp>
      <p:sp>
        <p:nvSpPr>
          <p:cNvPr id="45" name="Text 43"/>
          <p:cNvSpPr/>
          <p:nvPr/>
        </p:nvSpPr>
        <p:spPr>
          <a:xfrm>
            <a:off x="11686133" y="26516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슬라이드-인, 외부 탭으로 닫힘. 네비·카테고리·회원정보 포함.</a:t>
            </a:r>
            <a:endParaRPr lang="en-US" sz="1598" dirty="0"/>
          </a:p>
        </p:txBody>
      </p:sp>
      <p:sp>
        <p:nvSpPr>
          <p:cNvPr id="46" name="Shape 44"/>
          <p:cNvSpPr/>
          <p:nvPr/>
        </p:nvSpPr>
        <p:spPr>
          <a:xfrm>
            <a:off x="11064180" y="323656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00346" y="3383161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8" name="Text 46"/>
          <p:cNvSpPr/>
          <p:nvPr/>
        </p:nvSpPr>
        <p:spPr>
          <a:xfrm>
            <a:off x="10989915" y="345593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49" name="Text 47"/>
          <p:cNvSpPr/>
          <p:nvPr/>
        </p:nvSpPr>
        <p:spPr>
          <a:xfrm>
            <a:off x="11686133" y="3378845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→ 2열 축소</a:t>
            </a:r>
            <a:endParaRPr lang="en-US" sz="1898" dirty="0"/>
          </a:p>
        </p:txBody>
      </p:sp>
      <p:sp>
        <p:nvSpPr>
          <p:cNvPr id="50" name="Text 48"/>
          <p:cNvSpPr/>
          <p:nvPr/>
        </p:nvSpPr>
        <p:spPr>
          <a:xfrm>
            <a:off x="11686133" y="371281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뷰 2열 카드가 모바일 default. 리스트·컴팩트는 1열 유지.</a:t>
            </a:r>
            <a:endParaRPr lang="en-US" sz="1598" dirty="0"/>
          </a:p>
        </p:txBody>
      </p:sp>
      <p:sp>
        <p:nvSpPr>
          <p:cNvPr id="51" name="Shape 49"/>
          <p:cNvSpPr/>
          <p:nvPr/>
        </p:nvSpPr>
        <p:spPr>
          <a:xfrm>
            <a:off x="11064180" y="4297561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2" name="Shape 50"/>
          <p:cNvSpPr/>
          <p:nvPr/>
        </p:nvSpPr>
        <p:spPr>
          <a:xfrm>
            <a:off x="11100346" y="444430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3" name="Text 51"/>
          <p:cNvSpPr/>
          <p:nvPr/>
        </p:nvSpPr>
        <p:spPr>
          <a:xfrm>
            <a:off x="10989915" y="4516041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54" name="Text 52"/>
          <p:cNvSpPr/>
          <p:nvPr/>
        </p:nvSpPr>
        <p:spPr>
          <a:xfrm>
            <a:off x="11686133" y="4439841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 → 시트</a:t>
            </a:r>
            <a:endParaRPr lang="en-US" sz="1898" dirty="0"/>
          </a:p>
        </p:txBody>
      </p:sp>
      <p:sp>
        <p:nvSpPr>
          <p:cNvPr id="55" name="Text 53"/>
          <p:cNvSpPr/>
          <p:nvPr/>
        </p:nvSpPr>
        <p:spPr>
          <a:xfrm>
            <a:off x="11686133" y="4772918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 추가=센터 모달, 수정=풀스크린 시트, 프로필=드로어 내 인라인.</a:t>
            </a:r>
            <a:endParaRPr lang="en-US" sz="1598" dirty="0"/>
          </a:p>
        </p:txBody>
      </p:sp>
      <p:sp>
        <p:nvSpPr>
          <p:cNvPr id="56" name="Shape 54"/>
          <p:cNvSpPr/>
          <p:nvPr/>
        </p:nvSpPr>
        <p:spPr>
          <a:xfrm>
            <a:off x="11064180" y="535870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7" name="Shape 55"/>
          <p:cNvSpPr/>
          <p:nvPr/>
        </p:nvSpPr>
        <p:spPr>
          <a:xfrm>
            <a:off x="11100346" y="550440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8" name="Text 56"/>
          <p:cNvSpPr/>
          <p:nvPr/>
        </p:nvSpPr>
        <p:spPr>
          <a:xfrm>
            <a:off x="10989915" y="557718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98" dirty="0"/>
          </a:p>
        </p:txBody>
      </p:sp>
      <p:sp>
        <p:nvSpPr>
          <p:cNvPr id="59" name="Text 57"/>
          <p:cNvSpPr/>
          <p:nvPr/>
        </p:nvSpPr>
        <p:spPr>
          <a:xfrm>
            <a:off x="11686133" y="549994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축약</a:t>
            </a:r>
            <a:endParaRPr lang="en-US" sz="1898" dirty="0"/>
          </a:p>
        </p:txBody>
      </p:sp>
      <p:sp>
        <p:nvSpPr>
          <p:cNvPr id="60" name="Text 58"/>
          <p:cNvSpPr/>
          <p:nvPr/>
        </p:nvSpPr>
        <p:spPr>
          <a:xfrm>
            <a:off x="11686133" y="5834063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 추가만 ＋ 아이콘 상시 노출. 사용법·파일 업로드도 헤더에 상시 노출.</a:t>
            </a:r>
            <a:endParaRPr lang="en-US" sz="1598" dirty="0"/>
          </a:p>
        </p:txBody>
      </p:sp>
      <p:sp>
        <p:nvSpPr>
          <p:cNvPr id="61" name="Shape 59"/>
          <p:cNvSpPr/>
          <p:nvPr/>
        </p:nvSpPr>
        <p:spPr>
          <a:xfrm>
            <a:off x="11064180" y="6418808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2" name="Shape 60"/>
          <p:cNvSpPr/>
          <p:nvPr/>
        </p:nvSpPr>
        <p:spPr>
          <a:xfrm>
            <a:off x="11100346" y="656555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3" name="Text 61"/>
          <p:cNvSpPr/>
          <p:nvPr/>
        </p:nvSpPr>
        <p:spPr>
          <a:xfrm>
            <a:off x="10989915" y="663728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98" dirty="0"/>
          </a:p>
        </p:txBody>
      </p:sp>
      <p:sp>
        <p:nvSpPr>
          <p:cNvPr id="64" name="Text 62"/>
          <p:cNvSpPr/>
          <p:nvPr/>
        </p:nvSpPr>
        <p:spPr>
          <a:xfrm>
            <a:off x="11686133" y="6561088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진입 대체</a:t>
            </a:r>
            <a:endParaRPr lang="en-US" sz="1898" dirty="0"/>
          </a:p>
        </p:txBody>
      </p:sp>
      <p:sp>
        <p:nvSpPr>
          <p:cNvPr id="65" name="Text 63"/>
          <p:cNvSpPr/>
          <p:nvPr/>
        </p:nvSpPr>
        <p:spPr>
          <a:xfrm>
            <a:off x="11686133" y="6894165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브라우저는 익스텐션 미지원 → ＋(URL 직접 추가)가 주 저장 경로.</a:t>
            </a:r>
            <a:endParaRPr lang="en-US" sz="1598" dirty="0"/>
          </a:p>
        </p:txBody>
      </p:sp>
      <p:sp>
        <p:nvSpPr>
          <p:cNvPr id="66" name="Shape 64"/>
          <p:cNvSpPr/>
          <p:nvPr/>
        </p:nvSpPr>
        <p:spPr>
          <a:xfrm>
            <a:off x="11064180" y="755332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7" name="Text 65"/>
          <p:cNvSpPr/>
          <p:nvPr/>
        </p:nvSpPr>
        <p:spPr>
          <a:xfrm>
            <a:off x="11686133" y="769456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1898" dirty="0"/>
          </a:p>
        </p:txBody>
      </p:sp>
      <p:sp>
        <p:nvSpPr>
          <p:cNvPr id="68" name="Text 66"/>
          <p:cNvSpPr/>
          <p:nvPr/>
        </p:nvSpPr>
        <p:spPr>
          <a:xfrm>
            <a:off x="11686133" y="8028533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360×780· 터치 타깃 최소 44px · 하단 고정 CTA 우선.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 · Mobile Web (실제 화면)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비로그인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진입 흐름 — 시작하기 → 로그인 → Google 계속하기</a:t>
            </a:r>
            <a:endParaRPr lang="en-US" sz="3203" dirty="0"/>
          </a:p>
        </p:txBody>
      </p:sp>
      <p:sp>
        <p:nvSpPr>
          <p:cNvPr id="5" name="Text 3"/>
          <p:cNvSpPr/>
          <p:nvPr/>
        </p:nvSpPr>
        <p:spPr>
          <a:xfrm>
            <a:off x="548580" y="9805839"/>
            <a:ext cx="177064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배포본(ai-camp-7th-…vercel.app) 기준 반응형 재구성 — 랜딩 타이틀 "Bookmarker" 잔존, 로그인 화면은 "Mowaba"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99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73436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219426" y="8512373"/>
            <a:ext cx="3767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 (/welcome)</a:t>
            </a:r>
            <a:endParaRPr lang="en-US" sz="1702" dirty="0"/>
          </a:p>
        </p:txBody>
      </p:sp>
      <p:sp>
        <p:nvSpPr>
          <p:cNvPr id="10" name="Shape 8"/>
          <p:cNvSpPr/>
          <p:nvPr/>
        </p:nvSpPr>
        <p:spPr>
          <a:xfrm>
            <a:off x="786705" y="2206823"/>
            <a:ext cx="95250" cy="9525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11" name="Text 9"/>
          <p:cNvSpPr/>
          <p:nvPr/>
        </p:nvSpPr>
        <p:spPr>
          <a:xfrm>
            <a:off x="939105" y="2145804"/>
            <a:ext cx="12192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Mowaba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563118" y="2121098"/>
            <a:ext cx="857250" cy="3429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</p:sp>
      <p:sp>
        <p:nvSpPr>
          <p:cNvPr id="13" name="Text 11"/>
          <p:cNvSpPr/>
          <p:nvPr/>
        </p:nvSpPr>
        <p:spPr>
          <a:xfrm>
            <a:off x="2525018" y="2193429"/>
            <a:ext cx="933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786705" y="2635448"/>
            <a:ext cx="2286000" cy="2667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1955" y="2669679"/>
            <a:ext cx="234696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825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AI 자동 태깅 · pgvector 자연어 검색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86705" y="3074640"/>
            <a:ext cx="2712672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72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저장은 1초,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86705" y="3359348"/>
            <a:ext cx="2712672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72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정리는 AI가 합니다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86705" y="3833664"/>
            <a:ext cx="289702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링크만 붙여넣으면 제목·태그·카테고리가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86705" y="4031754"/>
            <a:ext cx="289702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채워집니다. 나중엔 "리액트 훅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86705" y="4229844"/>
            <a:ext cx="289702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정리"처럼 문장으로 검색하세요.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786705" y="4654748"/>
            <a:ext cx="2633663" cy="4953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</p:sp>
      <p:sp>
        <p:nvSpPr>
          <p:cNvPr id="22" name="Text 20"/>
          <p:cNvSpPr/>
          <p:nvPr/>
        </p:nvSpPr>
        <p:spPr>
          <a:xfrm>
            <a:off x="655022" y="4798516"/>
            <a:ext cx="2897029" cy="245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시작하기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11711" y="448434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3100388" y="4552355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25" name="Shape 23"/>
          <p:cNvSpPr/>
          <p:nvPr/>
        </p:nvSpPr>
        <p:spPr>
          <a:xfrm>
            <a:off x="786705" y="5245298"/>
            <a:ext cx="263366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022" y="5374779"/>
            <a:ext cx="289702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08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살펴보기</a:t>
            </a:r>
            <a:endParaRPr lang="en-US" sz="1088" dirty="0"/>
          </a:p>
        </p:txBody>
      </p:sp>
      <p:sp>
        <p:nvSpPr>
          <p:cNvPr id="27" name="Text 25"/>
          <p:cNvSpPr/>
          <p:nvPr/>
        </p:nvSpPr>
        <p:spPr>
          <a:xfrm>
            <a:off x="786705" y="5870079"/>
            <a:ext cx="289702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Google·Kakao 로그인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786705" y="6136779"/>
            <a:ext cx="289702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브라우저 북마크 가져오기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86705" y="6403479"/>
            <a:ext cx="289702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설치 없이 웹에서 바로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786705" y="6788348"/>
            <a:ext cx="2633663" cy="793403"/>
          </a:xfrm>
          <a:prstGeom prst="roundRect">
            <a:avLst>
              <a:gd name="adj" fmla="val 9604"/>
            </a:avLst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738842" y="7086005"/>
            <a:ext cx="272938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미리보기 + "AI가 자동 분류 완료" 배지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619500" y="4989909"/>
            <a:ext cx="624780" cy="48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279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798" dirty="0"/>
          </a:p>
        </p:txBody>
      </p:sp>
      <p:sp>
        <p:nvSpPr>
          <p:cNvPr id="33" name="Shape 31"/>
          <p:cNvSpPr/>
          <p:nvPr/>
        </p:nvSpPr>
        <p:spPr>
          <a:xfrm>
            <a:off x="42975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31036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0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36" name="Text 34"/>
          <p:cNvSpPr/>
          <p:nvPr/>
        </p:nvSpPr>
        <p:spPr>
          <a:xfrm>
            <a:off x="3877026" y="8512373"/>
            <a:ext cx="3767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(/login)</a:t>
            </a:r>
            <a:endParaRPr lang="en-US" sz="1702" dirty="0"/>
          </a:p>
        </p:txBody>
      </p:sp>
      <p:sp>
        <p:nvSpPr>
          <p:cNvPr id="37" name="Shape 35"/>
          <p:cNvSpPr/>
          <p:nvPr/>
        </p:nvSpPr>
        <p:spPr>
          <a:xfrm>
            <a:off x="4335661" y="1866900"/>
            <a:ext cx="2849761" cy="650736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Shape 36"/>
          <p:cNvSpPr/>
          <p:nvPr/>
        </p:nvSpPr>
        <p:spPr>
          <a:xfrm>
            <a:off x="4526161" y="3120330"/>
            <a:ext cx="2468761" cy="32385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70190" y="334893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8061" y="3835598"/>
            <a:ext cx="2544961" cy="28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42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Mowaba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4402723" y="4135636"/>
            <a:ext cx="2715637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자동으로 정리하는 북마크</a:t>
            </a:r>
            <a:endParaRPr lang="en-US" sz="938" dirty="0"/>
          </a:p>
        </p:txBody>
      </p:sp>
      <p:sp>
        <p:nvSpPr>
          <p:cNvPr id="42" name="Shape 40"/>
          <p:cNvSpPr/>
          <p:nvPr/>
        </p:nvSpPr>
        <p:spPr>
          <a:xfrm>
            <a:off x="4678561" y="4549080"/>
            <a:ext cx="2163961" cy="47625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</p:sp>
      <p:sp>
        <p:nvSpPr>
          <p:cNvPr id="43" name="Text 41"/>
          <p:cNvSpPr/>
          <p:nvPr/>
        </p:nvSpPr>
        <p:spPr>
          <a:xfrm>
            <a:off x="4570363" y="4688086"/>
            <a:ext cx="2380357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Google로 계속하기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6691313" y="441662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6579840" y="4484787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46" name="Shape 44"/>
          <p:cNvSpPr/>
          <p:nvPr/>
        </p:nvSpPr>
        <p:spPr>
          <a:xfrm>
            <a:off x="4678561" y="5139630"/>
            <a:ext cx="2163961" cy="47625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0363" y="5278636"/>
            <a:ext cx="2380357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카카오로 계속하기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6691313" y="500717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6579840" y="5075337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</a:t>
            </a:r>
            <a:endParaRPr lang="en-US" sz="1598" dirty="0"/>
          </a:p>
        </p:txBody>
      </p:sp>
      <p:sp>
        <p:nvSpPr>
          <p:cNvPr id="50" name="Text 48"/>
          <p:cNvSpPr/>
          <p:nvPr/>
        </p:nvSpPr>
        <p:spPr>
          <a:xfrm>
            <a:off x="4402723" y="5783461"/>
            <a:ext cx="2715637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 보기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6352133" y="567392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6240661" y="5742087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</a:t>
            </a:r>
            <a:endParaRPr lang="en-US" sz="1598" dirty="0"/>
          </a:p>
        </p:txBody>
      </p:sp>
      <p:sp>
        <p:nvSpPr>
          <p:cNvPr id="53" name="Text 51"/>
          <p:cNvSpPr/>
          <p:nvPr/>
        </p:nvSpPr>
        <p:spPr>
          <a:xfrm>
            <a:off x="7277100" y="4989909"/>
            <a:ext cx="624780" cy="48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279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798" dirty="0"/>
          </a:p>
        </p:txBody>
      </p:sp>
      <p:sp>
        <p:nvSpPr>
          <p:cNvPr id="54" name="Shape 52"/>
          <p:cNvSpPr/>
          <p:nvPr/>
        </p:nvSpPr>
        <p:spPr>
          <a:xfrm>
            <a:off x="79551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88636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56" name="Shape 54"/>
          <p:cNvSpPr/>
          <p:nvPr/>
        </p:nvSpPr>
        <p:spPr>
          <a:xfrm>
            <a:off x="9144000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57" name="Text 55"/>
          <p:cNvSpPr/>
          <p:nvPr/>
        </p:nvSpPr>
        <p:spPr>
          <a:xfrm>
            <a:off x="7534626" y="8512373"/>
            <a:ext cx="3767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OAuth</a:t>
            </a:r>
            <a:endParaRPr lang="en-US" sz="1702" dirty="0"/>
          </a:p>
        </p:txBody>
      </p:sp>
      <p:sp>
        <p:nvSpPr>
          <p:cNvPr id="58" name="Shape 56"/>
          <p:cNvSpPr/>
          <p:nvPr/>
        </p:nvSpPr>
        <p:spPr>
          <a:xfrm>
            <a:off x="8101905" y="2304008"/>
            <a:ext cx="2633663" cy="4572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10056" y="2418308"/>
            <a:ext cx="28163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402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선택</a:t>
            </a:r>
            <a:endParaRPr lang="en-US" sz="1402" dirty="0"/>
          </a:p>
        </p:txBody>
      </p:sp>
      <p:sp>
        <p:nvSpPr>
          <p:cNvPr id="60" name="Shape 58"/>
          <p:cNvSpPr/>
          <p:nvPr/>
        </p:nvSpPr>
        <p:spPr>
          <a:xfrm>
            <a:off x="8101905" y="2889796"/>
            <a:ext cx="2633663" cy="54858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10056" y="3054548"/>
            <a:ext cx="28163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user@gmail.com</a:t>
            </a:r>
            <a:endParaRPr lang="en-US" sz="1298" dirty="0"/>
          </a:p>
        </p:txBody>
      </p:sp>
      <p:sp>
        <p:nvSpPr>
          <p:cNvPr id="62" name="Shape 60"/>
          <p:cNvSpPr/>
          <p:nvPr/>
        </p:nvSpPr>
        <p:spPr>
          <a:xfrm>
            <a:off x="8101905" y="3548063"/>
            <a:ext cx="2633663" cy="54858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10056" y="3712815"/>
            <a:ext cx="28163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계정 사용</a:t>
            </a:r>
            <a:endParaRPr lang="en-US" sz="1298" dirty="0"/>
          </a:p>
        </p:txBody>
      </p:sp>
      <p:sp>
        <p:nvSpPr>
          <p:cNvPr id="64" name="Shape 62"/>
          <p:cNvSpPr/>
          <p:nvPr/>
        </p:nvSpPr>
        <p:spPr>
          <a:xfrm>
            <a:off x="8101905" y="4498628"/>
            <a:ext cx="2633663" cy="73149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10056" y="4749998"/>
            <a:ext cx="28163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4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동의</a:t>
            </a:r>
            <a:endParaRPr lang="en-US" sz="1402" dirty="0"/>
          </a:p>
        </p:txBody>
      </p:sp>
      <p:sp>
        <p:nvSpPr>
          <p:cNvPr id="66" name="Shape 64"/>
          <p:cNvSpPr/>
          <p:nvPr/>
        </p:nvSpPr>
        <p:spPr>
          <a:xfrm>
            <a:off x="8101905" y="6876008"/>
            <a:ext cx="2633663" cy="584746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10056" y="7058769"/>
            <a:ext cx="28163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완료 → 대시보드</a:t>
            </a:r>
            <a:endParaRPr lang="en-US" sz="1298" dirty="0"/>
          </a:p>
        </p:txBody>
      </p:sp>
      <p:sp>
        <p:nvSpPr>
          <p:cNvPr id="68" name="Shape 66"/>
          <p:cNvSpPr/>
          <p:nvPr/>
        </p:nvSpPr>
        <p:spPr>
          <a:xfrm>
            <a:off x="7845623" y="234121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9" name="Text 67"/>
          <p:cNvSpPr/>
          <p:nvPr/>
        </p:nvSpPr>
        <p:spPr>
          <a:xfrm>
            <a:off x="7734300" y="241295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70" name="Shape 68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1" name="Text 69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72" name="Shape 70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3" name="Text 71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74" name="Text 72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버튼</a:t>
            </a:r>
            <a:endParaRPr lang="en-US" sz="1898" dirty="0"/>
          </a:p>
        </p:txBody>
      </p:sp>
      <p:sp>
        <p:nvSpPr>
          <p:cNvPr id="75" name="Text 73"/>
          <p:cNvSpPr/>
          <p:nvPr/>
        </p:nvSpPr>
        <p:spPr>
          <a:xfrm>
            <a:off x="11686133" y="26516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 하단 CTA. 클릭 시 로그인 페이지(/login)로 이동.</a:t>
            </a:r>
            <a:endParaRPr lang="en-US" sz="1598" dirty="0"/>
          </a:p>
        </p:txBody>
      </p:sp>
      <p:sp>
        <p:nvSpPr>
          <p:cNvPr id="76" name="Shape 74"/>
          <p:cNvSpPr/>
          <p:nvPr/>
        </p:nvSpPr>
        <p:spPr>
          <a:xfrm>
            <a:off x="11064180" y="3200400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7" name="Shape 75"/>
          <p:cNvSpPr/>
          <p:nvPr/>
        </p:nvSpPr>
        <p:spPr>
          <a:xfrm>
            <a:off x="11100346" y="334699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8" name="Text 76"/>
          <p:cNvSpPr/>
          <p:nvPr/>
        </p:nvSpPr>
        <p:spPr>
          <a:xfrm>
            <a:off x="10989915" y="341888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79" name="Text 77"/>
          <p:cNvSpPr/>
          <p:nvPr/>
        </p:nvSpPr>
        <p:spPr>
          <a:xfrm>
            <a:off x="11686133" y="3342531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Google로 계속하기</a:t>
            </a:r>
            <a:endParaRPr lang="en-US" sz="1898" dirty="0"/>
          </a:p>
        </p:txBody>
      </p:sp>
      <p:sp>
        <p:nvSpPr>
          <p:cNvPr id="80" name="Text 78"/>
          <p:cNvSpPr/>
          <p:nvPr/>
        </p:nvSpPr>
        <p:spPr>
          <a:xfrm>
            <a:off x="11686133" y="3675608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기본 로그인 방식. 클릭 시 Google OAuth 진행.</a:t>
            </a:r>
            <a:endParaRPr lang="en-US" sz="1598" dirty="0"/>
          </a:p>
        </p:txBody>
      </p:sp>
      <p:sp>
        <p:nvSpPr>
          <p:cNvPr id="81" name="Shape 79"/>
          <p:cNvSpPr/>
          <p:nvPr/>
        </p:nvSpPr>
        <p:spPr>
          <a:xfrm>
            <a:off x="11064180" y="4224338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2" name="Shape 80"/>
          <p:cNvSpPr/>
          <p:nvPr/>
        </p:nvSpPr>
        <p:spPr>
          <a:xfrm>
            <a:off x="11100346" y="437093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3" name="Text 81"/>
          <p:cNvSpPr/>
          <p:nvPr/>
        </p:nvSpPr>
        <p:spPr>
          <a:xfrm>
            <a:off x="10989915" y="4442817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</a:t>
            </a:r>
            <a:endParaRPr lang="en-US" sz="1598" dirty="0"/>
          </a:p>
        </p:txBody>
      </p:sp>
      <p:sp>
        <p:nvSpPr>
          <p:cNvPr id="84" name="Text 82"/>
          <p:cNvSpPr/>
          <p:nvPr/>
        </p:nvSpPr>
        <p:spPr>
          <a:xfrm>
            <a:off x="11686133" y="4366468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카카오로 계속하기</a:t>
            </a:r>
            <a:endParaRPr lang="en-US" sz="1898" dirty="0"/>
          </a:p>
        </p:txBody>
      </p:sp>
      <p:sp>
        <p:nvSpPr>
          <p:cNvPr id="85" name="Text 83"/>
          <p:cNvSpPr/>
          <p:nvPr/>
        </p:nvSpPr>
        <p:spPr>
          <a:xfrm>
            <a:off x="11686133" y="4699546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배포본에 이미 노출 중 (기존 IA상 v1.1 계획보다 앞당겨 반영).</a:t>
            </a:r>
            <a:endParaRPr lang="en-US" sz="1598" dirty="0"/>
          </a:p>
        </p:txBody>
      </p:sp>
      <p:sp>
        <p:nvSpPr>
          <p:cNvPr id="86" name="Shape 84"/>
          <p:cNvSpPr/>
          <p:nvPr/>
        </p:nvSpPr>
        <p:spPr>
          <a:xfrm>
            <a:off x="11064180" y="524827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7" name="Shape 85"/>
          <p:cNvSpPr/>
          <p:nvPr/>
        </p:nvSpPr>
        <p:spPr>
          <a:xfrm>
            <a:off x="11100346" y="5394871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8" name="Text 86"/>
          <p:cNvSpPr/>
          <p:nvPr/>
        </p:nvSpPr>
        <p:spPr>
          <a:xfrm>
            <a:off x="10989915" y="546764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</a:t>
            </a:r>
            <a:endParaRPr lang="en-US" sz="1598" dirty="0"/>
          </a:p>
        </p:txBody>
      </p:sp>
      <p:sp>
        <p:nvSpPr>
          <p:cNvPr id="89" name="Text 87"/>
          <p:cNvSpPr/>
          <p:nvPr/>
        </p:nvSpPr>
        <p:spPr>
          <a:xfrm>
            <a:off x="11686133" y="5390406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 보기</a:t>
            </a:r>
            <a:endParaRPr lang="en-US" sz="1898" dirty="0"/>
          </a:p>
        </p:txBody>
      </p:sp>
      <p:sp>
        <p:nvSpPr>
          <p:cNvPr id="90" name="Text 88"/>
          <p:cNvSpPr/>
          <p:nvPr/>
        </p:nvSpPr>
        <p:spPr>
          <a:xfrm>
            <a:off x="11686133" y="572452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없이 랜딩(/welcome) 다시 확인 가능한 링크.</a:t>
            </a:r>
            <a:endParaRPr lang="en-US" sz="1598" dirty="0"/>
          </a:p>
        </p:txBody>
      </p:sp>
      <p:sp>
        <p:nvSpPr>
          <p:cNvPr id="91" name="Shape 89"/>
          <p:cNvSpPr/>
          <p:nvPr/>
        </p:nvSpPr>
        <p:spPr>
          <a:xfrm>
            <a:off x="11064180" y="627310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2" name="Shape 90"/>
          <p:cNvSpPr/>
          <p:nvPr/>
        </p:nvSpPr>
        <p:spPr>
          <a:xfrm>
            <a:off x="11100346" y="641880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3" name="Text 91"/>
          <p:cNvSpPr/>
          <p:nvPr/>
        </p:nvSpPr>
        <p:spPr>
          <a:xfrm>
            <a:off x="10989915" y="649158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94" name="Text 92"/>
          <p:cNvSpPr/>
          <p:nvPr/>
        </p:nvSpPr>
        <p:spPr>
          <a:xfrm>
            <a:off x="11686133" y="641434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OAuth 진행</a:t>
            </a:r>
            <a:endParaRPr lang="en-US" sz="1898" dirty="0"/>
          </a:p>
        </p:txBody>
      </p:sp>
      <p:sp>
        <p:nvSpPr>
          <p:cNvPr id="95" name="Text 93"/>
          <p:cNvSpPr/>
          <p:nvPr/>
        </p:nvSpPr>
        <p:spPr>
          <a:xfrm>
            <a:off x="11686133" y="6748463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선택 → 권한 동의 → 로그인 완료 → 대시보드 이동.</a:t>
            </a:r>
            <a:endParaRPr lang="en-US" sz="1598" dirty="0"/>
          </a:p>
        </p:txBody>
      </p:sp>
      <p:sp>
        <p:nvSpPr>
          <p:cNvPr id="96" name="Shape 94"/>
          <p:cNvSpPr/>
          <p:nvPr/>
        </p:nvSpPr>
        <p:spPr>
          <a:xfrm>
            <a:off x="11064180" y="729704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7" name="Text 95"/>
          <p:cNvSpPr/>
          <p:nvPr/>
        </p:nvSpPr>
        <p:spPr>
          <a:xfrm>
            <a:off x="11686133" y="743932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참고</a:t>
            </a:r>
            <a:endParaRPr lang="en-US" sz="1898" dirty="0"/>
          </a:p>
        </p:txBody>
      </p:sp>
      <p:sp>
        <p:nvSpPr>
          <p:cNvPr id="98" name="Text 96"/>
          <p:cNvSpPr/>
          <p:nvPr/>
        </p:nvSpPr>
        <p:spPr>
          <a:xfrm>
            <a:off x="11686133" y="7772400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OAuth는 시스템 브라우저 전체 화면으로 전환됨.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 · Mobile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로그인 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저장 흐름 — URL 직접 추가 (익스텐션은 PC 전용)</a:t>
            </a:r>
            <a:endParaRPr lang="en-US" sz="3203" dirty="0"/>
          </a:p>
        </p:txBody>
      </p:sp>
      <p:sp>
        <p:nvSpPr>
          <p:cNvPr id="5" name="Text 3"/>
          <p:cNvSpPr/>
          <p:nvPr/>
        </p:nvSpPr>
        <p:spPr>
          <a:xfrm>
            <a:off x="548580" y="9805839"/>
            <a:ext cx="177064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Chrome 익스텐션(Cmd+Shift+S)은 데스크톱 전용 — 모바일 웹은 헤더 ＋ 버튼의 URL 직접 추가가 주 저장 경로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99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73436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219426" y="8512373"/>
            <a:ext cx="3767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추가 모달</a:t>
            </a:r>
            <a:endParaRPr lang="en-US" sz="1702" dirty="0"/>
          </a:p>
        </p:txBody>
      </p:sp>
      <p:sp>
        <p:nvSpPr>
          <p:cNvPr id="10" name="Shape 8"/>
          <p:cNvSpPr/>
          <p:nvPr/>
        </p:nvSpPr>
        <p:spPr>
          <a:xfrm>
            <a:off x="786705" y="2121098"/>
            <a:ext cx="2633663" cy="475208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028" y="2199680"/>
            <a:ext cx="441871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</a:t>
            </a:r>
            <a:endParaRPr lang="en-US" sz="2002" dirty="0"/>
          </a:p>
        </p:txBody>
      </p:sp>
      <p:sp>
        <p:nvSpPr>
          <p:cNvPr id="12" name="Text 10"/>
          <p:cNvSpPr/>
          <p:nvPr/>
        </p:nvSpPr>
        <p:spPr>
          <a:xfrm>
            <a:off x="1224855" y="2230041"/>
            <a:ext cx="13562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Mowaba</a:t>
            </a:r>
            <a:endParaRPr lang="en-US" sz="1598" dirty="0"/>
          </a:p>
        </p:txBody>
      </p:sp>
      <p:sp>
        <p:nvSpPr>
          <p:cNvPr id="13" name="Text 11"/>
          <p:cNvSpPr/>
          <p:nvPr/>
        </p:nvSpPr>
        <p:spPr>
          <a:xfrm>
            <a:off x="2533650" y="2263378"/>
            <a:ext cx="457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52750" y="2134493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5138" y="2163068"/>
            <a:ext cx="1809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3200400" y="2134493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8025" y="2158305"/>
            <a:ext cx="1905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8061" y="1866900"/>
            <a:ext cx="2849761" cy="6507361"/>
          </a:xfrm>
          <a:prstGeom prst="roundRect">
            <a:avLst>
              <a:gd name="adj" fmla="val 6351"/>
            </a:avLst>
          </a:prstGeom>
          <a:solidFill>
            <a:srgbClr val="111827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6705" y="3703290"/>
            <a:ext cx="2633663" cy="2834580"/>
          </a:xfrm>
          <a:prstGeom prst="roundRect">
            <a:avLst>
              <a:gd name="adj" fmla="val 2785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8086" y="3863280"/>
            <a:ext cx="26958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402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 추가 ✕</a:t>
            </a:r>
            <a:endParaRPr lang="en-US" sz="1402" dirty="0"/>
          </a:p>
        </p:txBody>
      </p:sp>
      <p:sp>
        <p:nvSpPr>
          <p:cNvPr id="21" name="Shape 19"/>
          <p:cNvSpPr/>
          <p:nvPr/>
        </p:nvSpPr>
        <p:spPr>
          <a:xfrm>
            <a:off x="878086" y="4251871"/>
            <a:ext cx="2450753" cy="475208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89388"/>
            <a:ext cx="26151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https://…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423" y="428907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419100" y="436081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25" name="Shape 23"/>
          <p:cNvSpPr/>
          <p:nvPr/>
        </p:nvSpPr>
        <p:spPr>
          <a:xfrm>
            <a:off x="878086" y="4837658"/>
            <a:ext cx="2450753" cy="9144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31" y="5194846"/>
            <a:ext cx="26151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미리보기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78086" y="5897761"/>
            <a:ext cx="2450753" cy="475208"/>
          </a:xfrm>
          <a:prstGeom prst="roundRect">
            <a:avLst>
              <a:gd name="adj" fmla="val 15434"/>
            </a:avLst>
          </a:prstGeom>
          <a:solidFill>
            <a:srgbClr val="1F2937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31" y="6020991"/>
            <a:ext cx="26151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4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 추가</a:t>
            </a:r>
            <a:endParaRPr lang="en-US" sz="1402" dirty="0"/>
          </a:p>
        </p:txBody>
      </p:sp>
      <p:sp>
        <p:nvSpPr>
          <p:cNvPr id="29" name="Text 27"/>
          <p:cNvSpPr/>
          <p:nvPr/>
        </p:nvSpPr>
        <p:spPr>
          <a:xfrm>
            <a:off x="3619500" y="4989909"/>
            <a:ext cx="624780" cy="48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279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798" dirty="0"/>
          </a:p>
        </p:txBody>
      </p:sp>
      <p:sp>
        <p:nvSpPr>
          <p:cNvPr id="30" name="Shape 28"/>
          <p:cNvSpPr/>
          <p:nvPr/>
        </p:nvSpPr>
        <p:spPr>
          <a:xfrm>
            <a:off x="42975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31036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0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3877026" y="8512373"/>
            <a:ext cx="3767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태그 미리보기</a:t>
            </a:r>
            <a:endParaRPr lang="en-US" sz="1702" dirty="0"/>
          </a:p>
        </p:txBody>
      </p:sp>
      <p:sp>
        <p:nvSpPr>
          <p:cNvPr id="34" name="Shape 32"/>
          <p:cNvSpPr/>
          <p:nvPr/>
        </p:nvSpPr>
        <p:spPr>
          <a:xfrm>
            <a:off x="4444305" y="2121098"/>
            <a:ext cx="2633663" cy="475208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8628" y="2193429"/>
            <a:ext cx="441871" cy="368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2002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</a:t>
            </a:r>
            <a:endParaRPr lang="en-US" sz="2002" dirty="0"/>
          </a:p>
        </p:txBody>
      </p:sp>
      <p:sp>
        <p:nvSpPr>
          <p:cNvPr id="36" name="Text 34"/>
          <p:cNvSpPr/>
          <p:nvPr/>
        </p:nvSpPr>
        <p:spPr>
          <a:xfrm>
            <a:off x="4882455" y="2226320"/>
            <a:ext cx="1356271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Mowaba</a:t>
            </a:r>
            <a:endParaRPr lang="en-US" sz="1598" dirty="0"/>
          </a:p>
        </p:txBody>
      </p:sp>
      <p:sp>
        <p:nvSpPr>
          <p:cNvPr id="37" name="Text 35"/>
          <p:cNvSpPr/>
          <p:nvPr/>
        </p:nvSpPr>
        <p:spPr>
          <a:xfrm>
            <a:off x="6191250" y="2259657"/>
            <a:ext cx="4572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10350" y="2134493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2250" y="2140148"/>
            <a:ext cx="2857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82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⬆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6858000" y="2134493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9900" y="2140148"/>
            <a:ext cx="2857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40313" y="1866900"/>
            <a:ext cx="2849761" cy="6507361"/>
          </a:xfrm>
          <a:prstGeom prst="roundRect">
            <a:avLst>
              <a:gd name="adj" fmla="val 6351"/>
            </a:avLst>
          </a:prstGeom>
          <a:solidFill>
            <a:srgbClr val="111827">
              <a:alpha val="4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44305" y="3009900"/>
            <a:ext cx="2633663" cy="3524250"/>
          </a:xfrm>
          <a:prstGeom prst="roundRect">
            <a:avLst>
              <a:gd name="adj" fmla="val 2785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35686" y="3166021"/>
            <a:ext cx="2695828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402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 추가 ✕</a:t>
            </a:r>
            <a:endParaRPr lang="en-US" sz="1402" dirty="0"/>
          </a:p>
        </p:txBody>
      </p:sp>
      <p:sp>
        <p:nvSpPr>
          <p:cNvPr id="45" name="Shape 43"/>
          <p:cNvSpPr/>
          <p:nvPr/>
        </p:nvSpPr>
        <p:spPr>
          <a:xfrm>
            <a:off x="4535686" y="3486150"/>
            <a:ext cx="2450753" cy="85725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4413148" y="3815655"/>
            <a:ext cx="2695828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이미지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35686" y="4476750"/>
            <a:ext cx="1333500" cy="9525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48" name="Shape 46"/>
          <p:cNvSpPr/>
          <p:nvPr/>
        </p:nvSpPr>
        <p:spPr>
          <a:xfrm>
            <a:off x="4535686" y="46482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49" name="Shape 47"/>
          <p:cNvSpPr/>
          <p:nvPr/>
        </p:nvSpPr>
        <p:spPr>
          <a:xfrm>
            <a:off x="4535686" y="4781550"/>
            <a:ext cx="225742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Shape 48"/>
          <p:cNvSpPr/>
          <p:nvPr/>
        </p:nvSpPr>
        <p:spPr>
          <a:xfrm>
            <a:off x="4535686" y="487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97586" y="4882455"/>
            <a:ext cx="7429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82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🏷 태그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4535686" y="5187404"/>
            <a:ext cx="18859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AI 분류 완료</a:t>
            </a:r>
            <a:endParaRPr lang="en-US" sz="975" dirty="0"/>
          </a:p>
        </p:txBody>
      </p:sp>
      <p:sp>
        <p:nvSpPr>
          <p:cNvPr id="53" name="Shape 51"/>
          <p:cNvSpPr/>
          <p:nvPr/>
        </p:nvSpPr>
        <p:spPr>
          <a:xfrm>
            <a:off x="4689128" y="539204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4" name="Text 52"/>
          <p:cNvSpPr/>
          <p:nvPr/>
        </p:nvSpPr>
        <p:spPr>
          <a:xfrm>
            <a:off x="4577655" y="5460057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55" name="Shape 53"/>
          <p:cNvSpPr/>
          <p:nvPr/>
        </p:nvSpPr>
        <p:spPr>
          <a:xfrm>
            <a:off x="4535686" y="5924550"/>
            <a:ext cx="1143000" cy="475208"/>
          </a:xfrm>
          <a:prstGeom prst="roundRect">
            <a:avLst>
              <a:gd name="adj" fmla="val 15434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97586" y="6063109"/>
            <a:ext cx="12192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088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추가</a:t>
            </a:r>
            <a:endParaRPr lang="en-US" sz="1088" dirty="0"/>
          </a:p>
        </p:txBody>
      </p:sp>
      <p:sp>
        <p:nvSpPr>
          <p:cNvPr id="57" name="Shape 55"/>
          <p:cNvSpPr/>
          <p:nvPr/>
        </p:nvSpPr>
        <p:spPr>
          <a:xfrm>
            <a:off x="5754886" y="5924550"/>
            <a:ext cx="1143000" cy="475208"/>
          </a:xfrm>
          <a:prstGeom prst="roundRect">
            <a:avLst>
              <a:gd name="adj" fmla="val 15434"/>
            </a:avLst>
          </a:prstGeom>
          <a:solidFill>
            <a:srgbClr val="1F2937"/>
          </a:solidFill>
          <a:ln/>
        </p:spPr>
      </p:sp>
      <p:sp>
        <p:nvSpPr>
          <p:cNvPr id="58" name="Text 56"/>
          <p:cNvSpPr/>
          <p:nvPr/>
        </p:nvSpPr>
        <p:spPr>
          <a:xfrm>
            <a:off x="5716786" y="6063109"/>
            <a:ext cx="12192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08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en-US" sz="1088" dirty="0"/>
          </a:p>
        </p:txBody>
      </p:sp>
      <p:sp>
        <p:nvSpPr>
          <p:cNvPr id="59" name="Text 57"/>
          <p:cNvSpPr/>
          <p:nvPr/>
        </p:nvSpPr>
        <p:spPr>
          <a:xfrm>
            <a:off x="7277100" y="4989909"/>
            <a:ext cx="624780" cy="48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279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798" dirty="0"/>
          </a:p>
        </p:txBody>
      </p:sp>
      <p:sp>
        <p:nvSpPr>
          <p:cNvPr id="60" name="Shape 58"/>
          <p:cNvSpPr/>
          <p:nvPr/>
        </p:nvSpPr>
        <p:spPr>
          <a:xfrm>
            <a:off x="79551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88636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62" name="Shape 60"/>
          <p:cNvSpPr/>
          <p:nvPr/>
        </p:nvSpPr>
        <p:spPr>
          <a:xfrm>
            <a:off x="9144000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63" name="Text 61"/>
          <p:cNvSpPr/>
          <p:nvPr/>
        </p:nvSpPr>
        <p:spPr>
          <a:xfrm>
            <a:off x="7534626" y="8512373"/>
            <a:ext cx="3767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저장 완료 (대시보드 반영)</a:t>
            </a:r>
            <a:endParaRPr lang="en-US" sz="1702" dirty="0"/>
          </a:p>
        </p:txBody>
      </p:sp>
      <p:sp>
        <p:nvSpPr>
          <p:cNvPr id="64" name="Shape 62"/>
          <p:cNvSpPr/>
          <p:nvPr/>
        </p:nvSpPr>
        <p:spPr>
          <a:xfrm>
            <a:off x="8101905" y="2121098"/>
            <a:ext cx="8572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78105" y="2174379"/>
            <a:ext cx="7810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 필터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101905" y="2521148"/>
            <a:ext cx="2633663" cy="4191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78105" y="2631579"/>
            <a:ext cx="272938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검색</a:t>
            </a:r>
            <a:endParaRPr lang="en-US" sz="975" dirty="0"/>
          </a:p>
        </p:txBody>
      </p:sp>
      <p:sp>
        <p:nvSpPr>
          <p:cNvPr id="68" name="Shape 66"/>
          <p:cNvSpPr/>
          <p:nvPr/>
        </p:nvSpPr>
        <p:spPr>
          <a:xfrm>
            <a:off x="8101905" y="3083123"/>
            <a:ext cx="666750" cy="152400"/>
          </a:xfrm>
          <a:prstGeom prst="roundRect">
            <a:avLst>
              <a:gd name="adj" fmla="val 25000"/>
            </a:avLst>
          </a:prstGeom>
          <a:solidFill>
            <a:srgbClr val="374151"/>
          </a:solidFill>
          <a:ln/>
        </p:spPr>
      </p:sp>
      <p:sp>
        <p:nvSpPr>
          <p:cNvPr id="69" name="Shape 67"/>
          <p:cNvSpPr/>
          <p:nvPr/>
        </p:nvSpPr>
        <p:spPr>
          <a:xfrm>
            <a:off x="9968805" y="3054548"/>
            <a:ext cx="2286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235505" y="3054548"/>
            <a:ext cx="2286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01905" y="3416498"/>
            <a:ext cx="1279178" cy="1619250"/>
          </a:xfrm>
          <a:prstGeom prst="roundRect">
            <a:avLst>
              <a:gd name="adj" fmla="val 4468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101905" y="3416498"/>
            <a:ext cx="1279178" cy="5715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8178105" y="4102298"/>
            <a:ext cx="898178" cy="9525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74" name="Shape 72"/>
          <p:cNvSpPr/>
          <p:nvPr/>
        </p:nvSpPr>
        <p:spPr>
          <a:xfrm>
            <a:off x="8178105" y="4254698"/>
            <a:ext cx="707678" cy="9525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75" name="Shape 73"/>
          <p:cNvSpPr/>
          <p:nvPr/>
        </p:nvSpPr>
        <p:spPr>
          <a:xfrm>
            <a:off x="8178105" y="4483298"/>
            <a:ext cx="1050578" cy="66675"/>
          </a:xfrm>
          <a:prstGeom prst="roundRect">
            <a:avLst>
              <a:gd name="adj" fmla="val 42857"/>
            </a:avLst>
          </a:prstGeom>
          <a:solidFill>
            <a:srgbClr val="D1D5DB"/>
          </a:solidFill>
          <a:ln/>
        </p:spPr>
      </p:sp>
      <p:sp>
        <p:nvSpPr>
          <p:cNvPr id="76" name="Shape 74"/>
          <p:cNvSpPr/>
          <p:nvPr/>
        </p:nvSpPr>
        <p:spPr>
          <a:xfrm>
            <a:off x="8178105" y="4597598"/>
            <a:ext cx="802928" cy="66675"/>
          </a:xfrm>
          <a:prstGeom prst="roundRect">
            <a:avLst>
              <a:gd name="adj" fmla="val 42857"/>
            </a:avLst>
          </a:prstGeom>
          <a:solidFill>
            <a:srgbClr val="D1D5DB"/>
          </a:solidFill>
          <a:ln/>
        </p:spPr>
      </p:sp>
      <p:sp>
        <p:nvSpPr>
          <p:cNvPr id="77" name="Shape 75"/>
          <p:cNvSpPr/>
          <p:nvPr/>
        </p:nvSpPr>
        <p:spPr>
          <a:xfrm>
            <a:off x="8178105" y="4845248"/>
            <a:ext cx="571500" cy="66675"/>
          </a:xfrm>
          <a:prstGeom prst="roundRect">
            <a:avLst>
              <a:gd name="adj" fmla="val 42857"/>
            </a:avLst>
          </a:prstGeom>
          <a:solidFill>
            <a:srgbClr val="9CA3AF"/>
          </a:solidFill>
          <a:ln/>
        </p:spPr>
      </p:sp>
      <p:sp>
        <p:nvSpPr>
          <p:cNvPr id="78" name="Shape 76"/>
          <p:cNvSpPr/>
          <p:nvPr/>
        </p:nvSpPr>
        <p:spPr>
          <a:xfrm>
            <a:off x="9457283" y="3416498"/>
            <a:ext cx="1279178" cy="1619250"/>
          </a:xfrm>
          <a:prstGeom prst="roundRect">
            <a:avLst>
              <a:gd name="adj" fmla="val 4468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457283" y="3416498"/>
            <a:ext cx="1279178" cy="5715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9533483" y="4102298"/>
            <a:ext cx="898178" cy="9525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81" name="Shape 79"/>
          <p:cNvSpPr/>
          <p:nvPr/>
        </p:nvSpPr>
        <p:spPr>
          <a:xfrm>
            <a:off x="9533483" y="4254698"/>
            <a:ext cx="707678" cy="9525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82" name="Shape 80"/>
          <p:cNvSpPr/>
          <p:nvPr/>
        </p:nvSpPr>
        <p:spPr>
          <a:xfrm>
            <a:off x="9533483" y="4483298"/>
            <a:ext cx="1050578" cy="66675"/>
          </a:xfrm>
          <a:prstGeom prst="roundRect">
            <a:avLst>
              <a:gd name="adj" fmla="val 42857"/>
            </a:avLst>
          </a:prstGeom>
          <a:solidFill>
            <a:srgbClr val="D1D5DB"/>
          </a:solidFill>
          <a:ln/>
        </p:spPr>
      </p:sp>
      <p:sp>
        <p:nvSpPr>
          <p:cNvPr id="83" name="Shape 81"/>
          <p:cNvSpPr/>
          <p:nvPr/>
        </p:nvSpPr>
        <p:spPr>
          <a:xfrm>
            <a:off x="9533483" y="4597598"/>
            <a:ext cx="802928" cy="66675"/>
          </a:xfrm>
          <a:prstGeom prst="roundRect">
            <a:avLst>
              <a:gd name="adj" fmla="val 42857"/>
            </a:avLst>
          </a:prstGeom>
          <a:solidFill>
            <a:srgbClr val="D1D5DB"/>
          </a:solidFill>
          <a:ln/>
        </p:spPr>
      </p:sp>
      <p:sp>
        <p:nvSpPr>
          <p:cNvPr id="84" name="Shape 82"/>
          <p:cNvSpPr/>
          <p:nvPr/>
        </p:nvSpPr>
        <p:spPr>
          <a:xfrm>
            <a:off x="9533483" y="4845248"/>
            <a:ext cx="571500" cy="66675"/>
          </a:xfrm>
          <a:prstGeom prst="roundRect">
            <a:avLst>
              <a:gd name="adj" fmla="val 42857"/>
            </a:avLst>
          </a:prstGeom>
          <a:solidFill>
            <a:srgbClr val="9CA3AF"/>
          </a:solidFill>
          <a:ln/>
        </p:spPr>
      </p:sp>
      <p:sp>
        <p:nvSpPr>
          <p:cNvPr id="85" name="Shape 83"/>
          <p:cNvSpPr/>
          <p:nvPr/>
        </p:nvSpPr>
        <p:spPr>
          <a:xfrm>
            <a:off x="8101905" y="5111948"/>
            <a:ext cx="1279178" cy="1619250"/>
          </a:xfrm>
          <a:prstGeom prst="roundRect">
            <a:avLst>
              <a:gd name="adj" fmla="val 4468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101905" y="5111948"/>
            <a:ext cx="1279178" cy="5715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8178105" y="5797748"/>
            <a:ext cx="898178" cy="9525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88" name="Shape 86"/>
          <p:cNvSpPr/>
          <p:nvPr/>
        </p:nvSpPr>
        <p:spPr>
          <a:xfrm>
            <a:off x="8178105" y="5950148"/>
            <a:ext cx="707678" cy="9525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89" name="Shape 87"/>
          <p:cNvSpPr/>
          <p:nvPr/>
        </p:nvSpPr>
        <p:spPr>
          <a:xfrm>
            <a:off x="8178105" y="6178748"/>
            <a:ext cx="1050578" cy="66675"/>
          </a:xfrm>
          <a:prstGeom prst="roundRect">
            <a:avLst>
              <a:gd name="adj" fmla="val 42857"/>
            </a:avLst>
          </a:prstGeom>
          <a:solidFill>
            <a:srgbClr val="D1D5DB"/>
          </a:solidFill>
          <a:ln/>
        </p:spPr>
      </p:sp>
      <p:sp>
        <p:nvSpPr>
          <p:cNvPr id="90" name="Shape 88"/>
          <p:cNvSpPr/>
          <p:nvPr/>
        </p:nvSpPr>
        <p:spPr>
          <a:xfrm>
            <a:off x="8178105" y="6293048"/>
            <a:ext cx="802928" cy="66675"/>
          </a:xfrm>
          <a:prstGeom prst="roundRect">
            <a:avLst>
              <a:gd name="adj" fmla="val 42857"/>
            </a:avLst>
          </a:prstGeom>
          <a:solidFill>
            <a:srgbClr val="D1D5DB"/>
          </a:solidFill>
          <a:ln/>
        </p:spPr>
      </p:sp>
      <p:sp>
        <p:nvSpPr>
          <p:cNvPr id="91" name="Shape 89"/>
          <p:cNvSpPr/>
          <p:nvPr/>
        </p:nvSpPr>
        <p:spPr>
          <a:xfrm>
            <a:off x="8178105" y="6540698"/>
            <a:ext cx="571500" cy="66675"/>
          </a:xfrm>
          <a:prstGeom prst="roundRect">
            <a:avLst>
              <a:gd name="adj" fmla="val 42857"/>
            </a:avLst>
          </a:prstGeom>
          <a:solidFill>
            <a:srgbClr val="9CA3AF"/>
          </a:solidFill>
          <a:ln/>
        </p:spPr>
      </p:sp>
      <p:sp>
        <p:nvSpPr>
          <p:cNvPr id="92" name="Shape 90"/>
          <p:cNvSpPr/>
          <p:nvPr/>
        </p:nvSpPr>
        <p:spPr>
          <a:xfrm>
            <a:off x="9457283" y="5111948"/>
            <a:ext cx="1279178" cy="1619250"/>
          </a:xfrm>
          <a:prstGeom prst="roundRect">
            <a:avLst>
              <a:gd name="adj" fmla="val 4468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457283" y="5111948"/>
            <a:ext cx="1279178" cy="5715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9533483" y="5797748"/>
            <a:ext cx="898178" cy="9525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95" name="Shape 93"/>
          <p:cNvSpPr/>
          <p:nvPr/>
        </p:nvSpPr>
        <p:spPr>
          <a:xfrm>
            <a:off x="9533483" y="5950148"/>
            <a:ext cx="707678" cy="9525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96" name="Shape 94"/>
          <p:cNvSpPr/>
          <p:nvPr/>
        </p:nvSpPr>
        <p:spPr>
          <a:xfrm>
            <a:off x="9533483" y="6178748"/>
            <a:ext cx="1050578" cy="66675"/>
          </a:xfrm>
          <a:prstGeom prst="roundRect">
            <a:avLst>
              <a:gd name="adj" fmla="val 42857"/>
            </a:avLst>
          </a:prstGeom>
          <a:solidFill>
            <a:srgbClr val="D1D5DB"/>
          </a:solidFill>
          <a:ln/>
        </p:spPr>
      </p:sp>
      <p:sp>
        <p:nvSpPr>
          <p:cNvPr id="97" name="Shape 95"/>
          <p:cNvSpPr/>
          <p:nvPr/>
        </p:nvSpPr>
        <p:spPr>
          <a:xfrm>
            <a:off x="9533483" y="6293048"/>
            <a:ext cx="802928" cy="66675"/>
          </a:xfrm>
          <a:prstGeom prst="roundRect">
            <a:avLst>
              <a:gd name="adj" fmla="val 42857"/>
            </a:avLst>
          </a:prstGeom>
          <a:solidFill>
            <a:srgbClr val="D1D5DB"/>
          </a:solidFill>
          <a:ln/>
        </p:spPr>
      </p:sp>
      <p:sp>
        <p:nvSpPr>
          <p:cNvPr id="98" name="Shape 96"/>
          <p:cNvSpPr/>
          <p:nvPr/>
        </p:nvSpPr>
        <p:spPr>
          <a:xfrm>
            <a:off x="9533483" y="6540698"/>
            <a:ext cx="571500" cy="66675"/>
          </a:xfrm>
          <a:prstGeom prst="roundRect">
            <a:avLst>
              <a:gd name="adj" fmla="val 42857"/>
            </a:avLst>
          </a:prstGeom>
          <a:solidFill>
            <a:srgbClr val="9CA3AF"/>
          </a:solidFill>
          <a:ln/>
        </p:spPr>
      </p:sp>
      <p:sp>
        <p:nvSpPr>
          <p:cNvPr id="99" name="Shape 97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0" name="Text 98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101" name="Shape 99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2" name="Text 100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103" name="Text 101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입력 → 저장</a:t>
            </a:r>
            <a:endParaRPr lang="en-US" sz="1898" dirty="0"/>
          </a:p>
        </p:txBody>
      </p:sp>
      <p:sp>
        <p:nvSpPr>
          <p:cNvPr id="104" name="Text 102"/>
          <p:cNvSpPr/>
          <p:nvPr/>
        </p:nvSpPr>
        <p:spPr>
          <a:xfrm>
            <a:off x="11686133" y="2651671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/api/bookmarks · (user_id,url) UNIQUE + upsert 중복 방지 · 저장 시 URL 상태 확인(HEAD→GET 폴백).</a:t>
            </a:r>
            <a:endParaRPr lang="en-US" sz="1598" dirty="0"/>
          </a:p>
        </p:txBody>
      </p:sp>
      <p:sp>
        <p:nvSpPr>
          <p:cNvPr id="105" name="Shape 103"/>
          <p:cNvSpPr/>
          <p:nvPr/>
        </p:nvSpPr>
        <p:spPr>
          <a:xfrm>
            <a:off x="11064180" y="3492698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100346" y="363944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7" name="Text 105"/>
          <p:cNvSpPr/>
          <p:nvPr/>
        </p:nvSpPr>
        <p:spPr>
          <a:xfrm>
            <a:off x="10989915" y="371117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108" name="Text 106"/>
          <p:cNvSpPr/>
          <p:nvPr/>
        </p:nvSpPr>
        <p:spPr>
          <a:xfrm>
            <a:off x="11686133" y="3634978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 미리보기</a:t>
            </a:r>
            <a:endParaRPr lang="en-US" sz="1898" dirty="0"/>
          </a:p>
        </p:txBody>
      </p:sp>
      <p:sp>
        <p:nvSpPr>
          <p:cNvPr id="109" name="Text 107"/>
          <p:cNvSpPr/>
          <p:nvPr/>
        </p:nvSpPr>
        <p:spPr>
          <a:xfrm>
            <a:off x="11686133" y="3968055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GPT-4o-mini 자동 태깅, 대분류 13종. 태그 실패 시 수동 추가 안내.</a:t>
            </a:r>
            <a:endParaRPr lang="en-US" sz="1598" dirty="0"/>
          </a:p>
        </p:txBody>
      </p:sp>
      <p:sp>
        <p:nvSpPr>
          <p:cNvPr id="110" name="Shape 108"/>
          <p:cNvSpPr/>
          <p:nvPr/>
        </p:nvSpPr>
        <p:spPr>
          <a:xfrm>
            <a:off x="11064180" y="4407098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100346" y="455384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2" name="Text 110"/>
          <p:cNvSpPr/>
          <p:nvPr/>
        </p:nvSpPr>
        <p:spPr>
          <a:xfrm>
            <a:off x="10989915" y="462557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113" name="Text 111"/>
          <p:cNvSpPr/>
          <p:nvPr/>
        </p:nvSpPr>
        <p:spPr>
          <a:xfrm>
            <a:off x="11686133" y="4549378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완료 (대시보드 반영)</a:t>
            </a:r>
            <a:endParaRPr lang="en-US" sz="1898" dirty="0"/>
          </a:p>
        </p:txBody>
      </p:sp>
      <p:sp>
        <p:nvSpPr>
          <p:cNvPr id="114" name="Text 112"/>
          <p:cNvSpPr/>
          <p:nvPr/>
        </p:nvSpPr>
        <p:spPr>
          <a:xfrm>
            <a:off x="11686133" y="4882455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즉시 대시보드 최상단에 카드 반영, 총 개수 갱신(예: 65→67개).</a:t>
            </a:r>
            <a:endParaRPr lang="en-US" sz="1598" dirty="0"/>
          </a:p>
        </p:txBody>
      </p:sp>
      <p:sp>
        <p:nvSpPr>
          <p:cNvPr id="115" name="Shape 113"/>
          <p:cNvSpPr/>
          <p:nvPr/>
        </p:nvSpPr>
        <p:spPr>
          <a:xfrm>
            <a:off x="11064180" y="5613946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1100346" y="576069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7" name="Text 115"/>
          <p:cNvSpPr/>
          <p:nvPr/>
        </p:nvSpPr>
        <p:spPr>
          <a:xfrm>
            <a:off x="10989915" y="5833467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</a:t>
            </a:r>
            <a:endParaRPr lang="en-US" sz="1598" dirty="0"/>
          </a:p>
        </p:txBody>
      </p:sp>
      <p:sp>
        <p:nvSpPr>
          <p:cNvPr id="118" name="Text 116"/>
          <p:cNvSpPr/>
          <p:nvPr/>
        </p:nvSpPr>
        <p:spPr>
          <a:xfrm>
            <a:off x="11686133" y="5756225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A (1개)</a:t>
            </a:r>
            <a:endParaRPr lang="en-US" sz="1898" dirty="0"/>
          </a:p>
        </p:txBody>
      </p:sp>
      <p:sp>
        <p:nvSpPr>
          <p:cNvPr id="119" name="Text 117"/>
          <p:cNvSpPr/>
          <p:nvPr/>
        </p:nvSpPr>
        <p:spPr>
          <a:xfrm>
            <a:off x="11686133" y="6090196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대분류만 확신도 충족, 중·소분류는 애매하거나 정보 부족.</a:t>
            </a:r>
            <a:endParaRPr lang="en-US" sz="1598" dirty="0"/>
          </a:p>
        </p:txBody>
      </p:sp>
      <p:sp>
        <p:nvSpPr>
          <p:cNvPr id="120" name="Shape 118"/>
          <p:cNvSpPr/>
          <p:nvPr/>
        </p:nvSpPr>
        <p:spPr>
          <a:xfrm>
            <a:off x="11064180" y="6601718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100346" y="674846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2" name="Text 120"/>
          <p:cNvSpPr/>
          <p:nvPr/>
        </p:nvSpPr>
        <p:spPr>
          <a:xfrm>
            <a:off x="10989915" y="682019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</a:t>
            </a:r>
            <a:endParaRPr lang="en-US" sz="1598" dirty="0"/>
          </a:p>
        </p:txBody>
      </p:sp>
      <p:sp>
        <p:nvSpPr>
          <p:cNvPr id="123" name="Text 121"/>
          <p:cNvSpPr/>
          <p:nvPr/>
        </p:nvSpPr>
        <p:spPr>
          <a:xfrm>
            <a:off x="11686133" y="6743998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B (2개)</a:t>
            </a:r>
            <a:endParaRPr lang="en-US" sz="1898" dirty="0"/>
          </a:p>
        </p:txBody>
      </p:sp>
      <p:sp>
        <p:nvSpPr>
          <p:cNvPr id="124" name="Text 122"/>
          <p:cNvSpPr/>
          <p:nvPr/>
        </p:nvSpPr>
        <p:spPr>
          <a:xfrm>
            <a:off x="11686133" y="707707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대+중분류 충족, 소분류만 제외.</a:t>
            </a:r>
            <a:endParaRPr lang="en-US" sz="1598" dirty="0"/>
          </a:p>
        </p:txBody>
      </p:sp>
      <p:sp>
        <p:nvSpPr>
          <p:cNvPr id="125" name="Shape 123"/>
          <p:cNvSpPr/>
          <p:nvPr/>
        </p:nvSpPr>
        <p:spPr>
          <a:xfrm>
            <a:off x="11064180" y="7442746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1100346" y="758949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7" name="Text 125"/>
          <p:cNvSpPr/>
          <p:nvPr/>
        </p:nvSpPr>
        <p:spPr>
          <a:xfrm>
            <a:off x="10989915" y="7662267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</a:t>
            </a:r>
            <a:endParaRPr lang="en-US" sz="1598" dirty="0"/>
          </a:p>
        </p:txBody>
      </p:sp>
      <p:sp>
        <p:nvSpPr>
          <p:cNvPr id="128" name="Text 126"/>
          <p:cNvSpPr/>
          <p:nvPr/>
        </p:nvSpPr>
        <p:spPr>
          <a:xfrm>
            <a:off x="11686133" y="7585025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C (3개)</a:t>
            </a:r>
            <a:endParaRPr lang="en-US" sz="1898" dirty="0"/>
          </a:p>
        </p:txBody>
      </p:sp>
      <p:sp>
        <p:nvSpPr>
          <p:cNvPr id="129" name="Text 127"/>
          <p:cNvSpPr/>
          <p:nvPr/>
        </p:nvSpPr>
        <p:spPr>
          <a:xfrm>
            <a:off x="11686133" y="7918996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대·중·소 모두 0.6 이상 — 가장 이상적인 케이스.</a:t>
            </a:r>
            <a:endParaRPr lang="en-US" sz="1598" dirty="0"/>
          </a:p>
        </p:txBody>
      </p:sp>
      <p:sp>
        <p:nvSpPr>
          <p:cNvPr id="130" name="Shape 128"/>
          <p:cNvSpPr/>
          <p:nvPr/>
        </p:nvSpPr>
        <p:spPr>
          <a:xfrm>
            <a:off x="7845623" y="230400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1" name="Text 129"/>
          <p:cNvSpPr/>
          <p:nvPr/>
        </p:nvSpPr>
        <p:spPr>
          <a:xfrm>
            <a:off x="7734300" y="237678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 · Mobile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비로그인 · PRD A39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랜딩 페이지 (/welcome)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3657600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105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5166271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3227317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 — 세로 스크롤</a:t>
            </a:r>
            <a:endParaRPr lang="en-US" sz="1702" dirty="0"/>
          </a:p>
        </p:txBody>
      </p:sp>
      <p:sp>
        <p:nvSpPr>
          <p:cNvPr id="9" name="Shape 7"/>
          <p:cNvSpPr/>
          <p:nvPr/>
        </p:nvSpPr>
        <p:spPr>
          <a:xfrm>
            <a:off x="3804196" y="2121098"/>
            <a:ext cx="3273623" cy="7620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724335" y="2402979"/>
            <a:ext cx="343334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카드 — "AI가 자동 분류 완료" + URL/태그 미리보기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6869311" y="195069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757988" y="2018705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13" name="Text 11"/>
          <p:cNvSpPr/>
          <p:nvPr/>
        </p:nvSpPr>
        <p:spPr>
          <a:xfrm>
            <a:off x="3804196" y="2984153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825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04196" y="3142208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붙여넣는 순간부터,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3804196" y="3340298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단위로 보여드릴게요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804196" y="3536454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3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링크 붙여넣기 (0:00)</a:t>
            </a:r>
            <a:endParaRPr lang="en-US" sz="938" dirty="0"/>
          </a:p>
        </p:txBody>
      </p:sp>
      <p:sp>
        <p:nvSpPr>
          <p:cNvPr id="17" name="Text 15"/>
          <p:cNvSpPr/>
          <p:nvPr/>
        </p:nvSpPr>
        <p:spPr>
          <a:xfrm>
            <a:off x="3804196" y="3784104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3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저장은 1초 (0:01)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3804196" y="4031754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3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정리는 AI가 합니다 (+2s)</a:t>
            </a:r>
            <a:endParaRPr lang="en-US" sz="938" dirty="0"/>
          </a:p>
        </p:txBody>
      </p:sp>
      <p:sp>
        <p:nvSpPr>
          <p:cNvPr id="19" name="Text 17"/>
          <p:cNvSpPr/>
          <p:nvPr/>
        </p:nvSpPr>
        <p:spPr>
          <a:xfrm>
            <a:off x="3804196" y="4403378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한 줄 — 붙여넣기만으로 저장 완료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04196" y="4631978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태그·카테고리 자동 — 편집도 언제든 가능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04196" y="4860578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검색은 문장으로 — 키워드 안 외워도 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04196" y="5184428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825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804196" y="5393829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08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대신 저장에만 집중하세요</a:t>
            </a:r>
            <a:endParaRPr lang="en-US" sz="1088" dirty="0"/>
          </a:p>
        </p:txBody>
      </p:sp>
      <p:sp>
        <p:nvSpPr>
          <p:cNvPr id="24" name="Shape 22"/>
          <p:cNvSpPr/>
          <p:nvPr/>
        </p:nvSpPr>
        <p:spPr>
          <a:xfrm>
            <a:off x="3804196" y="5626298"/>
            <a:ext cx="3273623" cy="66675"/>
          </a:xfrm>
          <a:prstGeom prst="roundRect">
            <a:avLst>
              <a:gd name="adj" fmla="val 42857"/>
            </a:avLst>
          </a:prstGeom>
          <a:solidFill>
            <a:srgbClr val="D1D5DB"/>
          </a:solidFill>
          <a:ln/>
        </p:spPr>
      </p:sp>
      <p:sp>
        <p:nvSpPr>
          <p:cNvPr id="25" name="Shape 23"/>
          <p:cNvSpPr/>
          <p:nvPr/>
        </p:nvSpPr>
        <p:spPr>
          <a:xfrm>
            <a:off x="3804196" y="5826323"/>
            <a:ext cx="114300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6096" y="5831979"/>
            <a:ext cx="12192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82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웹에서 바로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804196" y="6136779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URL 붙여넣기로 저장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04196" y="6384429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태그·카테고리 직접 정리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04196" y="6632079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기존 북마크 가져오기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04196" y="6879729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백업·내보내기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04196" y="7255073"/>
            <a:ext cx="3273623" cy="571500"/>
          </a:xfrm>
          <a:prstGeom prst="roundRect">
            <a:avLst>
              <a:gd name="adj" fmla="val 13333"/>
            </a:avLst>
          </a:prstGeom>
          <a:solidFill>
            <a:srgbClr val="1F2937"/>
          </a:solidFill>
          <a:ln/>
        </p:spPr>
      </p:sp>
      <p:sp>
        <p:nvSpPr>
          <p:cNvPr id="32" name="Text 30"/>
          <p:cNvSpPr/>
          <p:nvPr/>
        </p:nvSpPr>
        <p:spPr>
          <a:xfrm>
            <a:off x="3745290" y="7342733"/>
            <a:ext cx="339143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저장한 링크, 나중에 다시 찾을 수 있나요?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45290" y="7540823"/>
            <a:ext cx="339143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무료로 시작하기 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69311" y="70846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6757988" y="7152680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36" name="Text 34"/>
          <p:cNvSpPr/>
          <p:nvPr/>
        </p:nvSpPr>
        <p:spPr>
          <a:xfrm>
            <a:off x="3804196" y="7918103"/>
            <a:ext cx="360098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78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Mowaba · © 2026 Mowaba. AI 북마크 관리 서비스.</a:t>
            </a:r>
            <a:endParaRPr lang="en-US" sz="788" dirty="0"/>
          </a:p>
        </p:txBody>
      </p:sp>
      <p:sp>
        <p:nvSpPr>
          <p:cNvPr id="37" name="Shape 35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8" name="Text 36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39" name="Shape 37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41" name="Text 39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 섹션</a:t>
            </a:r>
            <a:endParaRPr lang="en-US" sz="1898" dirty="0"/>
          </a:p>
        </p:txBody>
      </p:sp>
      <p:sp>
        <p:nvSpPr>
          <p:cNvPr id="42" name="Text 40"/>
          <p:cNvSpPr/>
          <p:nvPr/>
        </p:nvSpPr>
        <p:spPr>
          <a:xfrm>
            <a:off x="11686133" y="2651671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ServiceFeatures 공용 컴포넌트, 3섹션. 모바일은 세로 스택 + 스크롤.</a:t>
            </a:r>
            <a:endParaRPr lang="en-US" sz="1598" dirty="0"/>
          </a:p>
        </p:txBody>
      </p:sp>
      <p:sp>
        <p:nvSpPr>
          <p:cNvPr id="43" name="Shape 41"/>
          <p:cNvSpPr/>
          <p:nvPr/>
        </p:nvSpPr>
        <p:spPr>
          <a:xfrm>
            <a:off x="11064180" y="345653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00346" y="360223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10989915" y="367501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46" name="Text 44"/>
          <p:cNvSpPr/>
          <p:nvPr/>
        </p:nvSpPr>
        <p:spPr>
          <a:xfrm>
            <a:off x="11686133" y="359881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CTA 분기 (하단 고정)</a:t>
            </a:r>
            <a:endParaRPr lang="en-US" sz="1898" dirty="0"/>
          </a:p>
        </p:txBody>
      </p:sp>
      <p:sp>
        <p:nvSpPr>
          <p:cNvPr id="47" name="Text 45"/>
          <p:cNvSpPr/>
          <p:nvPr/>
        </p:nvSpPr>
        <p:spPr>
          <a:xfrm>
            <a:off x="11686133" y="3931890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인증 상태에 따라 분기 — 비로그인: 로그인 페이지로 이동 / 로그인 후: 대시보드 홈으로 이동. 모바일은 하단 고정 CTA.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 · Mobile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신규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(신규 유저)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3657600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105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5166271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3227317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</a:t>
            </a:r>
            <a:endParaRPr lang="en-US" sz="1702" dirty="0"/>
          </a:p>
        </p:txBody>
      </p:sp>
      <p:sp>
        <p:nvSpPr>
          <p:cNvPr id="9" name="Shape 7"/>
          <p:cNvSpPr/>
          <p:nvPr/>
        </p:nvSpPr>
        <p:spPr>
          <a:xfrm>
            <a:off x="3804196" y="2212628"/>
            <a:ext cx="3273623" cy="146298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0341" y="2715518"/>
            <a:ext cx="35204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4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익스텐션 설치 안내</a:t>
            </a:r>
            <a:endParaRPr lang="en-US" sz="1402" dirty="0"/>
          </a:p>
        </p:txBody>
      </p:sp>
      <p:sp>
        <p:nvSpPr>
          <p:cNvPr id="11" name="Text 9"/>
          <p:cNvSpPr/>
          <p:nvPr/>
        </p:nvSpPr>
        <p:spPr>
          <a:xfrm>
            <a:off x="3680341" y="2944118"/>
            <a:ext cx="35204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4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(PC Chrome 웹스토어 링크)</a:t>
            </a:r>
            <a:endParaRPr lang="en-US" sz="1402" dirty="0"/>
          </a:p>
        </p:txBody>
      </p:sp>
      <p:sp>
        <p:nvSpPr>
          <p:cNvPr id="12" name="Shape 10"/>
          <p:cNvSpPr/>
          <p:nvPr/>
        </p:nvSpPr>
        <p:spPr>
          <a:xfrm>
            <a:off x="3510855" y="230400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3400425" y="237678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14" name="Shape 12"/>
          <p:cNvSpPr/>
          <p:nvPr/>
        </p:nvSpPr>
        <p:spPr>
          <a:xfrm>
            <a:off x="3804196" y="3858518"/>
            <a:ext cx="3273623" cy="9144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0341" y="4201418"/>
            <a:ext cx="35204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4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첫 북마크 저장 유도</a:t>
            </a:r>
            <a:endParaRPr lang="en-US" sz="1402" dirty="0"/>
          </a:p>
        </p:txBody>
      </p:sp>
      <p:sp>
        <p:nvSpPr>
          <p:cNvPr id="16" name="Shape 14"/>
          <p:cNvSpPr/>
          <p:nvPr/>
        </p:nvSpPr>
        <p:spPr>
          <a:xfrm>
            <a:off x="3510855" y="394989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3400425" y="402267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18" name="Shape 16"/>
          <p:cNvSpPr/>
          <p:nvPr/>
        </p:nvSpPr>
        <p:spPr>
          <a:xfrm>
            <a:off x="3804196" y="4882455"/>
            <a:ext cx="3273623" cy="2377380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0341" y="5842546"/>
            <a:ext cx="35204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4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GIF</a:t>
            </a:r>
            <a:endParaRPr lang="en-US" sz="1402" dirty="0"/>
          </a:p>
        </p:txBody>
      </p:sp>
      <p:sp>
        <p:nvSpPr>
          <p:cNvPr id="20" name="Text 18"/>
          <p:cNvSpPr/>
          <p:nvPr/>
        </p:nvSpPr>
        <p:spPr>
          <a:xfrm>
            <a:off x="3680341" y="6071146"/>
            <a:ext cx="35204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4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(첫 저장 과정)</a:t>
            </a:r>
            <a:endParaRPr lang="en-US" sz="1402" dirty="0"/>
          </a:p>
        </p:txBody>
      </p:sp>
      <p:sp>
        <p:nvSpPr>
          <p:cNvPr id="21" name="Shape 19"/>
          <p:cNvSpPr/>
          <p:nvPr/>
        </p:nvSpPr>
        <p:spPr>
          <a:xfrm>
            <a:off x="3804196" y="7607498"/>
            <a:ext cx="3273623" cy="658118"/>
          </a:xfrm>
          <a:prstGeom prst="roundRect">
            <a:avLst>
              <a:gd name="adj" fmla="val 11144"/>
            </a:avLst>
          </a:prstGeom>
          <a:solidFill>
            <a:srgbClr val="1F2937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2355" y="7812732"/>
            <a:ext cx="32964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4" name="Text 22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25" name="Shape 23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27" name="Text 25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익스텐션 설치 안내</a:t>
            </a:r>
            <a:endParaRPr lang="en-US" sz="1898" dirty="0"/>
          </a:p>
        </p:txBody>
      </p:sp>
      <p:sp>
        <p:nvSpPr>
          <p:cNvPr id="28" name="Text 26"/>
          <p:cNvSpPr/>
          <p:nvPr/>
        </p:nvSpPr>
        <p:spPr>
          <a:xfrm>
            <a:off x="11686133" y="2651671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Chrome 웹스토어 링크 안내. 모바일에서는 PC 설치 안내 문구로 노출 (익스텐션은 데스크톱 전용).</a:t>
            </a:r>
            <a:endParaRPr lang="en-US" sz="1598" dirty="0"/>
          </a:p>
        </p:txBody>
      </p:sp>
      <p:sp>
        <p:nvSpPr>
          <p:cNvPr id="29" name="Shape 27"/>
          <p:cNvSpPr/>
          <p:nvPr/>
        </p:nvSpPr>
        <p:spPr>
          <a:xfrm>
            <a:off x="11064180" y="373082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00346" y="387667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10989915" y="394930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32" name="Text 30"/>
          <p:cNvSpPr/>
          <p:nvPr/>
        </p:nvSpPr>
        <p:spPr>
          <a:xfrm>
            <a:off x="11686133" y="387310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북마크 저장 유도</a:t>
            </a:r>
            <a:endParaRPr lang="en-US" sz="1898" dirty="0"/>
          </a:p>
        </p:txBody>
      </p:sp>
      <p:sp>
        <p:nvSpPr>
          <p:cNvPr id="33" name="Text 31"/>
          <p:cNvSpPr/>
          <p:nvPr/>
        </p:nvSpPr>
        <p:spPr>
          <a:xfrm>
            <a:off x="11686133" y="4206180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Aha 모멘트 유도. 하위 데모 GIF(2.1)로 첫 저장 과정을 보여줌. 모바일은 ＋ URL 직접 추가로 유도.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 · Mobile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비로그인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페이지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3657600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105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5166271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3227317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702" dirty="0"/>
          </a:p>
        </p:txBody>
      </p:sp>
      <p:sp>
        <p:nvSpPr>
          <p:cNvPr id="9" name="Text 7"/>
          <p:cNvSpPr/>
          <p:nvPr/>
        </p:nvSpPr>
        <p:spPr>
          <a:xfrm>
            <a:off x="3755091" y="3027908"/>
            <a:ext cx="337183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Mowaba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804196" y="4224338"/>
            <a:ext cx="3273623" cy="658118"/>
          </a:xfrm>
          <a:prstGeom prst="roundRect">
            <a:avLst>
              <a:gd name="adj" fmla="val 11144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2355" y="4424809"/>
            <a:ext cx="32964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OAuth</a:t>
            </a:r>
            <a:endParaRPr lang="en-US" sz="1598" dirty="0"/>
          </a:p>
        </p:txBody>
      </p:sp>
      <p:sp>
        <p:nvSpPr>
          <p:cNvPr id="12" name="Shape 10"/>
          <p:cNvSpPr/>
          <p:nvPr/>
        </p:nvSpPr>
        <p:spPr>
          <a:xfrm>
            <a:off x="3510855" y="431571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3400425" y="438849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14" name="Shape 12"/>
          <p:cNvSpPr/>
          <p:nvPr/>
        </p:nvSpPr>
        <p:spPr>
          <a:xfrm>
            <a:off x="3804196" y="5065365"/>
            <a:ext cx="3273623" cy="658118"/>
          </a:xfrm>
          <a:prstGeom prst="roundRect">
            <a:avLst>
              <a:gd name="adj" fmla="val 11144"/>
            </a:avLst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2355" y="5265837"/>
            <a:ext cx="32964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/ 네이버 (v1.1)</a:t>
            </a:r>
            <a:endParaRPr lang="en-US" sz="1598" dirty="0"/>
          </a:p>
        </p:txBody>
      </p:sp>
      <p:sp>
        <p:nvSpPr>
          <p:cNvPr id="16" name="Shape 14"/>
          <p:cNvSpPr/>
          <p:nvPr/>
        </p:nvSpPr>
        <p:spPr>
          <a:xfrm>
            <a:off x="3510855" y="515674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3400425" y="522952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18" name="Shape 16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9" name="Text 17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20" name="Shape 18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22" name="Text 20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OAuth</a:t>
            </a:r>
            <a:endParaRPr lang="en-US" sz="1898" dirty="0"/>
          </a:p>
        </p:txBody>
      </p:sp>
      <p:sp>
        <p:nvSpPr>
          <p:cNvPr id="23" name="Text 21"/>
          <p:cNvSpPr/>
          <p:nvPr/>
        </p:nvSpPr>
        <p:spPr>
          <a:xfrm>
            <a:off x="11686133" y="26516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기본 로그인 방식.</a:t>
            </a:r>
            <a:endParaRPr lang="en-US" sz="1598" dirty="0"/>
          </a:p>
        </p:txBody>
      </p:sp>
      <p:sp>
        <p:nvSpPr>
          <p:cNvPr id="24" name="Shape 22"/>
          <p:cNvSpPr/>
          <p:nvPr/>
        </p:nvSpPr>
        <p:spPr>
          <a:xfrm>
            <a:off x="11064180" y="318224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00346" y="332794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10989915" y="340072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27" name="Text 25"/>
          <p:cNvSpPr/>
          <p:nvPr/>
        </p:nvSpPr>
        <p:spPr>
          <a:xfrm>
            <a:off x="11686133" y="332452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/ 네이버</a:t>
            </a:r>
            <a:endParaRPr lang="en-US" sz="1898" dirty="0"/>
          </a:p>
        </p:txBody>
      </p:sp>
      <p:sp>
        <p:nvSpPr>
          <p:cNvPr id="28" name="Text 26"/>
          <p:cNvSpPr/>
          <p:nvPr/>
        </p:nvSpPr>
        <p:spPr>
          <a:xfrm>
            <a:off x="11686133" y="3657600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v1.1 빠른 추가 옵션, MVP 제외.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 · Mobile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로그인 후 · 핵심화면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레이아웃 — 모바일 대시보드 전체 구조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5669161" y="1737271"/>
            <a:ext cx="3474690" cy="7680871"/>
          </a:xfrm>
          <a:prstGeom prst="roundRect">
            <a:avLst>
              <a:gd name="adj" fmla="val 6305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7707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7132290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5240398" y="9518154"/>
            <a:ext cx="43323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(드로어 닫힘)</a:t>
            </a:r>
            <a:endParaRPr lang="en-US" sz="1702" dirty="0"/>
          </a:p>
        </p:txBody>
      </p:sp>
      <p:sp>
        <p:nvSpPr>
          <p:cNvPr id="9" name="Shape 7"/>
          <p:cNvSpPr/>
          <p:nvPr/>
        </p:nvSpPr>
        <p:spPr>
          <a:xfrm>
            <a:off x="5815905" y="2029718"/>
            <a:ext cx="3182243" cy="475208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0228" y="2138660"/>
            <a:ext cx="13562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Mowaba</a:t>
            </a:r>
            <a:endParaRPr lang="en-US" sz="1598" dirty="0"/>
          </a:p>
        </p:txBody>
      </p:sp>
      <p:sp>
        <p:nvSpPr>
          <p:cNvPr id="11" name="Text 9"/>
          <p:cNvSpPr/>
          <p:nvPr/>
        </p:nvSpPr>
        <p:spPr>
          <a:xfrm>
            <a:off x="7581900" y="2171998"/>
            <a:ext cx="552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15300" y="2144018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2450" y="2177355"/>
            <a:ext cx="1905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401050" y="2144018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3438" y="2167830"/>
            <a:ext cx="2000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8254305" y="177343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8143875" y="184621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98" dirty="0"/>
          </a:p>
        </p:txBody>
      </p:sp>
      <p:sp>
        <p:nvSpPr>
          <p:cNvPr id="18" name="Shape 16"/>
          <p:cNvSpPr/>
          <p:nvPr/>
        </p:nvSpPr>
        <p:spPr>
          <a:xfrm>
            <a:off x="5815905" y="2578298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77805" y="2616398"/>
            <a:ext cx="933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 필터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15905" y="2940248"/>
            <a:ext cx="3182243" cy="3810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071" y="3035498"/>
            <a:ext cx="34197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북마크 검색... (예: 리액트 훅 정리한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5418425" y="290214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5307995" y="297492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98" dirty="0"/>
          </a:p>
        </p:txBody>
      </p:sp>
      <p:sp>
        <p:nvSpPr>
          <p:cNvPr id="24" name="Text 22"/>
          <p:cNvSpPr/>
          <p:nvPr/>
        </p:nvSpPr>
        <p:spPr>
          <a:xfrm>
            <a:off x="5815905" y="3373636"/>
            <a:ext cx="5109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69개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8058150" y="3359348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05800" y="3359348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53450" y="3359348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15905" y="3639443"/>
            <a:ext cx="1536353" cy="1170533"/>
          </a:xfrm>
          <a:prstGeom prst="roundRect">
            <a:avLst>
              <a:gd name="adj" fmla="val 626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88236" y="3712815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87343" y="3727103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31" name="Text 29"/>
          <p:cNvSpPr/>
          <p:nvPr/>
        </p:nvSpPr>
        <p:spPr>
          <a:xfrm>
            <a:off x="6360765" y="3703588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88236" y="4005262"/>
            <a:ext cx="1389608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443" y="4019550"/>
            <a:ext cx="14478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34" name="Shape 32"/>
          <p:cNvSpPr/>
          <p:nvPr/>
        </p:nvSpPr>
        <p:spPr>
          <a:xfrm>
            <a:off x="5888236" y="4516636"/>
            <a:ext cx="1389608" cy="200918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9631" y="4521845"/>
            <a:ext cx="14478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36" name="Shape 34"/>
          <p:cNvSpPr/>
          <p:nvPr/>
        </p:nvSpPr>
        <p:spPr>
          <a:xfrm>
            <a:off x="7461796" y="3639443"/>
            <a:ext cx="1536353" cy="1170533"/>
          </a:xfrm>
          <a:prstGeom prst="roundRect">
            <a:avLst>
              <a:gd name="adj" fmla="val 626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34275" y="3712815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33233" y="3727103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39" name="Text 37"/>
          <p:cNvSpPr/>
          <p:nvPr/>
        </p:nvSpPr>
        <p:spPr>
          <a:xfrm>
            <a:off x="8006655" y="3703588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534275" y="4005262"/>
            <a:ext cx="1389608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71333" y="4019550"/>
            <a:ext cx="14478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42" name="Shape 40"/>
          <p:cNvSpPr/>
          <p:nvPr/>
        </p:nvSpPr>
        <p:spPr>
          <a:xfrm>
            <a:off x="7534275" y="4516636"/>
            <a:ext cx="1389608" cy="200918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05521" y="4521845"/>
            <a:ext cx="14478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44" name="Shape 42"/>
          <p:cNvSpPr/>
          <p:nvPr/>
        </p:nvSpPr>
        <p:spPr>
          <a:xfrm>
            <a:off x="5815905" y="4955828"/>
            <a:ext cx="1536353" cy="1170533"/>
          </a:xfrm>
          <a:prstGeom prst="roundRect">
            <a:avLst>
              <a:gd name="adj" fmla="val 626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88236" y="5029200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87343" y="5043488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47" name="Text 45"/>
          <p:cNvSpPr/>
          <p:nvPr/>
        </p:nvSpPr>
        <p:spPr>
          <a:xfrm>
            <a:off x="6360765" y="5020866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888236" y="5321498"/>
            <a:ext cx="1389608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25443" y="5335786"/>
            <a:ext cx="14478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50" name="Shape 48"/>
          <p:cNvSpPr/>
          <p:nvPr/>
        </p:nvSpPr>
        <p:spPr>
          <a:xfrm>
            <a:off x="5888236" y="5834063"/>
            <a:ext cx="1389608" cy="200918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59631" y="5839271"/>
            <a:ext cx="14478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52" name="Shape 50"/>
          <p:cNvSpPr/>
          <p:nvPr/>
        </p:nvSpPr>
        <p:spPr>
          <a:xfrm>
            <a:off x="7461796" y="4955828"/>
            <a:ext cx="1536353" cy="1170533"/>
          </a:xfrm>
          <a:prstGeom prst="roundRect">
            <a:avLst>
              <a:gd name="adj" fmla="val 626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34275" y="5029200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33233" y="5043488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55" name="Text 53"/>
          <p:cNvSpPr/>
          <p:nvPr/>
        </p:nvSpPr>
        <p:spPr>
          <a:xfrm>
            <a:off x="8006655" y="5020866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534275" y="5321498"/>
            <a:ext cx="1389608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71333" y="5335786"/>
            <a:ext cx="14478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58" name="Shape 56"/>
          <p:cNvSpPr/>
          <p:nvPr/>
        </p:nvSpPr>
        <p:spPr>
          <a:xfrm>
            <a:off x="7534275" y="5834063"/>
            <a:ext cx="914400" cy="20091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33233" y="5839271"/>
            <a:ext cx="9172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링크 끊김</a:t>
            </a:r>
            <a:endParaRPr lang="en-US" sz="998" dirty="0"/>
          </a:p>
        </p:txBody>
      </p:sp>
      <p:sp>
        <p:nvSpPr>
          <p:cNvPr id="60" name="Shape 58"/>
          <p:cNvSpPr/>
          <p:nvPr/>
        </p:nvSpPr>
        <p:spPr>
          <a:xfrm>
            <a:off x="5815905" y="6273105"/>
            <a:ext cx="1536353" cy="1170533"/>
          </a:xfrm>
          <a:prstGeom prst="roundRect">
            <a:avLst>
              <a:gd name="adj" fmla="val 626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88236" y="6345436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87343" y="6359723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63" name="Text 61"/>
          <p:cNvSpPr/>
          <p:nvPr/>
        </p:nvSpPr>
        <p:spPr>
          <a:xfrm>
            <a:off x="6360765" y="6337250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888236" y="6638925"/>
            <a:ext cx="1389608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25443" y="6653213"/>
            <a:ext cx="14478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66" name="Shape 64"/>
          <p:cNvSpPr/>
          <p:nvPr/>
        </p:nvSpPr>
        <p:spPr>
          <a:xfrm>
            <a:off x="5888236" y="7150298"/>
            <a:ext cx="1389608" cy="200918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59631" y="7155507"/>
            <a:ext cx="14478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68" name="Shape 66"/>
          <p:cNvSpPr/>
          <p:nvPr/>
        </p:nvSpPr>
        <p:spPr>
          <a:xfrm>
            <a:off x="7461796" y="6273105"/>
            <a:ext cx="1536353" cy="1170533"/>
          </a:xfrm>
          <a:prstGeom prst="roundRect">
            <a:avLst>
              <a:gd name="adj" fmla="val 626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34275" y="6345436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33233" y="6359723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71" name="Text 69"/>
          <p:cNvSpPr/>
          <p:nvPr/>
        </p:nvSpPr>
        <p:spPr>
          <a:xfrm>
            <a:off x="8006655" y="6337250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534275" y="6638925"/>
            <a:ext cx="1389608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71333" y="6653213"/>
            <a:ext cx="14478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74" name="Shape 72"/>
          <p:cNvSpPr/>
          <p:nvPr/>
        </p:nvSpPr>
        <p:spPr>
          <a:xfrm>
            <a:off x="7534275" y="7150298"/>
            <a:ext cx="1389608" cy="200918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05521" y="7155507"/>
            <a:ext cx="14478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76" name="Shape 74"/>
          <p:cNvSpPr/>
          <p:nvPr/>
        </p:nvSpPr>
        <p:spPr>
          <a:xfrm>
            <a:off x="5515470" y="361293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7" name="Text 75"/>
          <p:cNvSpPr/>
          <p:nvPr/>
        </p:nvSpPr>
        <p:spPr>
          <a:xfrm>
            <a:off x="5405039" y="368466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98" dirty="0"/>
          </a:p>
        </p:txBody>
      </p:sp>
      <p:sp>
        <p:nvSpPr>
          <p:cNvPr id="78" name="Text 76"/>
          <p:cNvSpPr/>
          <p:nvPr/>
        </p:nvSpPr>
        <p:spPr>
          <a:xfrm>
            <a:off x="4808190" y="5172819"/>
            <a:ext cx="624780" cy="48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279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798" dirty="0"/>
          </a:p>
        </p:txBody>
      </p:sp>
      <p:sp>
        <p:nvSpPr>
          <p:cNvPr id="79" name="Shape 77"/>
          <p:cNvSpPr/>
          <p:nvPr/>
        </p:nvSpPr>
        <p:spPr>
          <a:xfrm>
            <a:off x="1097161" y="1737271"/>
            <a:ext cx="3474690" cy="7680871"/>
          </a:xfrm>
          <a:prstGeom prst="roundRect">
            <a:avLst>
              <a:gd name="adj" fmla="val 6305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50507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81" name="Shape 79"/>
          <p:cNvSpPr/>
          <p:nvPr/>
        </p:nvSpPr>
        <p:spPr>
          <a:xfrm>
            <a:off x="2560290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2" name="Text 80"/>
          <p:cNvSpPr/>
          <p:nvPr/>
        </p:nvSpPr>
        <p:spPr>
          <a:xfrm>
            <a:off x="668398" y="9518154"/>
            <a:ext cx="43323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드로어 열림 (☰)</a:t>
            </a:r>
            <a:endParaRPr lang="en-US" sz="1702" dirty="0"/>
          </a:p>
        </p:txBody>
      </p:sp>
      <p:sp>
        <p:nvSpPr>
          <p:cNvPr id="83" name="Shape 81"/>
          <p:cNvSpPr/>
          <p:nvPr/>
        </p:nvSpPr>
        <p:spPr>
          <a:xfrm>
            <a:off x="1243905" y="2029718"/>
            <a:ext cx="2290763" cy="7040761"/>
          </a:xfrm>
          <a:prstGeom prst="rect">
            <a:avLst/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98515" y="2029718"/>
            <a:ext cx="827633" cy="7040761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596580" y="5450086"/>
            <a:ext cx="8304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딤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316236" y="2176463"/>
            <a:ext cx="701873" cy="381000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278136" y="2271713"/>
            <a:ext cx="7780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2056358" y="2176463"/>
            <a:ext cx="701873" cy="3810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018258" y="2271713"/>
            <a:ext cx="7780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즐겨찾기</a:t>
            </a:r>
            <a:endParaRPr lang="en-US" sz="938" dirty="0"/>
          </a:p>
        </p:txBody>
      </p:sp>
      <p:sp>
        <p:nvSpPr>
          <p:cNvPr id="90" name="Shape 88"/>
          <p:cNvSpPr/>
          <p:nvPr/>
        </p:nvSpPr>
        <p:spPr>
          <a:xfrm>
            <a:off x="2796480" y="2176463"/>
            <a:ext cx="664815" cy="3810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758380" y="2271713"/>
            <a:ext cx="7410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폴더</a:t>
            </a:r>
            <a:endParaRPr lang="en-US" sz="938" dirty="0"/>
          </a:p>
        </p:txBody>
      </p:sp>
      <p:sp>
        <p:nvSpPr>
          <p:cNvPr id="92" name="Text 90"/>
          <p:cNvSpPr/>
          <p:nvPr/>
        </p:nvSpPr>
        <p:spPr>
          <a:xfrm>
            <a:off x="3168402" y="1885950"/>
            <a:ext cx="2163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93" name="Shape 91"/>
          <p:cNvSpPr/>
          <p:nvPr/>
        </p:nvSpPr>
        <p:spPr>
          <a:xfrm>
            <a:off x="950565" y="221262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4" name="Text 92"/>
          <p:cNvSpPr/>
          <p:nvPr/>
        </p:nvSpPr>
        <p:spPr>
          <a:xfrm>
            <a:off x="839986" y="228540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95" name="Shape 93"/>
          <p:cNvSpPr/>
          <p:nvPr/>
        </p:nvSpPr>
        <p:spPr>
          <a:xfrm>
            <a:off x="1316236" y="3071813"/>
            <a:ext cx="2144911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8" name="Shape 96"/>
          <p:cNvSpPr/>
          <p:nvPr/>
        </p:nvSpPr>
        <p:spPr>
          <a:xfrm>
            <a:off x="1316236" y="3217515"/>
            <a:ext cx="2144911" cy="365671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353443" y="3300264"/>
            <a:ext cx="22788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▾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1316236" y="3656558"/>
            <a:ext cx="2144911" cy="365671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53443" y="3744069"/>
            <a:ext cx="22788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1102" dirty="0"/>
          </a:p>
        </p:txBody>
      </p:sp>
      <p:sp>
        <p:nvSpPr>
          <p:cNvPr id="102" name="Shape 100"/>
          <p:cNvSpPr/>
          <p:nvPr/>
        </p:nvSpPr>
        <p:spPr>
          <a:xfrm>
            <a:off x="1316236" y="4095750"/>
            <a:ext cx="2144911" cy="365671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353443" y="4183261"/>
            <a:ext cx="22788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1102" dirty="0"/>
          </a:p>
        </p:txBody>
      </p:sp>
      <p:sp>
        <p:nvSpPr>
          <p:cNvPr id="104" name="Shape 102"/>
          <p:cNvSpPr/>
          <p:nvPr/>
        </p:nvSpPr>
        <p:spPr>
          <a:xfrm>
            <a:off x="1316236" y="4534793"/>
            <a:ext cx="2144911" cy="365671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353443" y="4622304"/>
            <a:ext cx="22788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endParaRPr lang="en-US" sz="1102" dirty="0"/>
          </a:p>
        </p:txBody>
      </p:sp>
      <p:sp>
        <p:nvSpPr>
          <p:cNvPr id="106" name="Shape 104"/>
          <p:cNvSpPr/>
          <p:nvPr/>
        </p:nvSpPr>
        <p:spPr>
          <a:xfrm>
            <a:off x="1316236" y="4972943"/>
            <a:ext cx="2144911" cy="365671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353443" y="5060454"/>
            <a:ext cx="22788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라이프스타일</a:t>
            </a:r>
            <a:endParaRPr lang="en-US" sz="1102" dirty="0"/>
          </a:p>
        </p:txBody>
      </p:sp>
      <p:sp>
        <p:nvSpPr>
          <p:cNvPr id="108" name="Shape 106"/>
          <p:cNvSpPr/>
          <p:nvPr/>
        </p:nvSpPr>
        <p:spPr>
          <a:xfrm>
            <a:off x="1316236" y="5411986"/>
            <a:ext cx="2144911" cy="365671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353443" y="5499497"/>
            <a:ext cx="22788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…13종</a:t>
            </a:r>
            <a:endParaRPr lang="en-US" sz="1102" dirty="0"/>
          </a:p>
        </p:txBody>
      </p:sp>
      <p:sp>
        <p:nvSpPr>
          <p:cNvPr id="110" name="Shape 108"/>
          <p:cNvSpPr/>
          <p:nvPr/>
        </p:nvSpPr>
        <p:spPr>
          <a:xfrm>
            <a:off x="1316236" y="5851178"/>
            <a:ext cx="2144911" cy="365671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353443" y="5938689"/>
            <a:ext cx="22788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미분류</a:t>
            </a:r>
            <a:endParaRPr lang="en-US" sz="1102" dirty="0"/>
          </a:p>
        </p:txBody>
      </p:sp>
      <p:sp>
        <p:nvSpPr>
          <p:cNvPr id="112" name="Shape 110"/>
          <p:cNvSpPr/>
          <p:nvPr/>
        </p:nvSpPr>
        <p:spPr>
          <a:xfrm>
            <a:off x="1316236" y="7606605"/>
            <a:ext cx="2144911" cy="512415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353443" y="7762726"/>
            <a:ext cx="22788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 아바타 + 메일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950565" y="764381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5" name="Text 113"/>
          <p:cNvSpPr/>
          <p:nvPr/>
        </p:nvSpPr>
        <p:spPr>
          <a:xfrm>
            <a:off x="839986" y="771554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116" name="Shape 114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17" name="Text 115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118" name="Shape 116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9" name="Text 117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120" name="Text 118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선택 네비게이션</a:t>
            </a:r>
            <a:endParaRPr lang="en-US" sz="1898" dirty="0"/>
          </a:p>
        </p:txBody>
      </p:sp>
      <p:sp>
        <p:nvSpPr>
          <p:cNvPr id="121" name="Text 119"/>
          <p:cNvSpPr/>
          <p:nvPr/>
        </p:nvSpPr>
        <p:spPr>
          <a:xfrm>
            <a:off x="11686133" y="26516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홈/즐겨찾기/내 폴더 — 드로어 상단으로 고정.</a:t>
            </a:r>
            <a:endParaRPr lang="en-US" sz="1598" dirty="0"/>
          </a:p>
        </p:txBody>
      </p:sp>
      <p:sp>
        <p:nvSpPr>
          <p:cNvPr id="122" name="Shape 120"/>
          <p:cNvSpPr/>
          <p:nvPr/>
        </p:nvSpPr>
        <p:spPr>
          <a:xfrm>
            <a:off x="11064180" y="3127028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1100346" y="327362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4" name="Text 122"/>
          <p:cNvSpPr/>
          <p:nvPr/>
        </p:nvSpPr>
        <p:spPr>
          <a:xfrm>
            <a:off x="10989915" y="3345507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125" name="Text 123"/>
          <p:cNvSpPr/>
          <p:nvPr/>
        </p:nvSpPr>
        <p:spPr>
          <a:xfrm>
            <a:off x="11686133" y="3269307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</a:t>
            </a:r>
            <a:endParaRPr lang="en-US" sz="1898" dirty="0"/>
          </a:p>
        </p:txBody>
      </p:sp>
      <p:sp>
        <p:nvSpPr>
          <p:cNvPr id="126" name="Text 124"/>
          <p:cNvSpPr/>
          <p:nvPr/>
        </p:nvSpPr>
        <p:spPr>
          <a:xfrm>
            <a:off x="11686133" y="3602236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tags[0] 기준 자동 생성. 13종 대분류 밖이거나 tags=[] 시 미분류 처리.</a:t>
            </a:r>
            <a:endParaRPr lang="en-US" sz="1598" dirty="0"/>
          </a:p>
        </p:txBody>
      </p:sp>
      <p:sp>
        <p:nvSpPr>
          <p:cNvPr id="127" name="Shape 125"/>
          <p:cNvSpPr/>
          <p:nvPr/>
        </p:nvSpPr>
        <p:spPr>
          <a:xfrm>
            <a:off x="11064180" y="433387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1100346" y="4480471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9" name="Text 127"/>
          <p:cNvSpPr/>
          <p:nvPr/>
        </p:nvSpPr>
        <p:spPr>
          <a:xfrm>
            <a:off x="10989915" y="455324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130" name="Text 128"/>
          <p:cNvSpPr/>
          <p:nvPr/>
        </p:nvSpPr>
        <p:spPr>
          <a:xfrm>
            <a:off x="11686133" y="4476006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정보 버튼</a:t>
            </a:r>
            <a:endParaRPr lang="en-US" sz="1898" dirty="0"/>
          </a:p>
        </p:txBody>
      </p:sp>
      <p:sp>
        <p:nvSpPr>
          <p:cNvPr id="131" name="Text 129"/>
          <p:cNvSpPr/>
          <p:nvPr/>
        </p:nvSpPr>
        <p:spPr>
          <a:xfrm>
            <a:off x="11686133" y="481012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드로어 하단 고정, 클릭 시 프로필 팝업.</a:t>
            </a:r>
            <a:endParaRPr lang="en-US" sz="1598" dirty="0"/>
          </a:p>
        </p:txBody>
      </p:sp>
      <p:sp>
        <p:nvSpPr>
          <p:cNvPr id="132" name="Shape 130"/>
          <p:cNvSpPr/>
          <p:nvPr/>
        </p:nvSpPr>
        <p:spPr>
          <a:xfrm>
            <a:off x="11064180" y="528533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1100346" y="543103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4" name="Text 132"/>
          <p:cNvSpPr/>
          <p:nvPr/>
        </p:nvSpPr>
        <p:spPr>
          <a:xfrm>
            <a:off x="10989915" y="550381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98" dirty="0"/>
          </a:p>
        </p:txBody>
      </p:sp>
      <p:sp>
        <p:nvSpPr>
          <p:cNvPr id="135" name="Text 133"/>
          <p:cNvSpPr/>
          <p:nvPr/>
        </p:nvSpPr>
        <p:spPr>
          <a:xfrm>
            <a:off x="11686133" y="542761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 추가 (＋)</a:t>
            </a:r>
            <a:endParaRPr lang="en-US" sz="1898" dirty="0"/>
          </a:p>
        </p:txBody>
      </p:sp>
      <p:sp>
        <p:nvSpPr>
          <p:cNvPr id="136" name="Text 134"/>
          <p:cNvSpPr/>
          <p:nvPr/>
        </p:nvSpPr>
        <p:spPr>
          <a:xfrm>
            <a:off x="11686133" y="5760690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＋: URL 직접 추가 센터 모달.</a:t>
            </a:r>
            <a:endParaRPr lang="en-US" sz="1598" dirty="0"/>
          </a:p>
        </p:txBody>
      </p:sp>
      <p:sp>
        <p:nvSpPr>
          <p:cNvPr id="137" name="Shape 135"/>
          <p:cNvSpPr/>
          <p:nvPr/>
        </p:nvSpPr>
        <p:spPr>
          <a:xfrm>
            <a:off x="11064180" y="638264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1100346" y="652834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9" name="Text 137"/>
          <p:cNvSpPr/>
          <p:nvPr/>
        </p:nvSpPr>
        <p:spPr>
          <a:xfrm>
            <a:off x="10989915" y="660112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98" dirty="0"/>
          </a:p>
        </p:txBody>
      </p:sp>
      <p:sp>
        <p:nvSpPr>
          <p:cNvPr id="140" name="Text 138"/>
          <p:cNvSpPr/>
          <p:nvPr/>
        </p:nvSpPr>
        <p:spPr>
          <a:xfrm>
            <a:off x="11686133" y="652492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창</a:t>
            </a:r>
            <a:endParaRPr lang="en-US" sz="1898" dirty="0"/>
          </a:p>
        </p:txBody>
      </p:sp>
      <p:sp>
        <p:nvSpPr>
          <p:cNvPr id="141" name="Text 139"/>
          <p:cNvSpPr/>
          <p:nvPr/>
        </p:nvSpPr>
        <p:spPr>
          <a:xfrm>
            <a:off x="11686133" y="6858000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검색, pgvector 유사도 기반. 상단 풀폭 고정.</a:t>
            </a:r>
            <a:endParaRPr lang="en-US" sz="1598" dirty="0"/>
          </a:p>
        </p:txBody>
      </p:sp>
      <p:sp>
        <p:nvSpPr>
          <p:cNvPr id="142" name="Shape 140"/>
          <p:cNvSpPr/>
          <p:nvPr/>
        </p:nvSpPr>
        <p:spPr>
          <a:xfrm>
            <a:off x="11064180" y="7406580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1100346" y="755332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4" name="Text 142"/>
          <p:cNvSpPr/>
          <p:nvPr/>
        </p:nvSpPr>
        <p:spPr>
          <a:xfrm>
            <a:off x="10989915" y="762506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98" dirty="0"/>
          </a:p>
        </p:txBody>
      </p:sp>
      <p:sp>
        <p:nvSpPr>
          <p:cNvPr id="145" name="Text 143"/>
          <p:cNvSpPr/>
          <p:nvPr/>
        </p:nvSpPr>
        <p:spPr>
          <a:xfrm>
            <a:off x="11686133" y="7548860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(2열 그리드)</a:t>
            </a:r>
            <a:endParaRPr lang="en-US" sz="1898" dirty="0"/>
          </a:p>
        </p:txBody>
      </p:sp>
      <p:sp>
        <p:nvSpPr>
          <p:cNvPr id="146" name="Text 144"/>
          <p:cNvSpPr/>
          <p:nvPr/>
        </p:nvSpPr>
        <p:spPr>
          <a:xfrm>
            <a:off x="11686133" y="7881937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파비콘·제목·태그·즐겨찾기·메뉴 구성. 모바일 default 2열.</a:t>
            </a:r>
            <a:endParaRPr lang="en-US" sz="1598" dirty="0"/>
          </a:p>
        </p:txBody>
      </p:sp>
      <p:sp>
        <p:nvSpPr>
          <p:cNvPr id="147" name="Shape 145"/>
          <p:cNvSpPr/>
          <p:nvPr/>
        </p:nvSpPr>
        <p:spPr>
          <a:xfrm>
            <a:off x="11064180" y="846772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8" name="Text 146"/>
          <p:cNvSpPr/>
          <p:nvPr/>
        </p:nvSpPr>
        <p:spPr>
          <a:xfrm>
            <a:off x="11686133" y="860896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변환 — 상단 이동 버튼</a:t>
            </a:r>
            <a:endParaRPr lang="en-US" sz="1898" dirty="0"/>
          </a:p>
        </p:txBody>
      </p:sp>
      <p:sp>
        <p:nvSpPr>
          <p:cNvPr id="149" name="Text 147"/>
          <p:cNvSpPr/>
          <p:nvPr/>
        </p:nvSpPr>
        <p:spPr>
          <a:xfrm>
            <a:off x="11686133" y="8942040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목록을 아래로 스크롤하면 우측 하단에 ↑ 플로팅 버튼 노출, 클릭 시 최상단으로 이동.</a:t>
            </a:r>
            <a:endParaRPr lang="en-US" sz="1598" dirty="0"/>
          </a:p>
        </p:txBody>
      </p:sp>
      <p:sp>
        <p:nvSpPr>
          <p:cNvPr id="96" name="Shape 94"/>
          <p:cNvSpPr/>
          <p:nvPr/>
        </p:nvSpPr>
        <p:spPr>
          <a:xfrm>
            <a:off x="1093946" y="294051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7" name="Text 95"/>
          <p:cNvSpPr/>
          <p:nvPr/>
        </p:nvSpPr>
        <p:spPr>
          <a:xfrm>
            <a:off x="983516" y="3012251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 · Mobile Web 공통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전체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상세 — 사용법 · 업로드 상시 노출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1828800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8225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3337471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1398517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(사용법·업로드 상시 노출)</a:t>
            </a:r>
            <a:endParaRPr lang="en-US" sz="1702" dirty="0"/>
          </a:p>
        </p:txBody>
      </p:sp>
      <p:sp>
        <p:nvSpPr>
          <p:cNvPr id="9" name="Shape 7"/>
          <p:cNvSpPr/>
          <p:nvPr/>
        </p:nvSpPr>
        <p:spPr>
          <a:xfrm>
            <a:off x="1975396" y="2029718"/>
            <a:ext cx="3273623" cy="475208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9718" y="2138660"/>
            <a:ext cx="13562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Mowaba</a:t>
            </a:r>
            <a:endParaRPr lang="en-US" sz="1598" dirty="0"/>
          </a:p>
        </p:txBody>
      </p:sp>
      <p:sp>
        <p:nvSpPr>
          <p:cNvPr id="11" name="Text 9"/>
          <p:cNvSpPr/>
          <p:nvPr/>
        </p:nvSpPr>
        <p:spPr>
          <a:xfrm>
            <a:off x="4001393" y="2167235"/>
            <a:ext cx="6000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01468" y="2144018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905" y="2215455"/>
            <a:ext cx="18097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82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4925318" y="2144018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1993" y="2210693"/>
            <a:ext cx="190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75396" y="4041428"/>
            <a:ext cx="3273623" cy="43904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561" y="4151412"/>
            <a:ext cx="3520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검색</a:t>
            </a:r>
            <a:endParaRPr lang="en-US" sz="1298" dirty="0"/>
          </a:p>
        </p:txBody>
      </p:sp>
      <p:sp>
        <p:nvSpPr>
          <p:cNvPr id="18" name="Shape 16"/>
          <p:cNvSpPr/>
          <p:nvPr/>
        </p:nvSpPr>
        <p:spPr>
          <a:xfrm>
            <a:off x="1975396" y="4627215"/>
            <a:ext cx="1536353" cy="1170533"/>
          </a:xfrm>
          <a:prstGeom prst="roundRect">
            <a:avLst>
              <a:gd name="adj" fmla="val 626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47875" y="4699546"/>
            <a:ext cx="342900" cy="1524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0255" y="4691360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47875" y="4992886"/>
            <a:ext cx="1238250" cy="85725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22" name="Shape 20"/>
          <p:cNvSpPr/>
          <p:nvPr/>
        </p:nvSpPr>
        <p:spPr>
          <a:xfrm>
            <a:off x="2047875" y="5124450"/>
            <a:ext cx="952500" cy="85725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23" name="Shape 21"/>
          <p:cNvSpPr/>
          <p:nvPr/>
        </p:nvSpPr>
        <p:spPr>
          <a:xfrm>
            <a:off x="2047875" y="5504408"/>
            <a:ext cx="952500" cy="57150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24" name="Shape 22"/>
          <p:cNvSpPr/>
          <p:nvPr/>
        </p:nvSpPr>
        <p:spPr>
          <a:xfrm>
            <a:off x="3621286" y="4627215"/>
            <a:ext cx="1536353" cy="1170533"/>
          </a:xfrm>
          <a:prstGeom prst="roundRect">
            <a:avLst>
              <a:gd name="adj" fmla="val 626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3765" y="4699546"/>
            <a:ext cx="342900" cy="1524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6146" y="4691360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93765" y="4992886"/>
            <a:ext cx="1238250" cy="85725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28" name="Shape 26"/>
          <p:cNvSpPr/>
          <p:nvPr/>
        </p:nvSpPr>
        <p:spPr>
          <a:xfrm>
            <a:off x="3693765" y="5124450"/>
            <a:ext cx="952500" cy="85725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29" name="Shape 27"/>
          <p:cNvSpPr/>
          <p:nvPr/>
        </p:nvSpPr>
        <p:spPr>
          <a:xfrm>
            <a:off x="3693765" y="5504408"/>
            <a:ext cx="952500" cy="57150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30" name="Shape 28"/>
          <p:cNvSpPr/>
          <p:nvPr/>
        </p:nvSpPr>
        <p:spPr>
          <a:xfrm>
            <a:off x="1975396" y="5943600"/>
            <a:ext cx="1536353" cy="1170533"/>
          </a:xfrm>
          <a:prstGeom prst="roundRect">
            <a:avLst>
              <a:gd name="adj" fmla="val 626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47875" y="6016823"/>
            <a:ext cx="342900" cy="1524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0255" y="6007745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047875" y="6309271"/>
            <a:ext cx="1238250" cy="85725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34" name="Shape 32"/>
          <p:cNvSpPr/>
          <p:nvPr/>
        </p:nvSpPr>
        <p:spPr>
          <a:xfrm>
            <a:off x="2047875" y="6440686"/>
            <a:ext cx="952500" cy="85725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35" name="Shape 33"/>
          <p:cNvSpPr/>
          <p:nvPr/>
        </p:nvSpPr>
        <p:spPr>
          <a:xfrm>
            <a:off x="2047875" y="6821686"/>
            <a:ext cx="952500" cy="57150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36" name="Shape 34"/>
          <p:cNvSpPr/>
          <p:nvPr/>
        </p:nvSpPr>
        <p:spPr>
          <a:xfrm>
            <a:off x="3621286" y="5943600"/>
            <a:ext cx="1536353" cy="1170533"/>
          </a:xfrm>
          <a:prstGeom prst="roundRect">
            <a:avLst>
              <a:gd name="adj" fmla="val 626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93765" y="6016823"/>
            <a:ext cx="342900" cy="1524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66146" y="6007745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93765" y="6309271"/>
            <a:ext cx="1238250" cy="85725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40" name="Shape 38"/>
          <p:cNvSpPr/>
          <p:nvPr/>
        </p:nvSpPr>
        <p:spPr>
          <a:xfrm>
            <a:off x="3693765" y="6440686"/>
            <a:ext cx="952500" cy="85725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41" name="Shape 39"/>
          <p:cNvSpPr/>
          <p:nvPr/>
        </p:nvSpPr>
        <p:spPr>
          <a:xfrm>
            <a:off x="3693765" y="6821686"/>
            <a:ext cx="952500" cy="57150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42" name="Shape 40"/>
          <p:cNvSpPr/>
          <p:nvPr/>
        </p:nvSpPr>
        <p:spPr>
          <a:xfrm>
            <a:off x="6583561" y="2377380"/>
            <a:ext cx="4023271" cy="73149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35961" y="2529780"/>
            <a:ext cx="426690" cy="42669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39000" y="2609701"/>
            <a:ext cx="1219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Mowaba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8740080" y="2628751"/>
            <a:ext cx="742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9521130" y="2537371"/>
            <a:ext cx="409575" cy="409575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44955" y="2661196"/>
            <a:ext cx="2381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10045005" y="2537371"/>
            <a:ext cx="409575" cy="409575"/>
          </a:xfrm>
          <a:prstGeom prst="roundRect">
            <a:avLst>
              <a:gd name="adj" fmla="val 20930"/>
            </a:avLst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59305" y="2651671"/>
            <a:ext cx="2571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364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</a:t>
            </a:r>
            <a:endParaRPr lang="en-US" sz="1425" dirty="0"/>
          </a:p>
        </p:txBody>
      </p:sp>
      <p:sp>
        <p:nvSpPr>
          <p:cNvPr id="50" name="Text 48"/>
          <p:cNvSpPr/>
          <p:nvPr/>
        </p:nvSpPr>
        <p:spPr>
          <a:xfrm>
            <a:off x="6523212" y="3199209"/>
            <a:ext cx="41439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확대</a:t>
            </a:r>
            <a:endParaRPr lang="en-US" sz="1598" dirty="0"/>
          </a:p>
        </p:txBody>
      </p:sp>
      <p:sp>
        <p:nvSpPr>
          <p:cNvPr id="51" name="Shape 49"/>
          <p:cNvSpPr/>
          <p:nvPr/>
        </p:nvSpPr>
        <p:spPr>
          <a:xfrm>
            <a:off x="6273633" y="252387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6163054" y="259649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53" name="Shape 51"/>
          <p:cNvSpPr/>
          <p:nvPr/>
        </p:nvSpPr>
        <p:spPr>
          <a:xfrm>
            <a:off x="8847434" y="221494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4" name="Text 52"/>
          <p:cNvSpPr/>
          <p:nvPr/>
        </p:nvSpPr>
        <p:spPr>
          <a:xfrm>
            <a:off x="8736855" y="228757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55" name="Shape 53"/>
          <p:cNvSpPr/>
          <p:nvPr/>
        </p:nvSpPr>
        <p:spPr>
          <a:xfrm>
            <a:off x="9521394" y="205430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6" name="Text 54"/>
          <p:cNvSpPr/>
          <p:nvPr/>
        </p:nvSpPr>
        <p:spPr>
          <a:xfrm>
            <a:off x="9410815" y="2126934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57" name="Shape 55"/>
          <p:cNvSpPr/>
          <p:nvPr/>
        </p:nvSpPr>
        <p:spPr>
          <a:xfrm>
            <a:off x="10045269" y="2066664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8" name="Text 56"/>
          <p:cNvSpPr/>
          <p:nvPr/>
        </p:nvSpPr>
        <p:spPr>
          <a:xfrm>
            <a:off x="9934690" y="213929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98" dirty="0"/>
          </a:p>
        </p:txBody>
      </p:sp>
      <p:sp>
        <p:nvSpPr>
          <p:cNvPr id="59" name="Shape 57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0" name="Text 58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61" name="Shape 59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2" name="Text 60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63" name="Text 61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로고 (좌측)</a:t>
            </a:r>
            <a:endParaRPr lang="en-US" sz="1898" dirty="0"/>
          </a:p>
        </p:txBody>
      </p:sp>
      <p:sp>
        <p:nvSpPr>
          <p:cNvPr id="64" name="Text 62"/>
          <p:cNvSpPr/>
          <p:nvPr/>
        </p:nvSpPr>
        <p:spPr>
          <a:xfrm>
            <a:off x="11686133" y="26516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시 홈 이동.</a:t>
            </a:r>
            <a:endParaRPr lang="en-US" sz="1598" dirty="0"/>
          </a:p>
        </p:txBody>
      </p:sp>
      <p:sp>
        <p:nvSpPr>
          <p:cNvPr id="65" name="Shape 63"/>
          <p:cNvSpPr/>
          <p:nvPr/>
        </p:nvSpPr>
        <p:spPr>
          <a:xfrm>
            <a:off x="11064180" y="3200400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6" name="Shape 64"/>
          <p:cNvSpPr/>
          <p:nvPr/>
        </p:nvSpPr>
        <p:spPr>
          <a:xfrm>
            <a:off x="11100346" y="334699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7" name="Text 65"/>
          <p:cNvSpPr/>
          <p:nvPr/>
        </p:nvSpPr>
        <p:spPr>
          <a:xfrm>
            <a:off x="10989915" y="341888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68" name="Text 66"/>
          <p:cNvSpPr/>
          <p:nvPr/>
        </p:nvSpPr>
        <p:spPr>
          <a:xfrm>
            <a:off x="11686133" y="3342531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 (헤더 상시 노출)</a:t>
            </a:r>
            <a:endParaRPr lang="en-US" sz="1898" dirty="0"/>
          </a:p>
        </p:txBody>
      </p:sp>
      <p:sp>
        <p:nvSpPr>
          <p:cNvPr id="69" name="Text 67"/>
          <p:cNvSpPr/>
          <p:nvPr/>
        </p:nvSpPr>
        <p:spPr>
          <a:xfrm>
            <a:off x="11686133" y="3675608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시 온보딩 안내 모달 재오픈.</a:t>
            </a:r>
            <a:endParaRPr lang="en-US" sz="1598" dirty="0"/>
          </a:p>
        </p:txBody>
      </p:sp>
      <p:sp>
        <p:nvSpPr>
          <p:cNvPr id="70" name="Shape 68"/>
          <p:cNvSpPr/>
          <p:nvPr/>
        </p:nvSpPr>
        <p:spPr>
          <a:xfrm>
            <a:off x="11064180" y="415096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1" name="Shape 69"/>
          <p:cNvSpPr/>
          <p:nvPr/>
        </p:nvSpPr>
        <p:spPr>
          <a:xfrm>
            <a:off x="11100346" y="4297561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2" name="Text 70"/>
          <p:cNvSpPr/>
          <p:nvPr/>
        </p:nvSpPr>
        <p:spPr>
          <a:xfrm>
            <a:off x="10989915" y="437033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73" name="Text 71"/>
          <p:cNvSpPr/>
          <p:nvPr/>
        </p:nvSpPr>
        <p:spPr>
          <a:xfrm>
            <a:off x="11686133" y="4293245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업로드 (헤더 상시 노출)</a:t>
            </a:r>
            <a:endParaRPr lang="en-US" sz="1898" dirty="0"/>
          </a:p>
        </p:txBody>
      </p:sp>
      <p:sp>
        <p:nvSpPr>
          <p:cNvPr id="74" name="Text 72"/>
          <p:cNvSpPr/>
          <p:nvPr/>
        </p:nvSpPr>
        <p:spPr>
          <a:xfrm>
            <a:off x="11686133" y="462721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시 파일 임포트 페이지(WEB-14)로 이동.</a:t>
            </a:r>
            <a:endParaRPr lang="en-US" sz="1598" dirty="0"/>
          </a:p>
        </p:txBody>
      </p:sp>
      <p:sp>
        <p:nvSpPr>
          <p:cNvPr id="75" name="Shape 73"/>
          <p:cNvSpPr/>
          <p:nvPr/>
        </p:nvSpPr>
        <p:spPr>
          <a:xfrm>
            <a:off x="11064180" y="510242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6" name="Shape 74"/>
          <p:cNvSpPr/>
          <p:nvPr/>
        </p:nvSpPr>
        <p:spPr>
          <a:xfrm>
            <a:off x="11100346" y="524827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7" name="Text 75"/>
          <p:cNvSpPr/>
          <p:nvPr/>
        </p:nvSpPr>
        <p:spPr>
          <a:xfrm>
            <a:off x="10989915" y="532090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98" dirty="0"/>
          </a:p>
        </p:txBody>
      </p:sp>
      <p:sp>
        <p:nvSpPr>
          <p:cNvPr id="78" name="Text 76"/>
          <p:cNvSpPr/>
          <p:nvPr/>
        </p:nvSpPr>
        <p:spPr>
          <a:xfrm>
            <a:off x="11686133" y="524470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 추가 (＋)</a:t>
            </a:r>
            <a:endParaRPr lang="en-US" sz="1898" dirty="0"/>
          </a:p>
        </p:txBody>
      </p:sp>
      <p:sp>
        <p:nvSpPr>
          <p:cNvPr id="79" name="Text 77"/>
          <p:cNvSpPr/>
          <p:nvPr/>
        </p:nvSpPr>
        <p:spPr>
          <a:xfrm>
            <a:off x="11686133" y="5577780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시 URL 직접 추가 센터 모달 오픈. 사용법·업로드도 모두 헤더에 상시 노출.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 · 헤더 &gt; 북마크 추가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전체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 추가 — 센터 모달 (① 정상 / ② 죽은 링크 경고)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1097161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5076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2605980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667027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정상 링크</a:t>
            </a:r>
            <a:endParaRPr lang="en-US" sz="1702" dirty="0"/>
          </a:p>
        </p:txBody>
      </p:sp>
      <p:sp>
        <p:nvSpPr>
          <p:cNvPr id="9" name="Shape 7"/>
          <p:cNvSpPr/>
          <p:nvPr/>
        </p:nvSpPr>
        <p:spPr>
          <a:xfrm>
            <a:off x="1243905" y="2029718"/>
            <a:ext cx="3273623" cy="475208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228" y="2108299"/>
            <a:ext cx="441871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</a:t>
            </a:r>
            <a:endParaRPr lang="en-US" sz="2002" dirty="0"/>
          </a:p>
        </p:txBody>
      </p:sp>
      <p:sp>
        <p:nvSpPr>
          <p:cNvPr id="11" name="Text 9"/>
          <p:cNvSpPr/>
          <p:nvPr/>
        </p:nvSpPr>
        <p:spPr>
          <a:xfrm>
            <a:off x="1682055" y="2138660"/>
            <a:ext cx="13562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Mowaba</a:t>
            </a:r>
            <a:endParaRPr lang="en-US" sz="1598" dirty="0"/>
          </a:p>
        </p:txBody>
      </p:sp>
      <p:sp>
        <p:nvSpPr>
          <p:cNvPr id="12" name="Text 10"/>
          <p:cNvSpPr/>
          <p:nvPr/>
        </p:nvSpPr>
        <p:spPr>
          <a:xfrm>
            <a:off x="3009900" y="2171998"/>
            <a:ext cx="552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43300" y="2144018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0450" y="2177355"/>
            <a:ext cx="1905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29050" y="2144018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1438" y="2167830"/>
            <a:ext cx="2000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1135261" y="1775371"/>
            <a:ext cx="3489871" cy="7604671"/>
          </a:xfrm>
          <a:prstGeom prst="roundRect">
            <a:avLst>
              <a:gd name="adj" fmla="val 5186"/>
            </a:avLst>
          </a:prstGeom>
          <a:solidFill>
            <a:srgbClr val="111827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06698" y="3429000"/>
            <a:ext cx="3346996" cy="4297561"/>
          </a:xfrm>
          <a:prstGeom prst="roundRect">
            <a:avLst>
              <a:gd name="adj" fmla="val 2191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35286" y="3634532"/>
            <a:ext cx="31835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 추가 ✕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35286" y="4050953"/>
            <a:ext cx="3090863" cy="475208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188470"/>
            <a:ext cx="33192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https://…vercel.app/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35286" y="4635698"/>
            <a:ext cx="3090863" cy="100578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20725" y="4948089"/>
            <a:ext cx="3319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미리보기</a:t>
            </a:r>
            <a:endParaRPr lang="en-US" sz="1102" dirty="0"/>
          </a:p>
        </p:txBody>
      </p:sp>
      <p:sp>
        <p:nvSpPr>
          <p:cNvPr id="24" name="Text 22"/>
          <p:cNvSpPr/>
          <p:nvPr/>
        </p:nvSpPr>
        <p:spPr>
          <a:xfrm>
            <a:off x="1220725" y="5138589"/>
            <a:ext cx="3319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Bookmarker — AI 북마크 관리 · 모와바</a:t>
            </a:r>
            <a:endParaRPr lang="en-US" sz="1102" dirty="0"/>
          </a:p>
        </p:txBody>
      </p:sp>
      <p:sp>
        <p:nvSpPr>
          <p:cNvPr id="25" name="Shape 23"/>
          <p:cNvSpPr/>
          <p:nvPr/>
        </p:nvSpPr>
        <p:spPr>
          <a:xfrm>
            <a:off x="1335286" y="6537871"/>
            <a:ext cx="1508671" cy="512415"/>
          </a:xfrm>
          <a:prstGeom prst="roundRect">
            <a:avLst>
              <a:gd name="adj" fmla="val 14313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9835" y="6684466"/>
            <a:ext cx="15788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en-US" sz="1298" dirty="0"/>
          </a:p>
        </p:txBody>
      </p:sp>
      <p:sp>
        <p:nvSpPr>
          <p:cNvPr id="27" name="Shape 25"/>
          <p:cNvSpPr/>
          <p:nvPr/>
        </p:nvSpPr>
        <p:spPr>
          <a:xfrm>
            <a:off x="2916436" y="6537871"/>
            <a:ext cx="1508671" cy="512415"/>
          </a:xfrm>
          <a:prstGeom prst="roundRect">
            <a:avLst>
              <a:gd name="adj" fmla="val 14313"/>
            </a:avLst>
          </a:prstGeom>
          <a:solidFill>
            <a:srgbClr val="1F2937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1878" y="6684466"/>
            <a:ext cx="15788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 추가</a:t>
            </a:r>
            <a:endParaRPr lang="en-US" sz="1298" dirty="0"/>
          </a:p>
        </p:txBody>
      </p:sp>
      <p:sp>
        <p:nvSpPr>
          <p:cNvPr id="29" name="Shape 27"/>
          <p:cNvSpPr/>
          <p:nvPr/>
        </p:nvSpPr>
        <p:spPr>
          <a:xfrm>
            <a:off x="950565" y="408711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839986" y="415989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31" name="Shape 29"/>
          <p:cNvSpPr/>
          <p:nvPr/>
        </p:nvSpPr>
        <p:spPr>
          <a:xfrm>
            <a:off x="950565" y="657507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839986" y="664681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33" name="Shape 31"/>
          <p:cNvSpPr/>
          <p:nvPr/>
        </p:nvSpPr>
        <p:spPr>
          <a:xfrm>
            <a:off x="5669161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2276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35" name="Shape 33"/>
          <p:cNvSpPr/>
          <p:nvPr/>
        </p:nvSpPr>
        <p:spPr>
          <a:xfrm>
            <a:off x="7177980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36" name="Text 34"/>
          <p:cNvSpPr/>
          <p:nvPr/>
        </p:nvSpPr>
        <p:spPr>
          <a:xfrm>
            <a:off x="5239027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죽은 링크 경고</a:t>
            </a:r>
            <a:endParaRPr lang="en-US" sz="1702" dirty="0"/>
          </a:p>
        </p:txBody>
      </p:sp>
      <p:sp>
        <p:nvSpPr>
          <p:cNvPr id="37" name="Shape 35"/>
          <p:cNvSpPr/>
          <p:nvPr/>
        </p:nvSpPr>
        <p:spPr>
          <a:xfrm>
            <a:off x="5815905" y="2029718"/>
            <a:ext cx="3273623" cy="475208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70228" y="2108299"/>
            <a:ext cx="441871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</a:t>
            </a:r>
            <a:endParaRPr lang="en-US" sz="2002" dirty="0"/>
          </a:p>
        </p:txBody>
      </p:sp>
      <p:sp>
        <p:nvSpPr>
          <p:cNvPr id="39" name="Text 37"/>
          <p:cNvSpPr/>
          <p:nvPr/>
        </p:nvSpPr>
        <p:spPr>
          <a:xfrm>
            <a:off x="6254055" y="2138660"/>
            <a:ext cx="13562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Mowaba</a:t>
            </a:r>
            <a:endParaRPr lang="en-US" sz="1598" dirty="0"/>
          </a:p>
        </p:txBody>
      </p:sp>
      <p:sp>
        <p:nvSpPr>
          <p:cNvPr id="40" name="Text 38"/>
          <p:cNvSpPr/>
          <p:nvPr/>
        </p:nvSpPr>
        <p:spPr>
          <a:xfrm>
            <a:off x="7581900" y="2171998"/>
            <a:ext cx="552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115300" y="2144018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2450" y="2177355"/>
            <a:ext cx="1905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401050" y="2144018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53438" y="2167830"/>
            <a:ext cx="2000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5707261" y="1775371"/>
            <a:ext cx="3489871" cy="7604671"/>
          </a:xfrm>
          <a:prstGeom prst="roundRect">
            <a:avLst>
              <a:gd name="adj" fmla="val 5186"/>
            </a:avLst>
          </a:prstGeom>
          <a:solidFill>
            <a:srgbClr val="111827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778698" y="3429000"/>
            <a:ext cx="3346996" cy="4297561"/>
          </a:xfrm>
          <a:prstGeom prst="roundRect">
            <a:avLst>
              <a:gd name="adj" fmla="val 2191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07286" y="3634532"/>
            <a:ext cx="31835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 추가 ✕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907286" y="4050953"/>
            <a:ext cx="3090863" cy="475208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0" y="4188470"/>
            <a:ext cx="33192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https://…-li8.verc…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869186" y="4597598"/>
            <a:ext cx="3167063" cy="1832521"/>
          </a:xfrm>
          <a:prstGeom prst="roundRect">
            <a:avLst>
              <a:gd name="adj" fmla="val 3119"/>
            </a:avLst>
          </a:prstGeom>
          <a:ln w="19050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07286" y="4635698"/>
            <a:ext cx="3090863" cy="100578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92725" y="4948089"/>
            <a:ext cx="3319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미리보기</a:t>
            </a:r>
            <a:endParaRPr lang="en-US" sz="1102" dirty="0"/>
          </a:p>
        </p:txBody>
      </p:sp>
      <p:sp>
        <p:nvSpPr>
          <p:cNvPr id="53" name="Text 51"/>
          <p:cNvSpPr/>
          <p:nvPr/>
        </p:nvSpPr>
        <p:spPr>
          <a:xfrm>
            <a:off x="5792725" y="5138589"/>
            <a:ext cx="3319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(미리보기 실패)</a:t>
            </a:r>
            <a:endParaRPr lang="en-US" sz="1102" dirty="0"/>
          </a:p>
        </p:txBody>
      </p:sp>
      <p:sp>
        <p:nvSpPr>
          <p:cNvPr id="54" name="Shape 52"/>
          <p:cNvSpPr/>
          <p:nvPr/>
        </p:nvSpPr>
        <p:spPr>
          <a:xfrm>
            <a:off x="5907286" y="5770215"/>
            <a:ext cx="3090863" cy="621953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92725" y="5890617"/>
            <a:ext cx="3319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이 링크는 더 이상 존재하지</a:t>
            </a:r>
            <a:endParaRPr lang="en-US" sz="1102" dirty="0"/>
          </a:p>
        </p:txBody>
      </p:sp>
      <p:sp>
        <p:nvSpPr>
          <p:cNvPr id="56" name="Text 54"/>
          <p:cNvSpPr/>
          <p:nvPr/>
        </p:nvSpPr>
        <p:spPr>
          <a:xfrm>
            <a:off x="5792725" y="6081117"/>
            <a:ext cx="3319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 것 같아요. 저장은 가능해요.</a:t>
            </a:r>
            <a:endParaRPr lang="en-US" sz="1102" dirty="0"/>
          </a:p>
        </p:txBody>
      </p:sp>
      <p:sp>
        <p:nvSpPr>
          <p:cNvPr id="57" name="Shape 55"/>
          <p:cNvSpPr/>
          <p:nvPr/>
        </p:nvSpPr>
        <p:spPr>
          <a:xfrm>
            <a:off x="5907286" y="6537871"/>
            <a:ext cx="1508671" cy="512415"/>
          </a:xfrm>
          <a:prstGeom prst="roundRect">
            <a:avLst>
              <a:gd name="adj" fmla="val 14313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1835" y="6684466"/>
            <a:ext cx="15788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en-US" sz="1298" dirty="0"/>
          </a:p>
        </p:txBody>
      </p:sp>
      <p:sp>
        <p:nvSpPr>
          <p:cNvPr id="59" name="Shape 57"/>
          <p:cNvSpPr/>
          <p:nvPr/>
        </p:nvSpPr>
        <p:spPr>
          <a:xfrm>
            <a:off x="7488436" y="6537871"/>
            <a:ext cx="1508671" cy="512415"/>
          </a:xfrm>
          <a:prstGeom prst="roundRect">
            <a:avLst>
              <a:gd name="adj" fmla="val 14313"/>
            </a:avLst>
          </a:prstGeom>
          <a:solidFill>
            <a:srgbClr val="1F2937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53878" y="6684466"/>
            <a:ext cx="15788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 추가</a:t>
            </a:r>
            <a:endParaRPr lang="en-US" sz="1298" dirty="0"/>
          </a:p>
        </p:txBody>
      </p:sp>
      <p:sp>
        <p:nvSpPr>
          <p:cNvPr id="61" name="Shape 59"/>
          <p:cNvSpPr/>
          <p:nvPr/>
        </p:nvSpPr>
        <p:spPr>
          <a:xfrm>
            <a:off x="5733008" y="4597598"/>
            <a:ext cx="401836" cy="4018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2" name="Text 60"/>
          <p:cNvSpPr/>
          <p:nvPr/>
        </p:nvSpPr>
        <p:spPr>
          <a:xfrm>
            <a:off x="5622578" y="467037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63" name="Text 61"/>
          <p:cNvSpPr/>
          <p:nvPr/>
        </p:nvSpPr>
        <p:spPr>
          <a:xfrm>
            <a:off x="0" y="0"/>
            <a:ext cx="4326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set:0;display:flex;flex-direction:column;justify-content:center;"&gt;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-274320" y="171450"/>
            <a:ext cx="18836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65" name="Shape 63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6" name="Text 64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67" name="Shape 65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8" name="Text 66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69" name="Text 67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입력 필드</a:t>
            </a:r>
            <a:endParaRPr lang="en-US" sz="1898" dirty="0"/>
          </a:p>
        </p:txBody>
      </p:sp>
      <p:sp>
        <p:nvSpPr>
          <p:cNvPr id="70" name="Text 68"/>
          <p:cNvSpPr/>
          <p:nvPr/>
        </p:nvSpPr>
        <p:spPr>
          <a:xfrm>
            <a:off x="11686133" y="26516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형식 validation 적용.</a:t>
            </a:r>
            <a:endParaRPr lang="en-US" sz="1598" dirty="0"/>
          </a:p>
        </p:txBody>
      </p:sp>
      <p:sp>
        <p:nvSpPr>
          <p:cNvPr id="71" name="Shape 69"/>
          <p:cNvSpPr/>
          <p:nvPr/>
        </p:nvSpPr>
        <p:spPr>
          <a:xfrm>
            <a:off x="11064180" y="305365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2" name="Shape 70"/>
          <p:cNvSpPr/>
          <p:nvPr/>
        </p:nvSpPr>
        <p:spPr>
          <a:xfrm>
            <a:off x="11100346" y="3200400"/>
            <a:ext cx="401836" cy="4018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3" name="Text 71"/>
          <p:cNvSpPr/>
          <p:nvPr/>
        </p:nvSpPr>
        <p:spPr>
          <a:xfrm>
            <a:off x="10989915" y="327302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74" name="Text 72"/>
          <p:cNvSpPr/>
          <p:nvPr/>
        </p:nvSpPr>
        <p:spPr>
          <a:xfrm>
            <a:off x="11686133" y="3195935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상태 확인</a:t>
            </a:r>
            <a:endParaRPr lang="en-US" sz="1898" dirty="0"/>
          </a:p>
        </p:txBody>
      </p:sp>
      <p:sp>
        <p:nvSpPr>
          <p:cNvPr id="75" name="Text 73"/>
          <p:cNvSpPr/>
          <p:nvPr/>
        </p:nvSpPr>
        <p:spPr>
          <a:xfrm>
            <a:off x="11686133" y="3529905"/>
            <a:ext cx="6234732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URL 상태 확인 결과 죽은 링크 감지 시 경고 문구 노출</a:t>
            </a:r>
            <a:endParaRPr lang="en-US" sz="1598" dirty="0"/>
          </a:p>
        </p:txBody>
      </p:sp>
      <p:sp>
        <p:nvSpPr>
          <p:cNvPr id="76" name="Text 74"/>
          <p:cNvSpPr/>
          <p:nvPr/>
        </p:nvSpPr>
        <p:spPr>
          <a:xfrm>
            <a:off x="11686133" y="3851821"/>
            <a:ext cx="6234732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경고는 비차단이며 그대로 저장 가능</a:t>
            </a:r>
            <a:endParaRPr lang="en-US" sz="1598" dirty="0"/>
          </a:p>
        </p:txBody>
      </p:sp>
      <p:sp>
        <p:nvSpPr>
          <p:cNvPr id="77" name="Text 75"/>
          <p:cNvSpPr/>
          <p:nvPr/>
        </p:nvSpPr>
        <p:spPr>
          <a:xfrm>
            <a:off x="11686133" y="4173736"/>
            <a:ext cx="6234732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URL 검증 후 POST /api/bookmarks</a:t>
            </a:r>
            <a:endParaRPr lang="en-US" sz="1598" dirty="0"/>
          </a:p>
        </p:txBody>
      </p:sp>
      <p:sp>
        <p:nvSpPr>
          <p:cNvPr id="78" name="Text 76"/>
          <p:cNvSpPr/>
          <p:nvPr/>
        </p:nvSpPr>
        <p:spPr>
          <a:xfrm>
            <a:off x="11686133" y="4495651"/>
            <a:ext cx="6234732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저장 흐름과 동일하게 AI 태깅 + 임베딩</a:t>
            </a:r>
            <a:endParaRPr lang="en-US" sz="1598" dirty="0"/>
          </a:p>
        </p:txBody>
      </p:sp>
      <p:sp>
        <p:nvSpPr>
          <p:cNvPr id="79" name="Text 77"/>
          <p:cNvSpPr/>
          <p:nvPr/>
        </p:nvSpPr>
        <p:spPr>
          <a:xfrm>
            <a:off x="11686133" y="4817566"/>
            <a:ext cx="6234732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URL 상태 코드 확인: HEAD 우선, 실패 시 GET 폴백</a:t>
            </a:r>
            <a:endParaRPr lang="en-US" sz="1598" dirty="0"/>
          </a:p>
        </p:txBody>
      </p:sp>
      <p:sp>
        <p:nvSpPr>
          <p:cNvPr id="80" name="Text 78"/>
          <p:cNvSpPr/>
          <p:nvPr/>
        </p:nvSpPr>
        <p:spPr>
          <a:xfrm>
            <a:off x="11686133" y="5139482"/>
            <a:ext cx="6234732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404/410만 is_dead=true 처리</a:t>
            </a:r>
            <a:endParaRPr lang="en-US" sz="1598" dirty="0"/>
          </a:p>
        </p:txBody>
      </p:sp>
      <p:sp>
        <p:nvSpPr>
          <p:cNvPr id="81" name="Shape 79"/>
          <p:cNvSpPr/>
          <p:nvPr/>
        </p:nvSpPr>
        <p:spPr>
          <a:xfrm>
            <a:off x="11064180" y="552256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2" name="Shape 80"/>
          <p:cNvSpPr/>
          <p:nvPr/>
        </p:nvSpPr>
        <p:spPr>
          <a:xfrm>
            <a:off x="11100346" y="5669161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3" name="Text 81"/>
          <p:cNvSpPr/>
          <p:nvPr/>
        </p:nvSpPr>
        <p:spPr>
          <a:xfrm>
            <a:off x="10989915" y="574193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84" name="Text 82"/>
          <p:cNvSpPr/>
          <p:nvPr/>
        </p:nvSpPr>
        <p:spPr>
          <a:xfrm>
            <a:off x="11686133" y="5664845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en-US" sz="1898" dirty="0"/>
          </a:p>
        </p:txBody>
      </p:sp>
      <p:sp>
        <p:nvSpPr>
          <p:cNvPr id="85" name="Text 83"/>
          <p:cNvSpPr/>
          <p:nvPr/>
        </p:nvSpPr>
        <p:spPr>
          <a:xfrm>
            <a:off x="11686133" y="599881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또는 빈 영역 탭으로 닫힘.</a:t>
            </a:r>
            <a:endParaRPr lang="en-US" sz="1598" dirty="0"/>
          </a:p>
        </p:txBody>
      </p:sp>
      <p:sp>
        <p:nvSpPr>
          <p:cNvPr id="86" name="Shape 84"/>
          <p:cNvSpPr/>
          <p:nvPr/>
        </p:nvSpPr>
        <p:spPr>
          <a:xfrm>
            <a:off x="11064180" y="643696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7" name="Text 85"/>
          <p:cNvSpPr/>
          <p:nvPr/>
        </p:nvSpPr>
        <p:spPr>
          <a:xfrm>
            <a:off x="11686133" y="6579245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변환</a:t>
            </a:r>
            <a:endParaRPr lang="en-US" sz="1898" dirty="0"/>
          </a:p>
        </p:txBody>
      </p:sp>
      <p:sp>
        <p:nvSpPr>
          <p:cNvPr id="88" name="Text 86"/>
          <p:cNvSpPr/>
          <p:nvPr/>
        </p:nvSpPr>
        <p:spPr>
          <a:xfrm>
            <a:off x="11686133" y="6913215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오버레이 모달 → 화면 중앙 모달(센터 다이얼로그). 키보드 노출 시 상단으로 이동.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 · 헤더 &gt; 사용법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전체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안내 모달 (공통, 재진입용) — 풀스크린</a:t>
            </a:r>
            <a:endParaRPr lang="en-US" sz="3203" dirty="0"/>
          </a:p>
        </p:txBody>
      </p:sp>
      <p:sp>
        <p:nvSpPr>
          <p:cNvPr id="5" name="Text 3"/>
          <p:cNvSpPr/>
          <p:nvPr/>
        </p:nvSpPr>
        <p:spPr>
          <a:xfrm>
            <a:off x="548580" y="9805839"/>
            <a:ext cx="177064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⋮ &gt; 사용법으로 재진입, ServiceFeatures 공유. MVP는 단순 안내 모달, 자동 5-step Wizard는 v1.1 이후 검토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1105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5166271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3227317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 안내 (풀스크린)</a:t>
            </a:r>
            <a:endParaRPr lang="en-US" sz="1702" dirty="0"/>
          </a:p>
        </p:txBody>
      </p:sp>
      <p:sp>
        <p:nvSpPr>
          <p:cNvPr id="10" name="Text 8"/>
          <p:cNvSpPr/>
          <p:nvPr/>
        </p:nvSpPr>
        <p:spPr>
          <a:xfrm>
            <a:off x="3804196" y="2193429"/>
            <a:ext cx="33718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 안내 ✕</a:t>
            </a:r>
            <a:endParaRPr lang="en-US" sz="1598" dirty="0"/>
          </a:p>
        </p:txBody>
      </p:sp>
      <p:sp>
        <p:nvSpPr>
          <p:cNvPr id="11" name="Shape 9"/>
          <p:cNvSpPr/>
          <p:nvPr/>
        </p:nvSpPr>
        <p:spPr>
          <a:xfrm>
            <a:off x="3804196" y="2761208"/>
            <a:ext cx="3273623" cy="164589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0341" y="3469779"/>
            <a:ext cx="35204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402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익스텐션 설치 (PC)</a:t>
            </a:r>
            <a:endParaRPr lang="en-US" sz="1402" dirty="0"/>
          </a:p>
        </p:txBody>
      </p:sp>
      <p:sp>
        <p:nvSpPr>
          <p:cNvPr id="13" name="Shape 11"/>
          <p:cNvSpPr/>
          <p:nvPr/>
        </p:nvSpPr>
        <p:spPr>
          <a:xfrm>
            <a:off x="3510855" y="285273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400425" y="2925366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15" name="Shape 13"/>
          <p:cNvSpPr/>
          <p:nvPr/>
        </p:nvSpPr>
        <p:spPr>
          <a:xfrm>
            <a:off x="3804196" y="4590008"/>
            <a:ext cx="3273623" cy="164589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341" y="5298579"/>
            <a:ext cx="35204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402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북마크 저장하기</a:t>
            </a:r>
            <a:endParaRPr lang="en-US" sz="1402" dirty="0"/>
          </a:p>
        </p:txBody>
      </p:sp>
      <p:sp>
        <p:nvSpPr>
          <p:cNvPr id="17" name="Shape 15"/>
          <p:cNvSpPr/>
          <p:nvPr/>
        </p:nvSpPr>
        <p:spPr>
          <a:xfrm>
            <a:off x="3510855" y="468153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3400425" y="4754166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19" name="Shape 17"/>
          <p:cNvSpPr/>
          <p:nvPr/>
        </p:nvSpPr>
        <p:spPr>
          <a:xfrm>
            <a:off x="3804196" y="6418808"/>
            <a:ext cx="3273623" cy="164589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0341" y="7127379"/>
            <a:ext cx="35204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402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자연어로 검색</a:t>
            </a:r>
            <a:endParaRPr lang="en-US" sz="1402" dirty="0"/>
          </a:p>
        </p:txBody>
      </p:sp>
      <p:sp>
        <p:nvSpPr>
          <p:cNvPr id="21" name="Shape 19"/>
          <p:cNvSpPr/>
          <p:nvPr/>
        </p:nvSpPr>
        <p:spPr>
          <a:xfrm>
            <a:off x="3510855" y="651033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3400425" y="6582966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23" name="Shape 21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4" name="Text 22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25" name="Shape 23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27" name="Text 25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익스텐션 설치 단계</a:t>
            </a:r>
            <a:endParaRPr lang="en-US" sz="1898" dirty="0"/>
          </a:p>
        </p:txBody>
      </p:sp>
      <p:sp>
        <p:nvSpPr>
          <p:cNvPr id="28" name="Text 26"/>
          <p:cNvSpPr/>
          <p:nvPr/>
        </p:nvSpPr>
        <p:spPr>
          <a:xfrm>
            <a:off x="11686133" y="26516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Chrome 웹스토어 링크 안내 (PC 전용 표기).</a:t>
            </a:r>
            <a:endParaRPr lang="en-US" sz="1598" dirty="0"/>
          </a:p>
        </p:txBody>
      </p:sp>
      <p:sp>
        <p:nvSpPr>
          <p:cNvPr id="29" name="Shape 27"/>
          <p:cNvSpPr/>
          <p:nvPr/>
        </p:nvSpPr>
        <p:spPr>
          <a:xfrm>
            <a:off x="11064180" y="3200400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00346" y="334699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10989915" y="341888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32" name="Text 30"/>
          <p:cNvSpPr/>
          <p:nvPr/>
        </p:nvSpPr>
        <p:spPr>
          <a:xfrm>
            <a:off x="11686133" y="3342531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 저장 단계</a:t>
            </a:r>
            <a:endParaRPr lang="en-US" sz="1898" dirty="0"/>
          </a:p>
        </p:txBody>
      </p:sp>
      <p:sp>
        <p:nvSpPr>
          <p:cNvPr id="33" name="Text 31"/>
          <p:cNvSpPr/>
          <p:nvPr/>
        </p:nvSpPr>
        <p:spPr>
          <a:xfrm>
            <a:off x="11686133" y="3675608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PC: Cmd+Shift+S 또는 익스텐션 버튼 / 모바일: ＋ URL 직접 추가. AI 자동 태깅 설명.</a:t>
            </a:r>
            <a:endParaRPr lang="en-US" sz="1598" dirty="0"/>
          </a:p>
        </p:txBody>
      </p:sp>
      <p:sp>
        <p:nvSpPr>
          <p:cNvPr id="34" name="Shape 32"/>
          <p:cNvSpPr/>
          <p:nvPr/>
        </p:nvSpPr>
        <p:spPr>
          <a:xfrm>
            <a:off x="11064180" y="4516636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5" name="Shape 33"/>
          <p:cNvSpPr/>
          <p:nvPr/>
        </p:nvSpPr>
        <p:spPr>
          <a:xfrm>
            <a:off x="11100346" y="466338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10989915" y="4736157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37" name="Text 35"/>
          <p:cNvSpPr/>
          <p:nvPr/>
        </p:nvSpPr>
        <p:spPr>
          <a:xfrm>
            <a:off x="11686133" y="4658916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검색 단계</a:t>
            </a:r>
            <a:endParaRPr lang="en-US" sz="1898" dirty="0"/>
          </a:p>
        </p:txBody>
      </p:sp>
      <p:sp>
        <p:nvSpPr>
          <p:cNvPr id="38" name="Text 36"/>
          <p:cNvSpPr/>
          <p:nvPr/>
        </p:nvSpPr>
        <p:spPr>
          <a:xfrm>
            <a:off x="11686133" y="4992886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문구로 검색 방법 안내.</a:t>
            </a:r>
            <a:endParaRPr lang="en-US" sz="1598" dirty="0"/>
          </a:p>
        </p:txBody>
      </p:sp>
      <p:sp>
        <p:nvSpPr>
          <p:cNvPr id="39" name="Shape 37"/>
          <p:cNvSpPr/>
          <p:nvPr/>
        </p:nvSpPr>
        <p:spPr>
          <a:xfrm>
            <a:off x="11064180" y="5431036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Text 38"/>
          <p:cNvSpPr/>
          <p:nvPr/>
        </p:nvSpPr>
        <p:spPr>
          <a:xfrm>
            <a:off x="11686133" y="5573316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변환</a:t>
            </a:r>
            <a:endParaRPr lang="en-US" sz="1898" dirty="0"/>
          </a:p>
        </p:txBody>
      </p:sp>
      <p:sp>
        <p:nvSpPr>
          <p:cNvPr id="41" name="Text 39"/>
          <p:cNvSpPr/>
          <p:nvPr/>
        </p:nvSpPr>
        <p:spPr>
          <a:xfrm>
            <a:off x="11686133" y="5907286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가로 배치 → 세로 스택 풀스크린 모달.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 · Mobile Web 공통 &gt; 사용설명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전체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드로어(프로필 통합) · 설정 상세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6399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3436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219426" y="8512373"/>
            <a:ext cx="3767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드로어 (프로필 통합)</a:t>
            </a:r>
            <a:endParaRPr lang="en-US" sz="1702" dirty="0"/>
          </a:p>
        </p:txBody>
      </p:sp>
      <p:sp>
        <p:nvSpPr>
          <p:cNvPr id="9" name="Text 7"/>
          <p:cNvSpPr/>
          <p:nvPr/>
        </p:nvSpPr>
        <p:spPr>
          <a:xfrm>
            <a:off x="3070771" y="2047875"/>
            <a:ext cx="381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705" y="2381250"/>
            <a:ext cx="852488" cy="381000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605" y="2476500"/>
            <a:ext cx="928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677293" y="2381250"/>
            <a:ext cx="852488" cy="3810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39193" y="2476500"/>
            <a:ext cx="928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즐겨찾기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6988" y="2381250"/>
            <a:ext cx="852488" cy="3810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8888" y="2476500"/>
            <a:ext cx="928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폴더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705" y="2857500"/>
            <a:ext cx="2632621" cy="32385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805" y="2924175"/>
            <a:ext cx="28120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▾</a:t>
            </a:r>
            <a:endParaRPr lang="en-US" sz="1102" dirty="0"/>
          </a:p>
        </p:txBody>
      </p:sp>
      <p:sp>
        <p:nvSpPr>
          <p:cNvPr id="22" name="Shape 20"/>
          <p:cNvSpPr/>
          <p:nvPr/>
        </p:nvSpPr>
        <p:spPr>
          <a:xfrm>
            <a:off x="786705" y="3257550"/>
            <a:ext cx="2632621" cy="247650"/>
          </a:xfrm>
          <a:prstGeom prst="rect">
            <a:avLst/>
          </a:prstGeom>
          <a:solidFill>
            <a:srgbClr val="E5E7EB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805" y="3286125"/>
            <a:ext cx="28120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3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938" dirty="0"/>
          </a:p>
        </p:txBody>
      </p:sp>
      <p:sp>
        <p:nvSpPr>
          <p:cNvPr id="24" name="Shape 22"/>
          <p:cNvSpPr/>
          <p:nvPr/>
        </p:nvSpPr>
        <p:spPr>
          <a:xfrm>
            <a:off x="786705" y="3543300"/>
            <a:ext cx="2632621" cy="24765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805" y="3571875"/>
            <a:ext cx="28120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938" dirty="0"/>
          </a:p>
        </p:txBody>
      </p:sp>
      <p:sp>
        <p:nvSpPr>
          <p:cNvPr id="26" name="Shape 24"/>
          <p:cNvSpPr/>
          <p:nvPr/>
        </p:nvSpPr>
        <p:spPr>
          <a:xfrm>
            <a:off x="786705" y="3829050"/>
            <a:ext cx="2632621" cy="24765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805" y="3857625"/>
            <a:ext cx="28120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endParaRPr lang="en-US" sz="938" dirty="0"/>
          </a:p>
        </p:txBody>
      </p:sp>
      <p:sp>
        <p:nvSpPr>
          <p:cNvPr id="28" name="Shape 26"/>
          <p:cNvSpPr/>
          <p:nvPr/>
        </p:nvSpPr>
        <p:spPr>
          <a:xfrm>
            <a:off x="786705" y="4114800"/>
            <a:ext cx="2632621" cy="24765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805" y="4143375"/>
            <a:ext cx="28120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라이프스타일</a:t>
            </a:r>
            <a:endParaRPr lang="en-US" sz="938" dirty="0"/>
          </a:p>
        </p:txBody>
      </p:sp>
      <p:sp>
        <p:nvSpPr>
          <p:cNvPr id="30" name="Shape 28"/>
          <p:cNvSpPr/>
          <p:nvPr/>
        </p:nvSpPr>
        <p:spPr>
          <a:xfrm>
            <a:off x="786705" y="4400550"/>
            <a:ext cx="2632621" cy="24765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805" y="4429125"/>
            <a:ext cx="28120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</a:t>
            </a:r>
            <a:endParaRPr lang="en-US" sz="938" dirty="0"/>
          </a:p>
        </p:txBody>
      </p:sp>
      <p:sp>
        <p:nvSpPr>
          <p:cNvPr id="32" name="Shape 30"/>
          <p:cNvSpPr/>
          <p:nvPr/>
        </p:nvSpPr>
        <p:spPr>
          <a:xfrm>
            <a:off x="786705" y="4686300"/>
            <a:ext cx="2632621" cy="24765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805" y="4714875"/>
            <a:ext cx="28120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</a:t>
            </a:r>
            <a:endParaRPr lang="en-US" sz="938" dirty="0"/>
          </a:p>
        </p:txBody>
      </p:sp>
      <p:sp>
        <p:nvSpPr>
          <p:cNvPr id="34" name="Shape 32"/>
          <p:cNvSpPr/>
          <p:nvPr/>
        </p:nvSpPr>
        <p:spPr>
          <a:xfrm>
            <a:off x="786705" y="4972050"/>
            <a:ext cx="2632621" cy="24765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4805" y="5000625"/>
            <a:ext cx="28120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</a:t>
            </a:r>
            <a:endParaRPr lang="en-US" sz="938" dirty="0"/>
          </a:p>
        </p:txBody>
      </p:sp>
      <p:sp>
        <p:nvSpPr>
          <p:cNvPr id="36" name="Shape 34"/>
          <p:cNvSpPr/>
          <p:nvPr/>
        </p:nvSpPr>
        <p:spPr>
          <a:xfrm>
            <a:off x="786705" y="5257800"/>
            <a:ext cx="2632621" cy="24765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4805" y="5286375"/>
            <a:ext cx="28120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</a:t>
            </a:r>
            <a:endParaRPr lang="en-US" sz="938" dirty="0"/>
          </a:p>
        </p:txBody>
      </p:sp>
      <p:sp>
        <p:nvSpPr>
          <p:cNvPr id="38" name="Shape 36"/>
          <p:cNvSpPr/>
          <p:nvPr/>
        </p:nvSpPr>
        <p:spPr>
          <a:xfrm>
            <a:off x="786705" y="5543550"/>
            <a:ext cx="2632621" cy="24765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4805" y="5572125"/>
            <a:ext cx="28120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938" dirty="0"/>
          </a:p>
        </p:txBody>
      </p:sp>
      <p:sp>
        <p:nvSpPr>
          <p:cNvPr id="40" name="Shape 38"/>
          <p:cNvSpPr/>
          <p:nvPr/>
        </p:nvSpPr>
        <p:spPr>
          <a:xfrm>
            <a:off x="786705" y="5829300"/>
            <a:ext cx="2632621" cy="24765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4805" y="5857875"/>
            <a:ext cx="28120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AI/ML</a:t>
            </a:r>
            <a:endParaRPr lang="en-US" sz="938" dirty="0"/>
          </a:p>
        </p:txBody>
      </p:sp>
      <p:sp>
        <p:nvSpPr>
          <p:cNvPr id="42" name="Shape 40"/>
          <p:cNvSpPr/>
          <p:nvPr/>
        </p:nvSpPr>
        <p:spPr>
          <a:xfrm>
            <a:off x="786705" y="6115050"/>
            <a:ext cx="2632621" cy="24765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4805" y="6143625"/>
            <a:ext cx="28120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미분류</a:t>
            </a:r>
            <a:endParaRPr lang="en-US" sz="938" dirty="0"/>
          </a:p>
        </p:txBody>
      </p:sp>
      <p:sp>
        <p:nvSpPr>
          <p:cNvPr id="44" name="Shape 42"/>
          <p:cNvSpPr/>
          <p:nvPr/>
        </p:nvSpPr>
        <p:spPr>
          <a:xfrm>
            <a:off x="786705" y="6496050"/>
            <a:ext cx="2632621" cy="93345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3748" y="660171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352425" y="667345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98" dirty="0"/>
          </a:p>
        </p:txBody>
      </p:sp>
      <p:sp>
        <p:nvSpPr>
          <p:cNvPr id="47" name="Text 45"/>
          <p:cNvSpPr/>
          <p:nvPr/>
        </p:nvSpPr>
        <p:spPr>
          <a:xfrm>
            <a:off x="862905" y="6572250"/>
            <a:ext cx="27282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프로필 정보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62905" y="6858000"/>
            <a:ext cx="27282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설정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62905" y="7143750"/>
            <a:ext cx="27282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로그아웃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86705" y="7524750"/>
            <a:ext cx="2632621" cy="43815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3855" y="7581900"/>
            <a:ext cx="323850" cy="323850"/>
          </a:xfrm>
          <a:prstGeom prst="ellipse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43905" y="7648575"/>
            <a:ext cx="19529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 아바타 + 메일</a:t>
            </a:r>
            <a:endParaRPr lang="en-US" sz="938" dirty="0"/>
          </a:p>
        </p:txBody>
      </p:sp>
      <p:sp>
        <p:nvSpPr>
          <p:cNvPr id="53" name="Shape 51"/>
          <p:cNvSpPr/>
          <p:nvPr/>
        </p:nvSpPr>
        <p:spPr>
          <a:xfrm>
            <a:off x="3057525" y="76200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9425" y="7648575"/>
            <a:ext cx="3238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463748" y="770661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6" name="Text 54"/>
          <p:cNvSpPr/>
          <p:nvPr/>
        </p:nvSpPr>
        <p:spPr>
          <a:xfrm>
            <a:off x="352425" y="777835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57" name="Text 55"/>
          <p:cNvSpPr/>
          <p:nvPr/>
        </p:nvSpPr>
        <p:spPr>
          <a:xfrm>
            <a:off x="3687961" y="4989909"/>
            <a:ext cx="624780" cy="48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279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798" dirty="0"/>
          </a:p>
        </p:txBody>
      </p:sp>
      <p:sp>
        <p:nvSpPr>
          <p:cNvPr id="58" name="Shape 56"/>
          <p:cNvSpPr/>
          <p:nvPr/>
        </p:nvSpPr>
        <p:spPr>
          <a:xfrm>
            <a:off x="42975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21511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60" name="Shape 58"/>
          <p:cNvSpPr/>
          <p:nvPr/>
        </p:nvSpPr>
        <p:spPr>
          <a:xfrm>
            <a:off x="5478661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61" name="Text 59"/>
          <p:cNvSpPr/>
          <p:nvPr/>
        </p:nvSpPr>
        <p:spPr>
          <a:xfrm>
            <a:off x="3880747" y="8508653"/>
            <a:ext cx="3767328" cy="321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702" dirty="0"/>
          </a:p>
        </p:txBody>
      </p:sp>
      <p:sp>
        <p:nvSpPr>
          <p:cNvPr id="62" name="Shape 60"/>
          <p:cNvSpPr/>
          <p:nvPr/>
        </p:nvSpPr>
        <p:spPr>
          <a:xfrm>
            <a:off x="4444305" y="2038350"/>
            <a:ext cx="2632621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01455" y="2095500"/>
            <a:ext cx="285750" cy="285750"/>
          </a:xfrm>
          <a:prstGeom prst="ellipse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73055" y="2139255"/>
            <a:ext cx="6477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82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6410325" y="2124075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15125" y="2124075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111827"/>
          </a:solidFill>
          <a:ln/>
        </p:spPr>
      </p:sp>
      <p:sp>
        <p:nvSpPr>
          <p:cNvPr id="67" name="Text 65"/>
          <p:cNvSpPr/>
          <p:nvPr/>
        </p:nvSpPr>
        <p:spPr>
          <a:xfrm>
            <a:off x="4444305" y="2615505"/>
            <a:ext cx="2711599" cy="293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4444305" y="3028950"/>
            <a:ext cx="2632621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39555" y="3082379"/>
            <a:ext cx="268633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4539555" y="3301454"/>
            <a:ext cx="268633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abcde@gmail.com</a:t>
            </a:r>
            <a:endParaRPr lang="en-US" sz="975" dirty="0"/>
          </a:p>
        </p:txBody>
      </p:sp>
      <p:sp>
        <p:nvSpPr>
          <p:cNvPr id="71" name="Shape 69"/>
          <p:cNvSpPr/>
          <p:nvPr/>
        </p:nvSpPr>
        <p:spPr>
          <a:xfrm>
            <a:off x="4444305" y="3771900"/>
            <a:ext cx="2632621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39555" y="3834854"/>
            <a:ext cx="268633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데이터</a:t>
            </a:r>
            <a:endParaRPr lang="en-US" sz="975" dirty="0"/>
          </a:p>
        </p:txBody>
      </p:sp>
      <p:sp>
        <p:nvSpPr>
          <p:cNvPr id="73" name="Shape 71"/>
          <p:cNvSpPr/>
          <p:nvPr/>
        </p:nvSpPr>
        <p:spPr>
          <a:xfrm>
            <a:off x="4539555" y="4057650"/>
            <a:ext cx="2442121" cy="66675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74" name="Shape 72"/>
          <p:cNvSpPr/>
          <p:nvPr/>
        </p:nvSpPr>
        <p:spPr>
          <a:xfrm>
            <a:off x="4539555" y="4162425"/>
            <a:ext cx="2251621" cy="66675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75" name="Shape 73"/>
          <p:cNvSpPr/>
          <p:nvPr/>
        </p:nvSpPr>
        <p:spPr>
          <a:xfrm>
            <a:off x="4539555" y="4324350"/>
            <a:ext cx="762893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01455" y="4326285"/>
            <a:ext cx="83909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JSON으로 내보내기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378648" y="4324350"/>
            <a:ext cx="762893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40548" y="4326285"/>
            <a:ext cx="83909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HTML로 내보내기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218783" y="4324350"/>
            <a:ext cx="762893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80683" y="4326285"/>
            <a:ext cx="83909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CSV로 내보내기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444305" y="5029200"/>
            <a:ext cx="2632621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39555" y="5092154"/>
            <a:ext cx="268633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구역</a:t>
            </a:r>
            <a:endParaRPr lang="en-US" sz="975" dirty="0"/>
          </a:p>
        </p:txBody>
      </p:sp>
      <p:sp>
        <p:nvSpPr>
          <p:cNvPr id="83" name="Shape 81"/>
          <p:cNvSpPr/>
          <p:nvPr/>
        </p:nvSpPr>
        <p:spPr>
          <a:xfrm>
            <a:off x="4539555" y="5314950"/>
            <a:ext cx="2442121" cy="66675"/>
          </a:xfrm>
          <a:prstGeom prst="roundRect">
            <a:avLst>
              <a:gd name="adj" fmla="val 50000"/>
            </a:avLst>
          </a:prstGeom>
          <a:solidFill>
            <a:srgbClr val="FCA5A5"/>
          </a:solidFill>
          <a:ln/>
        </p:spPr>
      </p:sp>
      <p:sp>
        <p:nvSpPr>
          <p:cNvPr id="84" name="Shape 82"/>
          <p:cNvSpPr/>
          <p:nvPr/>
        </p:nvSpPr>
        <p:spPr>
          <a:xfrm>
            <a:off x="4539555" y="5562600"/>
            <a:ext cx="857250" cy="304800"/>
          </a:xfrm>
          <a:prstGeom prst="roundRect">
            <a:avLst>
              <a:gd name="adj" fmla="val 15625"/>
            </a:avLst>
          </a:prstGeom>
          <a:solidFill>
            <a:srgbClr val="DC2626"/>
          </a:solidFill>
          <a:ln/>
        </p:spPr>
      </p:sp>
      <p:sp>
        <p:nvSpPr>
          <p:cNvPr id="85" name="Text 83"/>
          <p:cNvSpPr/>
          <p:nvPr/>
        </p:nvSpPr>
        <p:spPr>
          <a:xfrm>
            <a:off x="4501455" y="5615880"/>
            <a:ext cx="933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탈퇴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953000" y="257353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7" name="Text 85"/>
          <p:cNvSpPr/>
          <p:nvPr/>
        </p:nvSpPr>
        <p:spPr>
          <a:xfrm>
            <a:off x="4842421" y="2641699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98" dirty="0"/>
          </a:p>
        </p:txBody>
      </p:sp>
      <p:sp>
        <p:nvSpPr>
          <p:cNvPr id="88" name="Shape 86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9" name="Text 87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90" name="Shape 88"/>
          <p:cNvSpPr/>
          <p:nvPr/>
        </p:nvSpPr>
        <p:spPr>
          <a:xfrm>
            <a:off x="11100346" y="228778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1" name="Text 89"/>
          <p:cNvSpPr/>
          <p:nvPr/>
        </p:nvSpPr>
        <p:spPr>
          <a:xfrm>
            <a:off x="10989915" y="235862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92" name="Text 90"/>
          <p:cNvSpPr/>
          <p:nvPr/>
        </p:nvSpPr>
        <p:spPr>
          <a:xfrm>
            <a:off x="11686133" y="2282428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선택 네비게이션</a:t>
            </a:r>
            <a:endParaRPr lang="en-US" sz="1898" dirty="0"/>
          </a:p>
        </p:txBody>
      </p:sp>
      <p:sp>
        <p:nvSpPr>
          <p:cNvPr id="93" name="Text 91"/>
          <p:cNvSpPr/>
          <p:nvPr/>
        </p:nvSpPr>
        <p:spPr>
          <a:xfrm>
            <a:off x="11686133" y="279588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홈/즐겨찾기/내 폴더 순서 고정.</a:t>
            </a:r>
            <a:endParaRPr lang="en-US" sz="1598" dirty="0"/>
          </a:p>
        </p:txBody>
      </p:sp>
      <p:sp>
        <p:nvSpPr>
          <p:cNvPr id="94" name="Shape 92"/>
          <p:cNvSpPr/>
          <p:nvPr/>
        </p:nvSpPr>
        <p:spPr>
          <a:xfrm>
            <a:off x="11064180" y="3125986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5" name="Shape 93"/>
          <p:cNvSpPr/>
          <p:nvPr/>
        </p:nvSpPr>
        <p:spPr>
          <a:xfrm>
            <a:off x="11100346" y="323850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6" name="Text 94"/>
          <p:cNvSpPr/>
          <p:nvPr/>
        </p:nvSpPr>
        <p:spPr>
          <a:xfrm>
            <a:off x="10989915" y="33093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97" name="Text 95"/>
          <p:cNvSpPr/>
          <p:nvPr/>
        </p:nvSpPr>
        <p:spPr>
          <a:xfrm>
            <a:off x="11686133" y="32329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드롭다운</a:t>
            </a:r>
            <a:endParaRPr lang="en-US" sz="1898" dirty="0"/>
          </a:p>
        </p:txBody>
      </p:sp>
      <p:sp>
        <p:nvSpPr>
          <p:cNvPr id="98" name="Text 96"/>
          <p:cNvSpPr/>
          <p:nvPr/>
        </p:nvSpPr>
        <p:spPr>
          <a:xfrm>
            <a:off x="11686133" y="3617863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tags[0] 기준 자동 생성. 13종 대분류 밖이거나 tags=[] 시 미분류 처리.</a:t>
            </a:r>
            <a:endParaRPr lang="en-US" sz="1598" dirty="0"/>
          </a:p>
        </p:txBody>
      </p:sp>
      <p:sp>
        <p:nvSpPr>
          <p:cNvPr id="99" name="Shape 97"/>
          <p:cNvSpPr/>
          <p:nvPr/>
        </p:nvSpPr>
        <p:spPr>
          <a:xfrm>
            <a:off x="11064180" y="4076700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0" name="Shape 98"/>
          <p:cNvSpPr/>
          <p:nvPr/>
        </p:nvSpPr>
        <p:spPr>
          <a:xfrm>
            <a:off x="11100346" y="426243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1" name="Text 99"/>
          <p:cNvSpPr/>
          <p:nvPr/>
        </p:nvSpPr>
        <p:spPr>
          <a:xfrm>
            <a:off x="10989915" y="433328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102" name="Text 100"/>
          <p:cNvSpPr/>
          <p:nvPr/>
        </p:nvSpPr>
        <p:spPr>
          <a:xfrm>
            <a:off x="11686133" y="4256931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정보 버튼</a:t>
            </a:r>
            <a:endParaRPr lang="en-US" sz="1898" dirty="0"/>
          </a:p>
        </p:txBody>
      </p:sp>
      <p:sp>
        <p:nvSpPr>
          <p:cNvPr id="103" name="Text 101"/>
          <p:cNvSpPr/>
          <p:nvPr/>
        </p:nvSpPr>
        <p:spPr>
          <a:xfrm>
            <a:off x="11686133" y="4770388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드로어 최하단 고정. 아바타+이메일+설정 아이콘.</a:t>
            </a:r>
            <a:endParaRPr lang="en-US" sz="1598" dirty="0"/>
          </a:p>
        </p:txBody>
      </p:sp>
      <p:sp>
        <p:nvSpPr>
          <p:cNvPr id="104" name="Shape 102"/>
          <p:cNvSpPr/>
          <p:nvPr/>
        </p:nvSpPr>
        <p:spPr>
          <a:xfrm>
            <a:off x="11064180" y="5100638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1100346" y="521389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989915" y="528473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98" dirty="0"/>
          </a:p>
        </p:txBody>
      </p:sp>
      <p:sp>
        <p:nvSpPr>
          <p:cNvPr id="107" name="Text 105"/>
          <p:cNvSpPr/>
          <p:nvPr/>
        </p:nvSpPr>
        <p:spPr>
          <a:xfrm>
            <a:off x="11686133" y="5208538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팝업 항목</a:t>
            </a:r>
            <a:endParaRPr lang="en-US" sz="1898" dirty="0"/>
          </a:p>
        </p:txBody>
      </p:sp>
      <p:sp>
        <p:nvSpPr>
          <p:cNvPr id="108" name="Text 106"/>
          <p:cNvSpPr/>
          <p:nvPr/>
        </p:nvSpPr>
        <p:spPr>
          <a:xfrm>
            <a:off x="11686133" y="572199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시 오픈, 외부 클릭 시 닫힘. 정보/설정/로그아웃 포함.</a:t>
            </a:r>
            <a:endParaRPr lang="en-US" sz="1598" dirty="0"/>
          </a:p>
        </p:txBody>
      </p:sp>
      <p:sp>
        <p:nvSpPr>
          <p:cNvPr id="109" name="Shape 107"/>
          <p:cNvSpPr/>
          <p:nvPr/>
        </p:nvSpPr>
        <p:spPr>
          <a:xfrm>
            <a:off x="11064180" y="6052096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100346" y="623783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1" name="Text 109"/>
          <p:cNvSpPr/>
          <p:nvPr/>
        </p:nvSpPr>
        <p:spPr>
          <a:xfrm>
            <a:off x="10989915" y="630867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98" dirty="0"/>
          </a:p>
        </p:txBody>
      </p:sp>
      <p:sp>
        <p:nvSpPr>
          <p:cNvPr id="112" name="Text 110"/>
          <p:cNvSpPr/>
          <p:nvPr/>
        </p:nvSpPr>
        <p:spPr>
          <a:xfrm>
            <a:off x="11686133" y="6232475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898" dirty="0"/>
          </a:p>
        </p:txBody>
      </p:sp>
      <p:sp>
        <p:nvSpPr>
          <p:cNvPr id="113" name="Text 111"/>
          <p:cNvSpPr/>
          <p:nvPr/>
        </p:nvSpPr>
        <p:spPr>
          <a:xfrm>
            <a:off x="11686133" y="6617345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팝업 내 항목. 저장된 북마크 전체 내보내기(JSON, HTML, CSV). 회원탈퇴.</a:t>
            </a:r>
            <a:endParaRPr lang="en-US" sz="1598" dirty="0"/>
          </a:p>
        </p:txBody>
      </p:sp>
      <p:sp>
        <p:nvSpPr>
          <p:cNvPr id="114" name="Shape 112"/>
          <p:cNvSpPr/>
          <p:nvPr/>
        </p:nvSpPr>
        <p:spPr>
          <a:xfrm>
            <a:off x="11064180" y="707603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" name="Shape 9"/>
          <p:cNvSpPr/>
          <p:nvPr/>
        </p:nvSpPr>
        <p:spPr>
          <a:xfrm>
            <a:off x="482032" y="224968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71601" y="232246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20" name="Shape 18"/>
          <p:cNvSpPr/>
          <p:nvPr/>
        </p:nvSpPr>
        <p:spPr>
          <a:xfrm>
            <a:off x="451390" y="2821577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340067" y="289331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cxnSp>
        <p:nvCxnSpPr>
          <p:cNvPr id="116" name="직선 화살표 연결선 115"/>
          <p:cNvCxnSpPr/>
          <p:nvPr/>
        </p:nvCxnSpPr>
        <p:spPr>
          <a:xfrm flipV="1">
            <a:off x="1828800" y="7169795"/>
            <a:ext cx="0" cy="4502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 · 공통 콘텐츠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전체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· 정렬 · 뷰 선택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3657600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105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5166271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3227317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포커스 상태</a:t>
            </a:r>
            <a:endParaRPr lang="en-US" sz="1702" dirty="0"/>
          </a:p>
        </p:txBody>
      </p:sp>
      <p:sp>
        <p:nvSpPr>
          <p:cNvPr id="9" name="Shape 7"/>
          <p:cNvSpPr/>
          <p:nvPr/>
        </p:nvSpPr>
        <p:spPr>
          <a:xfrm>
            <a:off x="3804196" y="2121098"/>
            <a:ext cx="3273623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0396" y="2187773"/>
            <a:ext cx="342900" cy="342900"/>
          </a:xfrm>
          <a:prstGeom prst="ellipse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9496" y="2255341"/>
            <a:ext cx="933450" cy="245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Mowaba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44468" y="2260104"/>
            <a:ext cx="552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38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938" dirty="0"/>
          </a:p>
        </p:txBody>
      </p:sp>
      <p:sp>
        <p:nvSpPr>
          <p:cNvPr id="13" name="Shape 11"/>
          <p:cNvSpPr/>
          <p:nvPr/>
        </p:nvSpPr>
        <p:spPr>
          <a:xfrm>
            <a:off x="6239768" y="2235398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25518" y="2235398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111827"/>
          </a:solidFill>
          <a:ln/>
        </p:spPr>
      </p:sp>
      <p:sp>
        <p:nvSpPr>
          <p:cNvPr id="15" name="Shape 13"/>
          <p:cNvSpPr/>
          <p:nvPr/>
        </p:nvSpPr>
        <p:spPr>
          <a:xfrm>
            <a:off x="3804196" y="2692598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0396" y="2726829"/>
            <a:ext cx="6858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82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 필터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3804196" y="3054548"/>
            <a:ext cx="3273623" cy="419100"/>
          </a:xfrm>
          <a:prstGeom prst="rect">
            <a:avLst/>
          </a:prstGeom>
          <a:solidFill>
            <a:srgbClr val="F3F4F6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0396" y="3164979"/>
            <a:ext cx="343334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북마크 검색_ (예: 리액트 훅 정리한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3458834" y="3032424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3347511" y="3100439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21" name="Text 19"/>
          <p:cNvSpPr/>
          <p:nvPr/>
        </p:nvSpPr>
        <p:spPr>
          <a:xfrm>
            <a:off x="3804196" y="3612654"/>
            <a:ext cx="8382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65개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632996" y="3612654"/>
            <a:ext cx="933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5556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최신순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39818" y="3606998"/>
            <a:ext cx="190500" cy="19050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68418" y="3606998"/>
            <a:ext cx="190500" cy="19050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1477" y="3487034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980005" y="3555198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27" name="Shape 25"/>
          <p:cNvSpPr/>
          <p:nvPr/>
        </p:nvSpPr>
        <p:spPr>
          <a:xfrm>
            <a:off x="5754508" y="3499391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5643035" y="3567555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29" name="Shape 27"/>
          <p:cNvSpPr/>
          <p:nvPr/>
        </p:nvSpPr>
        <p:spPr>
          <a:xfrm>
            <a:off x="3804196" y="3949898"/>
            <a:ext cx="1598265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80396" y="4026098"/>
            <a:ext cx="476250" cy="1905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</p:sp>
      <p:sp>
        <p:nvSpPr>
          <p:cNvPr id="31" name="Text 29"/>
          <p:cNvSpPr/>
          <p:nvPr/>
        </p:nvSpPr>
        <p:spPr>
          <a:xfrm>
            <a:off x="3842296" y="4022378"/>
            <a:ext cx="552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60528" y="4273748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9446" y="4692848"/>
            <a:ext cx="1407765" cy="7620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34" name="Shape 32"/>
          <p:cNvSpPr/>
          <p:nvPr/>
        </p:nvSpPr>
        <p:spPr>
          <a:xfrm>
            <a:off x="3899446" y="4826198"/>
            <a:ext cx="1217265" cy="7620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35" name="Shape 33"/>
          <p:cNvSpPr/>
          <p:nvPr/>
        </p:nvSpPr>
        <p:spPr>
          <a:xfrm>
            <a:off x="3880396" y="5130998"/>
            <a:ext cx="95250" cy="9525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36" name="Shape 34"/>
          <p:cNvSpPr/>
          <p:nvPr/>
        </p:nvSpPr>
        <p:spPr>
          <a:xfrm>
            <a:off x="5479703" y="3949898"/>
            <a:ext cx="1598265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35886" y="4273748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4953" y="4692848"/>
            <a:ext cx="1407765" cy="7620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39" name="Shape 37"/>
          <p:cNvSpPr/>
          <p:nvPr/>
        </p:nvSpPr>
        <p:spPr>
          <a:xfrm>
            <a:off x="5574953" y="4826198"/>
            <a:ext cx="1217265" cy="7620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40" name="Shape 38"/>
          <p:cNvSpPr/>
          <p:nvPr/>
        </p:nvSpPr>
        <p:spPr>
          <a:xfrm>
            <a:off x="5555903" y="5130998"/>
            <a:ext cx="95250" cy="9525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41" name="Shape 39"/>
          <p:cNvSpPr/>
          <p:nvPr/>
        </p:nvSpPr>
        <p:spPr>
          <a:xfrm>
            <a:off x="3804196" y="5359598"/>
            <a:ext cx="1598265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80396" y="5435798"/>
            <a:ext cx="476250" cy="1905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</p:sp>
      <p:sp>
        <p:nvSpPr>
          <p:cNvPr id="43" name="Text 41"/>
          <p:cNvSpPr/>
          <p:nvPr/>
        </p:nvSpPr>
        <p:spPr>
          <a:xfrm>
            <a:off x="3842296" y="5432078"/>
            <a:ext cx="552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60528" y="5683448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99446" y="6102548"/>
            <a:ext cx="1407765" cy="7620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46" name="Shape 44"/>
          <p:cNvSpPr/>
          <p:nvPr/>
        </p:nvSpPr>
        <p:spPr>
          <a:xfrm>
            <a:off x="3899446" y="6235898"/>
            <a:ext cx="1217265" cy="7620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47" name="Shape 45"/>
          <p:cNvSpPr/>
          <p:nvPr/>
        </p:nvSpPr>
        <p:spPr>
          <a:xfrm>
            <a:off x="3880396" y="6540698"/>
            <a:ext cx="95250" cy="9525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48" name="Shape 46"/>
          <p:cNvSpPr/>
          <p:nvPr/>
        </p:nvSpPr>
        <p:spPr>
          <a:xfrm>
            <a:off x="5479703" y="5359598"/>
            <a:ext cx="1598265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35886" y="5683448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74953" y="6102548"/>
            <a:ext cx="1407765" cy="7620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51" name="Shape 49"/>
          <p:cNvSpPr/>
          <p:nvPr/>
        </p:nvSpPr>
        <p:spPr>
          <a:xfrm>
            <a:off x="5574953" y="6235898"/>
            <a:ext cx="1217265" cy="7620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52" name="Shape 50"/>
          <p:cNvSpPr/>
          <p:nvPr/>
        </p:nvSpPr>
        <p:spPr>
          <a:xfrm>
            <a:off x="5555903" y="6540698"/>
            <a:ext cx="95250" cy="9525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53" name="Shape 51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4" name="Text 52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55" name="Shape 53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6" name="Text 54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57" name="Text 55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입력</a:t>
            </a:r>
            <a:endParaRPr lang="en-US" sz="1898" dirty="0"/>
          </a:p>
        </p:txBody>
      </p:sp>
      <p:sp>
        <p:nvSpPr>
          <p:cNvPr id="58" name="Text 56"/>
          <p:cNvSpPr/>
          <p:nvPr/>
        </p:nvSpPr>
        <p:spPr>
          <a:xfrm>
            <a:off x="11686133" y="2651671"/>
            <a:ext cx="62347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50자 · POST /api/search · text-embedding-3-small 임베딩 → pgvector cosine 유사도 상위 20개 · HNSW 인덱스 · 임계값 0.5 이상 표시.</a:t>
            </a:r>
            <a:endParaRPr lang="en-US" sz="1598" dirty="0"/>
          </a:p>
        </p:txBody>
      </p:sp>
      <p:sp>
        <p:nvSpPr>
          <p:cNvPr id="59" name="Shape 57"/>
          <p:cNvSpPr/>
          <p:nvPr/>
        </p:nvSpPr>
        <p:spPr>
          <a:xfrm>
            <a:off x="11064180" y="418802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0" name="Shape 58"/>
          <p:cNvSpPr/>
          <p:nvPr/>
        </p:nvSpPr>
        <p:spPr>
          <a:xfrm>
            <a:off x="11064180" y="418802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1" name="Shape 59"/>
          <p:cNvSpPr/>
          <p:nvPr/>
        </p:nvSpPr>
        <p:spPr>
          <a:xfrm>
            <a:off x="11064180" y="510242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2" name="Shape 60"/>
          <p:cNvSpPr/>
          <p:nvPr/>
        </p:nvSpPr>
        <p:spPr>
          <a:xfrm>
            <a:off x="11100346" y="524827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3" name="Text 61"/>
          <p:cNvSpPr/>
          <p:nvPr/>
        </p:nvSpPr>
        <p:spPr>
          <a:xfrm>
            <a:off x="10989915" y="532090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64" name="Text 62"/>
          <p:cNvSpPr/>
          <p:nvPr/>
        </p:nvSpPr>
        <p:spPr>
          <a:xfrm>
            <a:off x="11686133" y="524470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최신순</a:t>
            </a:r>
            <a:endParaRPr lang="en-US" sz="1898" dirty="0"/>
          </a:p>
        </p:txBody>
      </p:sp>
      <p:sp>
        <p:nvSpPr>
          <p:cNvPr id="65" name="Text 63"/>
          <p:cNvSpPr/>
          <p:nvPr/>
        </p:nvSpPr>
        <p:spPr>
          <a:xfrm>
            <a:off x="11686133" y="5577780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정렬(default).</a:t>
            </a:r>
            <a:endParaRPr lang="en-US" sz="1598" dirty="0"/>
          </a:p>
        </p:txBody>
      </p:sp>
      <p:sp>
        <p:nvSpPr>
          <p:cNvPr id="66" name="Shape 64"/>
          <p:cNvSpPr/>
          <p:nvPr/>
        </p:nvSpPr>
        <p:spPr>
          <a:xfrm>
            <a:off x="11064180" y="5983486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7" name="Shape 65"/>
          <p:cNvSpPr/>
          <p:nvPr/>
        </p:nvSpPr>
        <p:spPr>
          <a:xfrm>
            <a:off x="11100346" y="613023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8" name="Text 66"/>
          <p:cNvSpPr/>
          <p:nvPr/>
        </p:nvSpPr>
        <p:spPr>
          <a:xfrm>
            <a:off x="10989915" y="6201966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</a:t>
            </a:r>
            <a:endParaRPr lang="en-US" sz="1598" dirty="0"/>
          </a:p>
        </p:txBody>
      </p:sp>
      <p:sp>
        <p:nvSpPr>
          <p:cNvPr id="69" name="Text 67"/>
          <p:cNvSpPr/>
          <p:nvPr/>
        </p:nvSpPr>
        <p:spPr>
          <a:xfrm>
            <a:off x="11686133" y="6125766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오래된순</a:t>
            </a:r>
            <a:endParaRPr lang="en-US" sz="1898" dirty="0"/>
          </a:p>
        </p:txBody>
      </p:sp>
      <p:sp>
        <p:nvSpPr>
          <p:cNvPr id="70" name="Text 68"/>
          <p:cNvSpPr/>
          <p:nvPr/>
        </p:nvSpPr>
        <p:spPr>
          <a:xfrm>
            <a:off x="11686133" y="6458843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등록일 기준 오래된 순으로 정렬.</a:t>
            </a:r>
            <a:endParaRPr lang="en-US" sz="1598" dirty="0"/>
          </a:p>
        </p:txBody>
      </p:sp>
      <p:sp>
        <p:nvSpPr>
          <p:cNvPr id="71" name="Shape 69"/>
          <p:cNvSpPr/>
          <p:nvPr/>
        </p:nvSpPr>
        <p:spPr>
          <a:xfrm>
            <a:off x="11064180" y="5870228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2" name="Shape 70"/>
          <p:cNvSpPr/>
          <p:nvPr/>
        </p:nvSpPr>
        <p:spPr>
          <a:xfrm>
            <a:off x="11100346" y="601682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3" name="Text 71"/>
          <p:cNvSpPr/>
          <p:nvPr/>
        </p:nvSpPr>
        <p:spPr>
          <a:xfrm>
            <a:off x="10989915" y="6088707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</a:t>
            </a:r>
            <a:endParaRPr lang="en-US" sz="1598" dirty="0"/>
          </a:p>
        </p:txBody>
      </p:sp>
      <p:sp>
        <p:nvSpPr>
          <p:cNvPr id="74" name="Shape 72"/>
          <p:cNvSpPr/>
          <p:nvPr/>
        </p:nvSpPr>
        <p:spPr>
          <a:xfrm>
            <a:off x="11100346" y="685800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5" name="Text 73"/>
          <p:cNvSpPr/>
          <p:nvPr/>
        </p:nvSpPr>
        <p:spPr>
          <a:xfrm>
            <a:off x="10989915" y="693062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76" name="Text 74"/>
          <p:cNvSpPr/>
          <p:nvPr/>
        </p:nvSpPr>
        <p:spPr>
          <a:xfrm>
            <a:off x="11686133" y="6853535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 선택</a:t>
            </a:r>
            <a:endParaRPr lang="en-US" sz="1898" dirty="0"/>
          </a:p>
        </p:txBody>
      </p:sp>
      <p:sp>
        <p:nvSpPr>
          <p:cNvPr id="77" name="Text 75"/>
          <p:cNvSpPr/>
          <p:nvPr/>
        </p:nvSpPr>
        <p:spPr>
          <a:xfrm>
            <a:off x="11686133" y="718750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그리드(default) / 리스트 / 컴팩트(A50 기준 MVP 포함).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3.0~5.0 · 공통 콘텐츠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전체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컴포넌트 상세 + 수정 (풀스크린 시트)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1554361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0796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3063180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1124227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확대</a:t>
            </a:r>
            <a:endParaRPr lang="en-US" sz="1702" dirty="0"/>
          </a:p>
        </p:txBody>
      </p:sp>
      <p:sp>
        <p:nvSpPr>
          <p:cNvPr id="9" name="Shape 7"/>
          <p:cNvSpPr/>
          <p:nvPr/>
        </p:nvSpPr>
        <p:spPr>
          <a:xfrm>
            <a:off x="1701105" y="2578298"/>
            <a:ext cx="3273623" cy="3657600"/>
          </a:xfrm>
          <a:prstGeom prst="roundRect">
            <a:avLst>
              <a:gd name="adj" fmla="val 2240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0643" y="2725043"/>
            <a:ext cx="914400" cy="329505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08708" y="2789783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07765" y="272504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7186" y="279677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14" name="Text 12"/>
          <p:cNvSpPr/>
          <p:nvPr/>
        </p:nvSpPr>
        <p:spPr>
          <a:xfrm>
            <a:off x="3690938" y="2756297"/>
            <a:ext cx="11733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4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402" dirty="0"/>
          </a:p>
        </p:txBody>
      </p:sp>
      <p:sp>
        <p:nvSpPr>
          <p:cNvPr id="15" name="Shape 13"/>
          <p:cNvSpPr/>
          <p:nvPr/>
        </p:nvSpPr>
        <p:spPr>
          <a:xfrm>
            <a:off x="3960713" y="245305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3849241" y="252583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17" name="Shape 15"/>
          <p:cNvSpPr/>
          <p:nvPr/>
        </p:nvSpPr>
        <p:spPr>
          <a:xfrm>
            <a:off x="1810643" y="3164086"/>
            <a:ext cx="1280071" cy="329505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6473" y="3233589"/>
            <a:ext cx="13273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링크 끊김</a:t>
            </a:r>
            <a:endParaRPr lang="en-US" sz="1102" dirty="0"/>
          </a:p>
        </p:txBody>
      </p:sp>
      <p:sp>
        <p:nvSpPr>
          <p:cNvPr id="19" name="Shape 17"/>
          <p:cNvSpPr/>
          <p:nvPr/>
        </p:nvSpPr>
        <p:spPr>
          <a:xfrm>
            <a:off x="1407765" y="3164086"/>
            <a:ext cx="401836" cy="4018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297186" y="323597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21" name="Shape 19"/>
          <p:cNvSpPr/>
          <p:nvPr/>
        </p:nvSpPr>
        <p:spPr>
          <a:xfrm>
            <a:off x="1810643" y="3602236"/>
            <a:ext cx="3053655" cy="73149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46808" y="3767882"/>
            <a:ext cx="32794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46808" y="3967907"/>
            <a:ext cx="32794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말줄임 처리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407765" y="363944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1297186" y="371117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98" dirty="0"/>
          </a:p>
        </p:txBody>
      </p:sp>
      <p:sp>
        <p:nvSpPr>
          <p:cNvPr id="26" name="Shape 24"/>
          <p:cNvSpPr/>
          <p:nvPr/>
        </p:nvSpPr>
        <p:spPr>
          <a:xfrm>
            <a:off x="1810643" y="4480471"/>
            <a:ext cx="1005780" cy="329505"/>
          </a:xfrm>
          <a:prstGeom prst="roundRect">
            <a:avLst>
              <a:gd name="adj" fmla="val 22258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08708" y="4549973"/>
            <a:ext cx="10086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예능</a:t>
            </a:r>
            <a:endParaRPr lang="en-US" sz="1102" dirty="0"/>
          </a:p>
        </p:txBody>
      </p:sp>
      <p:sp>
        <p:nvSpPr>
          <p:cNvPr id="28" name="Shape 26"/>
          <p:cNvSpPr/>
          <p:nvPr/>
        </p:nvSpPr>
        <p:spPr>
          <a:xfrm>
            <a:off x="2907953" y="4480471"/>
            <a:ext cx="1280071" cy="329505"/>
          </a:xfrm>
          <a:prstGeom prst="roundRect">
            <a:avLst>
              <a:gd name="adj" fmla="val 22258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3783" y="4549973"/>
            <a:ext cx="13273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</a:t>
            </a:r>
            <a:endParaRPr lang="en-US" sz="1102" dirty="0"/>
          </a:p>
        </p:txBody>
      </p:sp>
      <p:sp>
        <p:nvSpPr>
          <p:cNvPr id="30" name="Shape 28"/>
          <p:cNvSpPr/>
          <p:nvPr/>
        </p:nvSpPr>
        <p:spPr>
          <a:xfrm>
            <a:off x="1407765" y="4480471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1297186" y="455324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98" dirty="0"/>
          </a:p>
        </p:txBody>
      </p:sp>
      <p:sp>
        <p:nvSpPr>
          <p:cNvPr id="32" name="Shape 30"/>
          <p:cNvSpPr/>
          <p:nvPr/>
        </p:nvSpPr>
        <p:spPr>
          <a:xfrm>
            <a:off x="1810643" y="4955828"/>
            <a:ext cx="3053655" cy="365671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97742" y="5043339"/>
            <a:ext cx="32794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⋮ 메뉴: ✎ 수정 / 🗑 삭제</a:t>
            </a:r>
            <a:endParaRPr lang="en-US" sz="1102" dirty="0"/>
          </a:p>
        </p:txBody>
      </p:sp>
      <p:sp>
        <p:nvSpPr>
          <p:cNvPr id="34" name="Text 32"/>
          <p:cNvSpPr/>
          <p:nvPr/>
        </p:nvSpPr>
        <p:spPr>
          <a:xfrm>
            <a:off x="5265390" y="5172819"/>
            <a:ext cx="624780" cy="48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279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798" dirty="0"/>
          </a:p>
        </p:txBody>
      </p:sp>
      <p:sp>
        <p:nvSpPr>
          <p:cNvPr id="35" name="Shape 33"/>
          <p:cNvSpPr/>
          <p:nvPr/>
        </p:nvSpPr>
        <p:spPr>
          <a:xfrm>
            <a:off x="6034980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88436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37" name="Shape 35"/>
          <p:cNvSpPr/>
          <p:nvPr/>
        </p:nvSpPr>
        <p:spPr>
          <a:xfrm>
            <a:off x="7543800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38" name="Text 36"/>
          <p:cNvSpPr/>
          <p:nvPr/>
        </p:nvSpPr>
        <p:spPr>
          <a:xfrm>
            <a:off x="5604698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— 풀스크린 시트</a:t>
            </a:r>
            <a:endParaRPr lang="en-US" sz="1702" dirty="0"/>
          </a:p>
        </p:txBody>
      </p:sp>
      <p:sp>
        <p:nvSpPr>
          <p:cNvPr id="39" name="Text 37"/>
          <p:cNvSpPr/>
          <p:nvPr/>
        </p:nvSpPr>
        <p:spPr>
          <a:xfrm>
            <a:off x="6181725" y="2125861"/>
            <a:ext cx="33718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 수정 ✕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81725" y="2542133"/>
            <a:ext cx="3273623" cy="43904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890" y="2661642"/>
            <a:ext cx="35204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81725" y="3090863"/>
            <a:ext cx="3273623" cy="658118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890" y="3229421"/>
            <a:ext cx="3520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태그: 웹앱 ✕ 스트림릿 ✕</a:t>
            </a:r>
            <a:endParaRPr lang="en-US" sz="1102" dirty="0"/>
          </a:p>
        </p:txBody>
      </p:sp>
      <p:sp>
        <p:nvSpPr>
          <p:cNvPr id="44" name="Text 42"/>
          <p:cNvSpPr/>
          <p:nvPr/>
        </p:nvSpPr>
        <p:spPr>
          <a:xfrm>
            <a:off x="6217890" y="3419921"/>
            <a:ext cx="3520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 입력 후 Enter [추가]</a:t>
            </a:r>
            <a:endParaRPr lang="en-US" sz="1102" dirty="0"/>
          </a:p>
        </p:txBody>
      </p:sp>
      <p:sp>
        <p:nvSpPr>
          <p:cNvPr id="45" name="Shape 43"/>
          <p:cNvSpPr/>
          <p:nvPr/>
        </p:nvSpPr>
        <p:spPr>
          <a:xfrm>
            <a:off x="6181725" y="3858518"/>
            <a:ext cx="3273623" cy="43904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890" y="3978027"/>
            <a:ext cx="35204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카테고리: 개발 ▾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81725" y="4407098"/>
            <a:ext cx="3273623" cy="1097161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57870" y="4765179"/>
            <a:ext cx="3520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— 이 북마크에 대한</a:t>
            </a:r>
            <a:endParaRPr lang="en-US" sz="1102" dirty="0"/>
          </a:p>
        </p:txBody>
      </p:sp>
      <p:sp>
        <p:nvSpPr>
          <p:cNvPr id="49" name="Text 47"/>
          <p:cNvSpPr/>
          <p:nvPr/>
        </p:nvSpPr>
        <p:spPr>
          <a:xfrm>
            <a:off x="6057870" y="4955679"/>
            <a:ext cx="3520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메모를 남겨보세요.</a:t>
            </a:r>
            <a:endParaRPr lang="en-US" sz="1102" dirty="0"/>
          </a:p>
        </p:txBody>
      </p:sp>
      <p:sp>
        <p:nvSpPr>
          <p:cNvPr id="50" name="Shape 48"/>
          <p:cNvSpPr/>
          <p:nvPr/>
        </p:nvSpPr>
        <p:spPr>
          <a:xfrm>
            <a:off x="6181725" y="5613946"/>
            <a:ext cx="3273623" cy="365671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890" y="5701457"/>
            <a:ext cx="3520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2026년 7월 7일</a:t>
            </a:r>
            <a:endParaRPr lang="en-US" sz="1102" dirty="0"/>
          </a:p>
        </p:txBody>
      </p:sp>
      <p:sp>
        <p:nvSpPr>
          <p:cNvPr id="52" name="Shape 50"/>
          <p:cNvSpPr/>
          <p:nvPr/>
        </p:nvSpPr>
        <p:spPr>
          <a:xfrm>
            <a:off x="6181725" y="7333208"/>
            <a:ext cx="1582043" cy="548580"/>
          </a:xfrm>
          <a:prstGeom prst="roundRect">
            <a:avLst>
              <a:gd name="adj" fmla="val 13370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42457" y="7497961"/>
            <a:ext cx="165953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1298" dirty="0"/>
          </a:p>
        </p:txBody>
      </p:sp>
      <p:sp>
        <p:nvSpPr>
          <p:cNvPr id="54" name="Shape 52"/>
          <p:cNvSpPr/>
          <p:nvPr/>
        </p:nvSpPr>
        <p:spPr>
          <a:xfrm>
            <a:off x="7873305" y="7333208"/>
            <a:ext cx="1582043" cy="548580"/>
          </a:xfrm>
          <a:prstGeom prst="roundRect">
            <a:avLst>
              <a:gd name="adj" fmla="val 13370"/>
            </a:avLst>
          </a:prstGeom>
          <a:solidFill>
            <a:srgbClr val="1F2937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34037" y="7497961"/>
            <a:ext cx="165953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298" dirty="0"/>
          </a:p>
        </p:txBody>
      </p:sp>
      <p:sp>
        <p:nvSpPr>
          <p:cNvPr id="56" name="Shape 54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7" name="Text 55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58" name="Shape 56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9" name="Text 57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60" name="Text 58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태그(대)</a:t>
            </a:r>
            <a:endParaRPr lang="en-US" sz="1898" dirty="0"/>
          </a:p>
        </p:txBody>
      </p:sp>
      <p:sp>
        <p:nvSpPr>
          <p:cNvPr id="61" name="Text 59"/>
          <p:cNvSpPr/>
          <p:nvPr/>
        </p:nvSpPr>
        <p:spPr>
          <a:xfrm>
            <a:off x="11686133" y="26516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대분류 배지 1개, 카드 좌상단 고정.</a:t>
            </a:r>
            <a:endParaRPr lang="en-US" sz="1598" dirty="0"/>
          </a:p>
        </p:txBody>
      </p:sp>
      <p:sp>
        <p:nvSpPr>
          <p:cNvPr id="62" name="Shape 60"/>
          <p:cNvSpPr/>
          <p:nvPr/>
        </p:nvSpPr>
        <p:spPr>
          <a:xfrm>
            <a:off x="11064180" y="305365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00346" y="320040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4" name="Text 62"/>
          <p:cNvSpPr/>
          <p:nvPr/>
        </p:nvSpPr>
        <p:spPr>
          <a:xfrm>
            <a:off x="10989915" y="327302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65" name="Text 63"/>
          <p:cNvSpPr/>
          <p:nvPr/>
        </p:nvSpPr>
        <p:spPr>
          <a:xfrm>
            <a:off x="11686133" y="3195935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즐겨찾기·바로가기·메뉴</a:t>
            </a:r>
            <a:endParaRPr lang="en-US" sz="1898" dirty="0"/>
          </a:p>
        </p:txBody>
      </p:sp>
      <p:sp>
        <p:nvSpPr>
          <p:cNvPr id="66" name="Text 64"/>
          <p:cNvSpPr/>
          <p:nvPr/>
        </p:nvSpPr>
        <p:spPr>
          <a:xfrm>
            <a:off x="11686133" y="352990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토글(즐겨찾기 탭 필터) · ↗ 원본 새 탭 · ⋮ 수정/삭제 모달.</a:t>
            </a:r>
            <a:endParaRPr lang="en-US" sz="1598" dirty="0"/>
          </a:p>
        </p:txBody>
      </p:sp>
      <p:sp>
        <p:nvSpPr>
          <p:cNvPr id="67" name="Shape 65"/>
          <p:cNvSpPr/>
          <p:nvPr/>
        </p:nvSpPr>
        <p:spPr>
          <a:xfrm>
            <a:off x="11064180" y="415096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8" name="Shape 66"/>
          <p:cNvSpPr/>
          <p:nvPr/>
        </p:nvSpPr>
        <p:spPr>
          <a:xfrm>
            <a:off x="11100346" y="4297561"/>
            <a:ext cx="401836" cy="4018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9" name="Text 67"/>
          <p:cNvSpPr/>
          <p:nvPr/>
        </p:nvSpPr>
        <p:spPr>
          <a:xfrm>
            <a:off x="10989915" y="437033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70" name="Text 68"/>
          <p:cNvSpPr/>
          <p:nvPr/>
        </p:nvSpPr>
        <p:spPr>
          <a:xfrm>
            <a:off x="11686133" y="4293245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끊김 뱃지</a:t>
            </a:r>
            <a:endParaRPr lang="en-US" sz="1898" dirty="0"/>
          </a:p>
        </p:txBody>
      </p:sp>
      <p:sp>
        <p:nvSpPr>
          <p:cNvPr id="71" name="Text 69"/>
          <p:cNvSpPr/>
          <p:nvPr/>
        </p:nvSpPr>
        <p:spPr>
          <a:xfrm>
            <a:off x="11686133" y="462721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is_dead=true일 때만 앰버톤 표시. 시각 표시만 제공.</a:t>
            </a:r>
            <a:endParaRPr lang="en-US" sz="1598" dirty="0"/>
          </a:p>
        </p:txBody>
      </p:sp>
      <p:sp>
        <p:nvSpPr>
          <p:cNvPr id="72" name="Shape 70"/>
          <p:cNvSpPr/>
          <p:nvPr/>
        </p:nvSpPr>
        <p:spPr>
          <a:xfrm>
            <a:off x="11064180" y="5138738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3" name="Shape 71"/>
          <p:cNvSpPr/>
          <p:nvPr/>
        </p:nvSpPr>
        <p:spPr>
          <a:xfrm>
            <a:off x="11100346" y="528533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4" name="Text 72"/>
          <p:cNvSpPr/>
          <p:nvPr/>
        </p:nvSpPr>
        <p:spPr>
          <a:xfrm>
            <a:off x="10989915" y="5357217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98" dirty="0"/>
          </a:p>
        </p:txBody>
      </p:sp>
      <p:sp>
        <p:nvSpPr>
          <p:cNvPr id="75" name="Text 73"/>
          <p:cNvSpPr/>
          <p:nvPr/>
        </p:nvSpPr>
        <p:spPr>
          <a:xfrm>
            <a:off x="11686133" y="5280868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</a:t>
            </a:r>
            <a:endParaRPr lang="en-US" sz="1898" dirty="0"/>
          </a:p>
        </p:txBody>
      </p:sp>
      <p:sp>
        <p:nvSpPr>
          <p:cNvPr id="76" name="Text 74"/>
          <p:cNvSpPr/>
          <p:nvPr/>
        </p:nvSpPr>
        <p:spPr>
          <a:xfrm>
            <a:off x="11686133" y="5613946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2줄, 이후 말줄임.</a:t>
            </a:r>
            <a:endParaRPr lang="en-US" sz="1598" dirty="0"/>
          </a:p>
        </p:txBody>
      </p:sp>
      <p:sp>
        <p:nvSpPr>
          <p:cNvPr id="77" name="Shape 75"/>
          <p:cNvSpPr/>
          <p:nvPr/>
        </p:nvSpPr>
        <p:spPr>
          <a:xfrm>
            <a:off x="11064180" y="5943600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8" name="Shape 76"/>
          <p:cNvSpPr/>
          <p:nvPr/>
        </p:nvSpPr>
        <p:spPr>
          <a:xfrm>
            <a:off x="11100346" y="609019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9" name="Text 77"/>
          <p:cNvSpPr/>
          <p:nvPr/>
        </p:nvSpPr>
        <p:spPr>
          <a:xfrm>
            <a:off x="10989915" y="616208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98" dirty="0"/>
          </a:p>
        </p:txBody>
      </p:sp>
      <p:sp>
        <p:nvSpPr>
          <p:cNvPr id="80" name="Text 78"/>
          <p:cNvSpPr/>
          <p:nvPr/>
        </p:nvSpPr>
        <p:spPr>
          <a:xfrm>
            <a:off x="11686133" y="6085731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 칩 (중·소)</a:t>
            </a:r>
            <a:endParaRPr lang="en-US" sz="1898" dirty="0"/>
          </a:p>
        </p:txBody>
      </p:sp>
      <p:sp>
        <p:nvSpPr>
          <p:cNvPr id="81" name="Text 79"/>
          <p:cNvSpPr/>
          <p:nvPr/>
        </p:nvSpPr>
        <p:spPr>
          <a:xfrm>
            <a:off x="11686133" y="6418808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3개, confidence 0.6 미만 제외. 골든셋 n=115 F1 0.82, 실측 macro-F1 0.85, 대분류 정확도 0.93.</a:t>
            </a:r>
            <a:endParaRPr lang="en-US" sz="1598" dirty="0"/>
          </a:p>
        </p:txBody>
      </p:sp>
      <p:sp>
        <p:nvSpPr>
          <p:cNvPr id="82" name="Shape 80"/>
          <p:cNvSpPr/>
          <p:nvPr/>
        </p:nvSpPr>
        <p:spPr>
          <a:xfrm>
            <a:off x="11064180" y="737041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3" name="Text 81"/>
          <p:cNvSpPr/>
          <p:nvPr/>
        </p:nvSpPr>
        <p:spPr>
          <a:xfrm>
            <a:off x="11686133" y="751165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변환</a:t>
            </a:r>
            <a:endParaRPr lang="en-US" sz="1898" dirty="0"/>
          </a:p>
        </p:txBody>
      </p:sp>
      <p:sp>
        <p:nvSpPr>
          <p:cNvPr id="84" name="Text 82"/>
          <p:cNvSpPr/>
          <p:nvPr/>
        </p:nvSpPr>
        <p:spPr>
          <a:xfrm>
            <a:off x="11686133" y="7845623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모달 → 센터 모달.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 · Mobile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로그인 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임포트 (WEB-14) — ① 소스 선택 · 초기 업로드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3657600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105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5166271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3227317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임포트 ① 소스 선택</a:t>
            </a:r>
            <a:endParaRPr lang="en-US" sz="1702" dirty="0"/>
          </a:p>
        </p:txBody>
      </p:sp>
      <p:sp>
        <p:nvSpPr>
          <p:cNvPr id="9" name="Shape 7"/>
          <p:cNvSpPr/>
          <p:nvPr/>
        </p:nvSpPr>
        <p:spPr>
          <a:xfrm>
            <a:off x="3804196" y="2121098"/>
            <a:ext cx="3273623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0396" y="2187773"/>
            <a:ext cx="342900" cy="342900"/>
          </a:xfrm>
          <a:prstGeom prst="ellipse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9496" y="2255341"/>
            <a:ext cx="933450" cy="245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Mowaba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44468" y="2260104"/>
            <a:ext cx="552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38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938" dirty="0"/>
          </a:p>
        </p:txBody>
      </p:sp>
      <p:sp>
        <p:nvSpPr>
          <p:cNvPr id="13" name="Shape 11"/>
          <p:cNvSpPr/>
          <p:nvPr/>
        </p:nvSpPr>
        <p:spPr>
          <a:xfrm>
            <a:off x="6239768" y="2235398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25518" y="2235398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111827"/>
          </a:solidFill>
          <a:ln/>
        </p:spPr>
      </p:sp>
      <p:sp>
        <p:nvSpPr>
          <p:cNvPr id="15" name="Shape 13"/>
          <p:cNvSpPr/>
          <p:nvPr/>
        </p:nvSpPr>
        <p:spPr>
          <a:xfrm>
            <a:off x="3804196" y="2883098"/>
            <a:ext cx="3273623" cy="5334000"/>
          </a:xfrm>
          <a:prstGeom prst="roundRect">
            <a:avLst>
              <a:gd name="adj" fmla="val 4655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32796" y="3164979"/>
            <a:ext cx="290091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업로드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032796" y="3641229"/>
            <a:ext cx="309806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업로드하면 AI가 자동으로 분류합니다.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4032796" y="4083248"/>
            <a:ext cx="1350615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8130" y="4269879"/>
            <a:ext cx="1359947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북마크 업로드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98753" y="4083248"/>
            <a:ext cx="1350615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94087" y="4269879"/>
            <a:ext cx="1359947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825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업로드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6640711" y="391284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6529388" y="3980855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</a:t>
            </a:r>
            <a:endParaRPr lang="en-US" sz="1598" dirty="0"/>
          </a:p>
        </p:txBody>
      </p:sp>
      <p:sp>
        <p:nvSpPr>
          <p:cNvPr id="26" name="Shape 24"/>
          <p:cNvSpPr/>
          <p:nvPr/>
        </p:nvSpPr>
        <p:spPr>
          <a:xfrm>
            <a:off x="4032796" y="4845248"/>
            <a:ext cx="2816423" cy="3143250"/>
          </a:xfrm>
          <a:prstGeom prst="roundRect">
            <a:avLst>
              <a:gd name="adj" fmla="val 3382"/>
            </a:avLst>
          </a:prstGeom>
          <a:solidFill>
            <a:srgbClr val="FAFAFA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174903" y="5073848"/>
            <a:ext cx="533400" cy="533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5136803" y="5192018"/>
            <a:ext cx="6096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⬆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91975" y="5851029"/>
            <a:ext cx="309806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.html 파일을 드래그하거나 클릭해서 선택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3891975" y="6155978"/>
            <a:ext cx="309806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.html · 최대 5MB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5843691" y="5107331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5732368" y="5175346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33" name="Shape 31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4" name="Text 32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35" name="Shape 33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37" name="Text 35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선택</a:t>
            </a:r>
            <a:endParaRPr lang="en-US" sz="1898" dirty="0"/>
          </a:p>
        </p:txBody>
      </p:sp>
      <p:sp>
        <p:nvSpPr>
          <p:cNvPr id="38" name="Text 36"/>
          <p:cNvSpPr/>
          <p:nvPr/>
        </p:nvSpPr>
        <p:spPr>
          <a:xfrm>
            <a:off x="11686133" y="26516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북마크 HTML / 카카오톡 CSV 중 선택 후 업로드.</a:t>
            </a:r>
            <a:endParaRPr lang="en-US" sz="1598" dirty="0"/>
          </a:p>
        </p:txBody>
      </p:sp>
      <p:sp>
        <p:nvSpPr>
          <p:cNvPr id="39" name="Shape 37"/>
          <p:cNvSpPr/>
          <p:nvPr/>
        </p:nvSpPr>
        <p:spPr>
          <a:xfrm>
            <a:off x="11064180" y="3200400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Shape 38"/>
          <p:cNvSpPr/>
          <p:nvPr/>
        </p:nvSpPr>
        <p:spPr>
          <a:xfrm>
            <a:off x="11100346" y="334699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10989915" y="341888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</a:t>
            </a:r>
            <a:endParaRPr lang="en-US" sz="1598" dirty="0"/>
          </a:p>
        </p:txBody>
      </p:sp>
      <p:sp>
        <p:nvSpPr>
          <p:cNvPr id="42" name="Text 40"/>
          <p:cNvSpPr/>
          <p:nvPr/>
        </p:nvSpPr>
        <p:spPr>
          <a:xfrm>
            <a:off x="11686133" y="3342531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CSV</a:t>
            </a:r>
            <a:endParaRPr lang="en-US" sz="1898" dirty="0"/>
          </a:p>
        </p:txBody>
      </p:sp>
      <p:sp>
        <p:nvSpPr>
          <p:cNvPr id="43" name="Text 41"/>
          <p:cNvSpPr/>
          <p:nvPr/>
        </p:nvSpPr>
        <p:spPr>
          <a:xfrm>
            <a:off x="11686133" y="3675608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내보내기 CSV. Message 컬럼 내 URL만 추출, 대화 본문은 미보관.</a:t>
            </a:r>
            <a:endParaRPr lang="en-US" sz="1598" dirty="0"/>
          </a:p>
        </p:txBody>
      </p:sp>
      <p:sp>
        <p:nvSpPr>
          <p:cNvPr id="44" name="Shape 42"/>
          <p:cNvSpPr/>
          <p:nvPr/>
        </p:nvSpPr>
        <p:spPr>
          <a:xfrm>
            <a:off x="11064180" y="433387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5" name="Shape 43"/>
          <p:cNvSpPr/>
          <p:nvPr/>
        </p:nvSpPr>
        <p:spPr>
          <a:xfrm>
            <a:off x="11100346" y="4480471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10989915" y="455324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47" name="Text 45"/>
          <p:cNvSpPr/>
          <p:nvPr/>
        </p:nvSpPr>
        <p:spPr>
          <a:xfrm>
            <a:off x="11686133" y="4476006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영역</a:t>
            </a:r>
            <a:endParaRPr lang="en-US" sz="1898" dirty="0"/>
          </a:p>
        </p:txBody>
      </p:sp>
      <p:sp>
        <p:nvSpPr>
          <p:cNvPr id="48" name="Text 46"/>
          <p:cNvSpPr/>
          <p:nvPr/>
        </p:nvSpPr>
        <p:spPr>
          <a:xfrm>
            <a:off x="11686133" y="481012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드래그앤드롭 → 모바일은 탭 선택(파일 앱 연동)으로 변환.</a:t>
            </a:r>
            <a:endParaRPr lang="en-US" sz="1598" dirty="0"/>
          </a:p>
        </p:txBody>
      </p:sp>
      <p:sp>
        <p:nvSpPr>
          <p:cNvPr id="18" name="Shape 16"/>
          <p:cNvSpPr/>
          <p:nvPr/>
        </p:nvSpPr>
        <p:spPr>
          <a:xfrm>
            <a:off x="3681258" y="376301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3569935" y="3831030"/>
            <a:ext cx="624780" cy="30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 · Mobile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로그인 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임포트 (WEB-14) — ② 업로드/태깅 진행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3657600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105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5166271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3227317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임포트 ② 진행 중</a:t>
            </a:r>
            <a:endParaRPr lang="en-US" sz="1702" dirty="0"/>
          </a:p>
        </p:txBody>
      </p:sp>
      <p:sp>
        <p:nvSpPr>
          <p:cNvPr id="9" name="Text 7"/>
          <p:cNvSpPr/>
          <p:nvPr/>
        </p:nvSpPr>
        <p:spPr>
          <a:xfrm>
            <a:off x="3804196" y="2646759"/>
            <a:ext cx="36009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402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진행</a:t>
            </a:r>
            <a:endParaRPr lang="en-US" sz="1402" dirty="0"/>
          </a:p>
        </p:txBody>
      </p:sp>
      <p:sp>
        <p:nvSpPr>
          <p:cNvPr id="10" name="Shape 8"/>
          <p:cNvSpPr/>
          <p:nvPr/>
        </p:nvSpPr>
        <p:spPr>
          <a:xfrm>
            <a:off x="3804196" y="3035498"/>
            <a:ext cx="3273623" cy="32950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04196" y="3035498"/>
            <a:ext cx="1963936" cy="329505"/>
          </a:xfrm>
          <a:prstGeom prst="rect">
            <a:avLst/>
          </a:prstGeom>
          <a:solidFill>
            <a:srgbClr val="1F2937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10855" y="303549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3400425" y="310827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14" name="Shape 12"/>
          <p:cNvSpPr/>
          <p:nvPr/>
        </p:nvSpPr>
        <p:spPr>
          <a:xfrm>
            <a:off x="4535686" y="3584228"/>
            <a:ext cx="1810643" cy="475208"/>
          </a:xfrm>
          <a:prstGeom prst="roundRect">
            <a:avLst>
              <a:gd name="adj" fmla="val 15434"/>
            </a:avLst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5136" y="3712220"/>
            <a:ext cx="19109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1298" dirty="0"/>
          </a:p>
        </p:txBody>
      </p:sp>
      <p:sp>
        <p:nvSpPr>
          <p:cNvPr id="16" name="Shape 14"/>
          <p:cNvSpPr/>
          <p:nvPr/>
        </p:nvSpPr>
        <p:spPr>
          <a:xfrm>
            <a:off x="6418808" y="360223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307336" y="367501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</a:t>
            </a:r>
            <a:endParaRPr lang="en-US" sz="1598" dirty="0"/>
          </a:p>
        </p:txBody>
      </p:sp>
      <p:sp>
        <p:nvSpPr>
          <p:cNvPr id="18" name="Shape 16"/>
          <p:cNvSpPr/>
          <p:nvPr/>
        </p:nvSpPr>
        <p:spPr>
          <a:xfrm>
            <a:off x="3804196" y="4407098"/>
            <a:ext cx="3273623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Text 17"/>
          <p:cNvSpPr/>
          <p:nvPr/>
        </p:nvSpPr>
        <p:spPr>
          <a:xfrm>
            <a:off x="3804196" y="4731841"/>
            <a:ext cx="36009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402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태깅 처리</a:t>
            </a:r>
            <a:endParaRPr lang="en-US" sz="1402" dirty="0"/>
          </a:p>
        </p:txBody>
      </p:sp>
      <p:sp>
        <p:nvSpPr>
          <p:cNvPr id="20" name="Shape 18"/>
          <p:cNvSpPr/>
          <p:nvPr/>
        </p:nvSpPr>
        <p:spPr>
          <a:xfrm>
            <a:off x="3804196" y="5138738"/>
            <a:ext cx="3273623" cy="9144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0341" y="5395913"/>
            <a:ext cx="35204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GPT-4o-mini 순차 처리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80341" y="5595938"/>
            <a:ext cx="35204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120 완료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10855" y="517579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3400425" y="524768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25" name="Shape 23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6" name="Text 24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27" name="Shape 25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29" name="Text 27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진행 상태</a:t>
            </a:r>
            <a:endParaRPr lang="en-US" sz="1898" dirty="0"/>
          </a:p>
        </p:txBody>
      </p:sp>
      <p:sp>
        <p:nvSpPr>
          <p:cNvPr id="30" name="Text 28"/>
          <p:cNvSpPr/>
          <p:nvPr/>
        </p:nvSpPr>
        <p:spPr>
          <a:xfrm>
            <a:off x="11686133" y="26516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프로그레스 바 표시.</a:t>
            </a:r>
            <a:endParaRPr lang="en-US" sz="1598" dirty="0"/>
          </a:p>
        </p:txBody>
      </p:sp>
      <p:sp>
        <p:nvSpPr>
          <p:cNvPr id="31" name="Shape 29"/>
          <p:cNvSpPr/>
          <p:nvPr/>
        </p:nvSpPr>
        <p:spPr>
          <a:xfrm>
            <a:off x="11064180" y="309086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2" name="Shape 30"/>
          <p:cNvSpPr/>
          <p:nvPr/>
        </p:nvSpPr>
        <p:spPr>
          <a:xfrm>
            <a:off x="11100346" y="32365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10989915" y="33093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</a:t>
            </a:r>
            <a:endParaRPr lang="en-US" sz="1598" dirty="0"/>
          </a:p>
        </p:txBody>
      </p:sp>
      <p:sp>
        <p:nvSpPr>
          <p:cNvPr id="34" name="Text 32"/>
          <p:cNvSpPr/>
          <p:nvPr/>
        </p:nvSpPr>
        <p:spPr>
          <a:xfrm>
            <a:off x="11686133" y="32329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버튼</a:t>
            </a:r>
            <a:endParaRPr lang="en-US" sz="1898" dirty="0"/>
          </a:p>
        </p:txBody>
      </p:sp>
      <p:sp>
        <p:nvSpPr>
          <p:cNvPr id="35" name="Text 33"/>
          <p:cNvSpPr/>
          <p:nvPr/>
        </p:nvSpPr>
        <p:spPr>
          <a:xfrm>
            <a:off x="11686133" y="35660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진행 중 취소 가능. 속도 표시는 v1.1 고도화 항목.</a:t>
            </a:r>
            <a:endParaRPr lang="en-US" sz="1598" dirty="0"/>
          </a:p>
        </p:txBody>
      </p:sp>
      <p:sp>
        <p:nvSpPr>
          <p:cNvPr id="36" name="Shape 34"/>
          <p:cNvSpPr/>
          <p:nvPr/>
        </p:nvSpPr>
        <p:spPr>
          <a:xfrm>
            <a:off x="11064180" y="418802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7" name="Shape 35"/>
          <p:cNvSpPr/>
          <p:nvPr/>
        </p:nvSpPr>
        <p:spPr>
          <a:xfrm>
            <a:off x="11100346" y="433387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10989915" y="440650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39" name="Text 37"/>
          <p:cNvSpPr/>
          <p:nvPr/>
        </p:nvSpPr>
        <p:spPr>
          <a:xfrm>
            <a:off x="11686133" y="433030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태깅 처리 상태</a:t>
            </a:r>
            <a:endParaRPr lang="en-US" sz="1898" dirty="0"/>
          </a:p>
        </p:txBody>
      </p:sp>
      <p:sp>
        <p:nvSpPr>
          <p:cNvPr id="40" name="Text 38"/>
          <p:cNvSpPr/>
          <p:nvPr/>
        </p:nvSpPr>
        <p:spPr>
          <a:xfrm>
            <a:off x="11686133" y="4663380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태깅 진행(GPT-4o-mini 순차). 카카오톡 CSV는 Message 내 URL만 추출 후 동일 흐름 태깅, 대화 본문 미저장.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 · Mobile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MVP/v1.1 · 로그인 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임포트 — ③ 완료 · 실패 · 부분완료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6399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3436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219426" y="8512373"/>
            <a:ext cx="3767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완료(성공)</a:t>
            </a:r>
            <a:endParaRPr lang="en-US" sz="1702" dirty="0"/>
          </a:p>
        </p:txBody>
      </p:sp>
      <p:sp>
        <p:nvSpPr>
          <p:cNvPr id="9" name="Shape 7"/>
          <p:cNvSpPr/>
          <p:nvPr/>
        </p:nvSpPr>
        <p:spPr>
          <a:xfrm>
            <a:off x="786705" y="3218408"/>
            <a:ext cx="2633663" cy="18288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856" y="3913733"/>
            <a:ext cx="28163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임포트 완료</a:t>
            </a:r>
            <a:endParaRPr lang="en-US" sz="1298" dirty="0"/>
          </a:p>
        </p:txBody>
      </p:sp>
      <p:sp>
        <p:nvSpPr>
          <p:cNvPr id="11" name="Text 9"/>
          <p:cNvSpPr/>
          <p:nvPr/>
        </p:nvSpPr>
        <p:spPr>
          <a:xfrm>
            <a:off x="694856" y="4132808"/>
            <a:ext cx="28163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120개 저장됨</a:t>
            </a:r>
            <a:endParaRPr lang="en-US" sz="1298" dirty="0"/>
          </a:p>
        </p:txBody>
      </p:sp>
      <p:sp>
        <p:nvSpPr>
          <p:cNvPr id="12" name="Shape 10"/>
          <p:cNvSpPr/>
          <p:nvPr/>
        </p:nvSpPr>
        <p:spPr>
          <a:xfrm>
            <a:off x="530423" y="325561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19100" y="332735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14" name="Shape 12"/>
          <p:cNvSpPr/>
          <p:nvPr/>
        </p:nvSpPr>
        <p:spPr>
          <a:xfrm>
            <a:off x="1243905" y="5413028"/>
            <a:ext cx="1719263" cy="548580"/>
          </a:xfrm>
          <a:prstGeom prst="roundRect">
            <a:avLst>
              <a:gd name="adj" fmla="val 13370"/>
            </a:avLst>
          </a:prstGeom>
          <a:solidFill>
            <a:srgbClr val="1F2937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97776" y="5577780"/>
            <a:ext cx="18104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홈으로</a:t>
            </a:r>
            <a:endParaRPr lang="en-US" sz="1298" dirty="0"/>
          </a:p>
        </p:txBody>
      </p:sp>
      <p:sp>
        <p:nvSpPr>
          <p:cNvPr id="16" name="Shape 14"/>
          <p:cNvSpPr/>
          <p:nvPr/>
        </p:nvSpPr>
        <p:spPr>
          <a:xfrm>
            <a:off x="42975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31036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3877026" y="8512373"/>
            <a:ext cx="3767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endParaRPr lang="en-US" sz="1702" dirty="0"/>
          </a:p>
        </p:txBody>
      </p:sp>
      <p:sp>
        <p:nvSpPr>
          <p:cNvPr id="20" name="Shape 18"/>
          <p:cNvSpPr/>
          <p:nvPr/>
        </p:nvSpPr>
        <p:spPr>
          <a:xfrm>
            <a:off x="4444305" y="3218408"/>
            <a:ext cx="2633663" cy="18288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2456" y="3913733"/>
            <a:ext cx="28163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임포트 실패</a:t>
            </a:r>
            <a:endParaRPr lang="en-US" sz="1298" dirty="0"/>
          </a:p>
        </p:txBody>
      </p:sp>
      <p:sp>
        <p:nvSpPr>
          <p:cNvPr id="22" name="Text 20"/>
          <p:cNvSpPr/>
          <p:nvPr/>
        </p:nvSpPr>
        <p:spPr>
          <a:xfrm>
            <a:off x="4352456" y="4132808"/>
            <a:ext cx="28163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메시지</a:t>
            </a:r>
            <a:endParaRPr lang="en-US" sz="1298" dirty="0"/>
          </a:p>
        </p:txBody>
      </p:sp>
      <p:sp>
        <p:nvSpPr>
          <p:cNvPr id="23" name="Shape 21"/>
          <p:cNvSpPr/>
          <p:nvPr/>
        </p:nvSpPr>
        <p:spPr>
          <a:xfrm>
            <a:off x="4188023" y="325561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4076700" y="332735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25" name="Shape 23"/>
          <p:cNvSpPr/>
          <p:nvPr/>
        </p:nvSpPr>
        <p:spPr>
          <a:xfrm>
            <a:off x="4901505" y="5413028"/>
            <a:ext cx="1719263" cy="548580"/>
          </a:xfrm>
          <a:prstGeom prst="roundRect">
            <a:avLst>
              <a:gd name="adj" fmla="val 13370"/>
            </a:avLst>
          </a:prstGeom>
          <a:solidFill>
            <a:srgbClr val="1F2937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376" y="5577780"/>
            <a:ext cx="18104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</a:t>
            </a:r>
            <a:endParaRPr lang="en-US" sz="1298" dirty="0"/>
          </a:p>
        </p:txBody>
      </p:sp>
      <p:sp>
        <p:nvSpPr>
          <p:cNvPr id="27" name="Shape 25"/>
          <p:cNvSpPr/>
          <p:nvPr/>
        </p:nvSpPr>
        <p:spPr>
          <a:xfrm>
            <a:off x="79551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88636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0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7534626" y="8512373"/>
            <a:ext cx="3767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부분완료 (v1.1)</a:t>
            </a:r>
            <a:endParaRPr lang="en-US" sz="1702" dirty="0"/>
          </a:p>
        </p:txBody>
      </p:sp>
      <p:sp>
        <p:nvSpPr>
          <p:cNvPr id="31" name="Shape 29"/>
          <p:cNvSpPr/>
          <p:nvPr/>
        </p:nvSpPr>
        <p:spPr>
          <a:xfrm>
            <a:off x="8101905" y="3218408"/>
            <a:ext cx="2633663" cy="1828800"/>
          </a:xfrm>
          <a:prstGeom prst="rect">
            <a:avLst/>
          </a:prstGeom>
          <a:solidFill>
            <a:srgbClr val="FEF3C7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0056" y="3913733"/>
            <a:ext cx="28163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일부 실패</a:t>
            </a:r>
            <a:endParaRPr lang="en-US" sz="1298" dirty="0"/>
          </a:p>
        </p:txBody>
      </p:sp>
      <p:sp>
        <p:nvSpPr>
          <p:cNvPr id="33" name="Text 31"/>
          <p:cNvSpPr/>
          <p:nvPr/>
        </p:nvSpPr>
        <p:spPr>
          <a:xfrm>
            <a:off x="8010056" y="4132808"/>
            <a:ext cx="28163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목록 (v1.1)</a:t>
            </a:r>
            <a:endParaRPr lang="en-US" sz="1298" dirty="0"/>
          </a:p>
        </p:txBody>
      </p:sp>
      <p:sp>
        <p:nvSpPr>
          <p:cNvPr id="34" name="Shape 32"/>
          <p:cNvSpPr/>
          <p:nvPr/>
        </p:nvSpPr>
        <p:spPr>
          <a:xfrm>
            <a:off x="7845623" y="3255615"/>
            <a:ext cx="401836" cy="4018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7734300" y="332735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36" name="Shape 34"/>
          <p:cNvSpPr/>
          <p:nvPr/>
        </p:nvSpPr>
        <p:spPr>
          <a:xfrm>
            <a:off x="8559105" y="5413028"/>
            <a:ext cx="1719263" cy="548580"/>
          </a:xfrm>
          <a:prstGeom prst="roundRect">
            <a:avLst>
              <a:gd name="adj" fmla="val 13370"/>
            </a:avLst>
          </a:prstGeom>
          <a:solidFill>
            <a:srgbClr val="1F2937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12976" y="5577780"/>
            <a:ext cx="18104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홈으로</a:t>
            </a:r>
            <a:endParaRPr lang="en-US" sz="1298" dirty="0"/>
          </a:p>
        </p:txBody>
      </p:sp>
      <p:sp>
        <p:nvSpPr>
          <p:cNvPr id="38" name="Shape 36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9" name="Text 37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40" name="Shape 38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42" name="Text 40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완료(성공)</a:t>
            </a:r>
            <a:endParaRPr lang="en-US" sz="1898" dirty="0"/>
          </a:p>
        </p:txBody>
      </p:sp>
      <p:sp>
        <p:nvSpPr>
          <p:cNvPr id="43" name="Text 41"/>
          <p:cNvSpPr/>
          <p:nvPr/>
        </p:nvSpPr>
        <p:spPr>
          <a:xfrm>
            <a:off x="11686133" y="2651671"/>
            <a:ext cx="6234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HTML/CSV 임포트 완료 표시. 성공 메시지+완료 개수. 결과요약(소스별)/임포트 로그는 v1.1.</a:t>
            </a:r>
            <a:endParaRPr lang="en-US" sz="1598" dirty="0"/>
          </a:p>
        </p:txBody>
      </p:sp>
      <p:sp>
        <p:nvSpPr>
          <p:cNvPr id="44" name="Shape 42"/>
          <p:cNvSpPr/>
          <p:nvPr/>
        </p:nvSpPr>
        <p:spPr>
          <a:xfrm>
            <a:off x="11064180" y="354806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5" name="Shape 43"/>
          <p:cNvSpPr/>
          <p:nvPr/>
        </p:nvSpPr>
        <p:spPr>
          <a:xfrm>
            <a:off x="11100346" y="36937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10989915" y="37665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47" name="Text 45"/>
          <p:cNvSpPr/>
          <p:nvPr/>
        </p:nvSpPr>
        <p:spPr>
          <a:xfrm>
            <a:off x="11686133" y="36901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endParaRPr lang="en-US" sz="1898" dirty="0"/>
          </a:p>
        </p:txBody>
      </p:sp>
      <p:sp>
        <p:nvSpPr>
          <p:cNvPr id="48" name="Text 46"/>
          <p:cNvSpPr/>
          <p:nvPr/>
        </p:nvSpPr>
        <p:spPr>
          <a:xfrm>
            <a:off x="11686133" y="40232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메시지+재시도 버튼. 에러 상세정보/문제보고는 v1.1.</a:t>
            </a:r>
            <a:endParaRPr lang="en-US" sz="1598" dirty="0"/>
          </a:p>
        </p:txBody>
      </p:sp>
      <p:sp>
        <p:nvSpPr>
          <p:cNvPr id="49" name="Shape 47"/>
          <p:cNvSpPr/>
          <p:nvPr/>
        </p:nvSpPr>
        <p:spPr>
          <a:xfrm>
            <a:off x="11064180" y="4645223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0" name="Shape 48"/>
          <p:cNvSpPr/>
          <p:nvPr/>
        </p:nvSpPr>
        <p:spPr>
          <a:xfrm>
            <a:off x="11100346" y="4791075"/>
            <a:ext cx="401836" cy="4018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1" name="Text 49"/>
          <p:cNvSpPr/>
          <p:nvPr/>
        </p:nvSpPr>
        <p:spPr>
          <a:xfrm>
            <a:off x="10989915" y="4863703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52" name="Text 50"/>
          <p:cNvSpPr/>
          <p:nvPr/>
        </p:nvSpPr>
        <p:spPr>
          <a:xfrm>
            <a:off x="11686133" y="478750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완료</a:t>
            </a:r>
            <a:endParaRPr lang="en-US" sz="1898" dirty="0"/>
          </a:p>
        </p:txBody>
      </p:sp>
      <p:sp>
        <p:nvSpPr>
          <p:cNvPr id="53" name="Text 51"/>
          <p:cNvSpPr/>
          <p:nvPr/>
        </p:nvSpPr>
        <p:spPr>
          <a:xfrm>
            <a:off x="11686133" y="5120580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메시지+실패 목록 (v1.1).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4.0 · 콘텐츠 &gt; 뷰 선택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전체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· 리스트 · 컴팩트 뷰 비교 (모바일)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6399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3436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219426" y="8512373"/>
            <a:ext cx="3767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(2열, default)</a:t>
            </a:r>
            <a:endParaRPr lang="en-US" sz="1702" dirty="0"/>
          </a:p>
        </p:txBody>
      </p:sp>
      <p:sp>
        <p:nvSpPr>
          <p:cNvPr id="11" name="Shape 9"/>
          <p:cNvSpPr/>
          <p:nvPr/>
        </p:nvSpPr>
        <p:spPr>
          <a:xfrm>
            <a:off x="786705" y="2212628"/>
            <a:ext cx="1270546" cy="1280071"/>
          </a:xfrm>
          <a:prstGeom prst="roundRect">
            <a:avLst>
              <a:gd name="adj" fmla="val 5773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036" y="2286000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8143" y="2300288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14" name="Text 12"/>
          <p:cNvSpPr/>
          <p:nvPr/>
        </p:nvSpPr>
        <p:spPr>
          <a:xfrm>
            <a:off x="1066800" y="2277666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9036" y="2578298"/>
            <a:ext cx="112484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243" y="2497336"/>
            <a:ext cx="11276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17" name="Shape 15"/>
          <p:cNvSpPr/>
          <p:nvPr/>
        </p:nvSpPr>
        <p:spPr>
          <a:xfrm>
            <a:off x="859036" y="3200400"/>
            <a:ext cx="1124843" cy="200918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8143" y="3205609"/>
            <a:ext cx="11276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19" name="Shape 17"/>
          <p:cNvSpPr/>
          <p:nvPr/>
        </p:nvSpPr>
        <p:spPr>
          <a:xfrm>
            <a:off x="2148780" y="2212628"/>
            <a:ext cx="1270546" cy="1280071"/>
          </a:xfrm>
          <a:prstGeom prst="roundRect">
            <a:avLst>
              <a:gd name="adj" fmla="val 5773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2153" y="2286000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20218" y="2300288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22" name="Text 20"/>
          <p:cNvSpPr/>
          <p:nvPr/>
        </p:nvSpPr>
        <p:spPr>
          <a:xfrm>
            <a:off x="2428875" y="2277666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22153" y="2578298"/>
            <a:ext cx="112484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58318" y="2497336"/>
            <a:ext cx="11276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25" name="Shape 23"/>
          <p:cNvSpPr/>
          <p:nvPr/>
        </p:nvSpPr>
        <p:spPr>
          <a:xfrm>
            <a:off x="2222153" y="3200400"/>
            <a:ext cx="1124843" cy="200918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20218" y="3205609"/>
            <a:ext cx="11276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27" name="Shape 25"/>
          <p:cNvSpPr/>
          <p:nvPr/>
        </p:nvSpPr>
        <p:spPr>
          <a:xfrm>
            <a:off x="786705" y="3639443"/>
            <a:ext cx="1270546" cy="1280071"/>
          </a:xfrm>
          <a:prstGeom prst="roundRect">
            <a:avLst>
              <a:gd name="adj" fmla="val 5773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036" y="3712815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8143" y="3727103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30" name="Text 28"/>
          <p:cNvSpPr/>
          <p:nvPr/>
        </p:nvSpPr>
        <p:spPr>
          <a:xfrm>
            <a:off x="1066800" y="3703588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9036" y="4005262"/>
            <a:ext cx="112484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243" y="3924300"/>
            <a:ext cx="11276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33" name="Shape 31"/>
          <p:cNvSpPr/>
          <p:nvPr/>
        </p:nvSpPr>
        <p:spPr>
          <a:xfrm>
            <a:off x="859036" y="4627215"/>
            <a:ext cx="1124843" cy="200918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8143" y="4632424"/>
            <a:ext cx="11276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35" name="Shape 33"/>
          <p:cNvSpPr/>
          <p:nvPr/>
        </p:nvSpPr>
        <p:spPr>
          <a:xfrm>
            <a:off x="2148780" y="3639443"/>
            <a:ext cx="1270546" cy="1280071"/>
          </a:xfrm>
          <a:prstGeom prst="roundRect">
            <a:avLst>
              <a:gd name="adj" fmla="val 5773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22153" y="3712815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20218" y="3727103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38" name="Text 36"/>
          <p:cNvSpPr/>
          <p:nvPr/>
        </p:nvSpPr>
        <p:spPr>
          <a:xfrm>
            <a:off x="2428875" y="3703588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22153" y="4005262"/>
            <a:ext cx="112484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8318" y="3924300"/>
            <a:ext cx="11276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41" name="Shape 39"/>
          <p:cNvSpPr/>
          <p:nvPr/>
        </p:nvSpPr>
        <p:spPr>
          <a:xfrm>
            <a:off x="2222153" y="4627215"/>
            <a:ext cx="1124843" cy="200918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20218" y="4632424"/>
            <a:ext cx="11276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43" name="Shape 41"/>
          <p:cNvSpPr/>
          <p:nvPr/>
        </p:nvSpPr>
        <p:spPr>
          <a:xfrm>
            <a:off x="786705" y="5065365"/>
            <a:ext cx="1270546" cy="1280071"/>
          </a:xfrm>
          <a:prstGeom prst="roundRect">
            <a:avLst>
              <a:gd name="adj" fmla="val 5773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9036" y="5138738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8143" y="5153025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46" name="Text 44"/>
          <p:cNvSpPr/>
          <p:nvPr/>
        </p:nvSpPr>
        <p:spPr>
          <a:xfrm>
            <a:off x="1066800" y="5130403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9036" y="5431036"/>
            <a:ext cx="112484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6243" y="5350073"/>
            <a:ext cx="11276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49" name="Shape 47"/>
          <p:cNvSpPr/>
          <p:nvPr/>
        </p:nvSpPr>
        <p:spPr>
          <a:xfrm>
            <a:off x="859036" y="6053138"/>
            <a:ext cx="1124843" cy="200918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8143" y="6058346"/>
            <a:ext cx="11276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51" name="Shape 49"/>
          <p:cNvSpPr/>
          <p:nvPr/>
        </p:nvSpPr>
        <p:spPr>
          <a:xfrm>
            <a:off x="2148780" y="5065365"/>
            <a:ext cx="1270546" cy="1280071"/>
          </a:xfrm>
          <a:prstGeom prst="roundRect">
            <a:avLst>
              <a:gd name="adj" fmla="val 5773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22153" y="5138738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20218" y="5153025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54" name="Text 52"/>
          <p:cNvSpPr/>
          <p:nvPr/>
        </p:nvSpPr>
        <p:spPr>
          <a:xfrm>
            <a:off x="2428875" y="5130403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222153" y="5431036"/>
            <a:ext cx="112484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58318" y="5350073"/>
            <a:ext cx="11276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57" name="Shape 55"/>
          <p:cNvSpPr/>
          <p:nvPr/>
        </p:nvSpPr>
        <p:spPr>
          <a:xfrm>
            <a:off x="2222153" y="6053138"/>
            <a:ext cx="1124843" cy="200918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20218" y="6058346"/>
            <a:ext cx="11276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59" name="Shape 57"/>
          <p:cNvSpPr/>
          <p:nvPr/>
        </p:nvSpPr>
        <p:spPr>
          <a:xfrm>
            <a:off x="786705" y="6492180"/>
            <a:ext cx="1270546" cy="1280071"/>
          </a:xfrm>
          <a:prstGeom prst="roundRect">
            <a:avLst>
              <a:gd name="adj" fmla="val 5773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9036" y="6565553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8143" y="6579840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62" name="Text 60"/>
          <p:cNvSpPr/>
          <p:nvPr/>
        </p:nvSpPr>
        <p:spPr>
          <a:xfrm>
            <a:off x="1066800" y="6556325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59036" y="6858000"/>
            <a:ext cx="112484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6243" y="6777038"/>
            <a:ext cx="11276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65" name="Shape 63"/>
          <p:cNvSpPr/>
          <p:nvPr/>
        </p:nvSpPr>
        <p:spPr>
          <a:xfrm>
            <a:off x="859036" y="7479953"/>
            <a:ext cx="1124843" cy="200918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8143" y="7485162"/>
            <a:ext cx="11276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67" name="Shape 65"/>
          <p:cNvSpPr/>
          <p:nvPr/>
        </p:nvSpPr>
        <p:spPr>
          <a:xfrm>
            <a:off x="2148780" y="6492180"/>
            <a:ext cx="1270546" cy="1280071"/>
          </a:xfrm>
          <a:prstGeom prst="roundRect">
            <a:avLst>
              <a:gd name="adj" fmla="val 5773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22153" y="6565553"/>
            <a:ext cx="62195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20218" y="6579840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endParaRPr lang="en-US" sz="1102" dirty="0"/>
          </a:p>
        </p:txBody>
      </p:sp>
      <p:sp>
        <p:nvSpPr>
          <p:cNvPr id="70" name="Text 68"/>
          <p:cNvSpPr/>
          <p:nvPr/>
        </p:nvSpPr>
        <p:spPr>
          <a:xfrm>
            <a:off x="2428875" y="6556325"/>
            <a:ext cx="917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☆ ↗ ⋮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2222153" y="6858000"/>
            <a:ext cx="1124843" cy="219075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58318" y="6777038"/>
            <a:ext cx="11276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 최대 2줄…</a:t>
            </a:r>
            <a:endParaRPr lang="en-US" sz="1102" dirty="0"/>
          </a:p>
        </p:txBody>
      </p:sp>
      <p:sp>
        <p:nvSpPr>
          <p:cNvPr id="73" name="Shape 71"/>
          <p:cNvSpPr/>
          <p:nvPr/>
        </p:nvSpPr>
        <p:spPr>
          <a:xfrm>
            <a:off x="2222153" y="7479953"/>
            <a:ext cx="1124843" cy="200918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220218" y="7485162"/>
            <a:ext cx="11276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75" name="Shape 73"/>
          <p:cNvSpPr/>
          <p:nvPr/>
        </p:nvSpPr>
        <p:spPr>
          <a:xfrm>
            <a:off x="42975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431036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7" name="Shape 75"/>
          <p:cNvSpPr/>
          <p:nvPr/>
        </p:nvSpPr>
        <p:spPr>
          <a:xfrm>
            <a:off x="5486400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78" name="Text 76"/>
          <p:cNvSpPr/>
          <p:nvPr/>
        </p:nvSpPr>
        <p:spPr>
          <a:xfrm>
            <a:off x="3877026" y="8512373"/>
            <a:ext cx="3767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 (1열)</a:t>
            </a:r>
            <a:endParaRPr lang="en-US" sz="1702" dirty="0"/>
          </a:p>
        </p:txBody>
      </p:sp>
      <p:sp>
        <p:nvSpPr>
          <p:cNvPr id="81" name="Shape 79"/>
          <p:cNvSpPr/>
          <p:nvPr/>
        </p:nvSpPr>
        <p:spPr>
          <a:xfrm>
            <a:off x="4444305" y="2212628"/>
            <a:ext cx="2633663" cy="841028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16636" y="2304008"/>
            <a:ext cx="621953" cy="62195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15743" y="2519660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img</a:t>
            </a:r>
            <a:endParaRPr lang="en-US" sz="998" dirty="0"/>
          </a:p>
        </p:txBody>
      </p:sp>
      <p:sp>
        <p:nvSpPr>
          <p:cNvPr id="84" name="Shape 82"/>
          <p:cNvSpPr/>
          <p:nvPr/>
        </p:nvSpPr>
        <p:spPr>
          <a:xfrm>
            <a:off x="5248275" y="2304008"/>
            <a:ext cx="1719263" cy="292298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85333" y="2354907"/>
            <a:ext cx="1810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</a:t>
            </a:r>
            <a:endParaRPr lang="en-US" sz="1102" dirty="0"/>
          </a:p>
        </p:txBody>
      </p:sp>
      <p:sp>
        <p:nvSpPr>
          <p:cNvPr id="86" name="Shape 84"/>
          <p:cNvSpPr/>
          <p:nvPr/>
        </p:nvSpPr>
        <p:spPr>
          <a:xfrm>
            <a:off x="5248275" y="2669828"/>
            <a:ext cx="1719263" cy="238125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203039" y="2693640"/>
            <a:ext cx="1810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88" name="Shape 86"/>
          <p:cNvSpPr/>
          <p:nvPr/>
        </p:nvSpPr>
        <p:spPr>
          <a:xfrm>
            <a:off x="4444305" y="3164086"/>
            <a:ext cx="2633663" cy="841028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516636" y="3255615"/>
            <a:ext cx="621953" cy="62195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15743" y="3471267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img</a:t>
            </a:r>
            <a:endParaRPr lang="en-US" sz="998" dirty="0"/>
          </a:p>
        </p:txBody>
      </p:sp>
      <p:sp>
        <p:nvSpPr>
          <p:cNvPr id="91" name="Shape 89"/>
          <p:cNvSpPr/>
          <p:nvPr/>
        </p:nvSpPr>
        <p:spPr>
          <a:xfrm>
            <a:off x="5248275" y="3255615"/>
            <a:ext cx="1719263" cy="292298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285333" y="3306514"/>
            <a:ext cx="1810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</a:t>
            </a:r>
            <a:endParaRPr lang="en-US" sz="1102" dirty="0"/>
          </a:p>
        </p:txBody>
      </p:sp>
      <p:sp>
        <p:nvSpPr>
          <p:cNvPr id="93" name="Shape 91"/>
          <p:cNvSpPr/>
          <p:nvPr/>
        </p:nvSpPr>
        <p:spPr>
          <a:xfrm>
            <a:off x="5248275" y="3621286"/>
            <a:ext cx="1719263" cy="238125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203039" y="3645098"/>
            <a:ext cx="1810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95" name="Shape 93"/>
          <p:cNvSpPr/>
          <p:nvPr/>
        </p:nvSpPr>
        <p:spPr>
          <a:xfrm>
            <a:off x="4444305" y="4114800"/>
            <a:ext cx="2633663" cy="841028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516636" y="4206180"/>
            <a:ext cx="621953" cy="62195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15743" y="4421832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img</a:t>
            </a:r>
            <a:endParaRPr lang="en-US" sz="998" dirty="0"/>
          </a:p>
        </p:txBody>
      </p:sp>
      <p:sp>
        <p:nvSpPr>
          <p:cNvPr id="98" name="Shape 96"/>
          <p:cNvSpPr/>
          <p:nvPr/>
        </p:nvSpPr>
        <p:spPr>
          <a:xfrm>
            <a:off x="5248275" y="4206180"/>
            <a:ext cx="1719263" cy="292298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285333" y="4257080"/>
            <a:ext cx="1810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</a:t>
            </a:r>
            <a:endParaRPr lang="en-US" sz="1102" dirty="0"/>
          </a:p>
        </p:txBody>
      </p:sp>
      <p:sp>
        <p:nvSpPr>
          <p:cNvPr id="100" name="Shape 98"/>
          <p:cNvSpPr/>
          <p:nvPr/>
        </p:nvSpPr>
        <p:spPr>
          <a:xfrm>
            <a:off x="5248275" y="4572000"/>
            <a:ext cx="1719263" cy="238125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203039" y="4595813"/>
            <a:ext cx="1810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102" name="Shape 100"/>
          <p:cNvSpPr/>
          <p:nvPr/>
        </p:nvSpPr>
        <p:spPr>
          <a:xfrm>
            <a:off x="4444305" y="5065365"/>
            <a:ext cx="2633663" cy="841028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516636" y="5156746"/>
            <a:ext cx="621953" cy="62195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15743" y="5372398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img</a:t>
            </a:r>
            <a:endParaRPr lang="en-US" sz="998" dirty="0"/>
          </a:p>
        </p:txBody>
      </p:sp>
      <p:sp>
        <p:nvSpPr>
          <p:cNvPr id="105" name="Shape 103"/>
          <p:cNvSpPr/>
          <p:nvPr/>
        </p:nvSpPr>
        <p:spPr>
          <a:xfrm>
            <a:off x="5248275" y="5156746"/>
            <a:ext cx="1719263" cy="292298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285333" y="5207645"/>
            <a:ext cx="1810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</a:t>
            </a:r>
            <a:endParaRPr lang="en-US" sz="1102" dirty="0"/>
          </a:p>
        </p:txBody>
      </p:sp>
      <p:sp>
        <p:nvSpPr>
          <p:cNvPr id="107" name="Shape 105"/>
          <p:cNvSpPr/>
          <p:nvPr/>
        </p:nvSpPr>
        <p:spPr>
          <a:xfrm>
            <a:off x="5248275" y="5522565"/>
            <a:ext cx="1719263" cy="238125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203039" y="5546378"/>
            <a:ext cx="1810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109" name="Shape 107"/>
          <p:cNvSpPr/>
          <p:nvPr/>
        </p:nvSpPr>
        <p:spPr>
          <a:xfrm>
            <a:off x="4444305" y="6016823"/>
            <a:ext cx="2633663" cy="841028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516636" y="6108353"/>
            <a:ext cx="621953" cy="62195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515743" y="6324005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img</a:t>
            </a:r>
            <a:endParaRPr lang="en-US" sz="998" dirty="0"/>
          </a:p>
        </p:txBody>
      </p:sp>
      <p:sp>
        <p:nvSpPr>
          <p:cNvPr id="112" name="Shape 110"/>
          <p:cNvSpPr/>
          <p:nvPr/>
        </p:nvSpPr>
        <p:spPr>
          <a:xfrm>
            <a:off x="5248275" y="6108353"/>
            <a:ext cx="1719263" cy="292298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285333" y="6159252"/>
            <a:ext cx="1810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</a:t>
            </a:r>
            <a:endParaRPr lang="en-US" sz="1102" dirty="0"/>
          </a:p>
        </p:txBody>
      </p:sp>
      <p:sp>
        <p:nvSpPr>
          <p:cNvPr id="114" name="Shape 112"/>
          <p:cNvSpPr/>
          <p:nvPr/>
        </p:nvSpPr>
        <p:spPr>
          <a:xfrm>
            <a:off x="5248275" y="6474023"/>
            <a:ext cx="1719263" cy="238125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203039" y="6497836"/>
            <a:ext cx="1810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116" name="Shape 114"/>
          <p:cNvSpPr/>
          <p:nvPr/>
        </p:nvSpPr>
        <p:spPr>
          <a:xfrm>
            <a:off x="4444305" y="6967538"/>
            <a:ext cx="2633663" cy="841028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516636" y="7058918"/>
            <a:ext cx="621953" cy="62195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515743" y="7274570"/>
            <a:ext cx="6247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img</a:t>
            </a:r>
            <a:endParaRPr lang="en-US" sz="998" dirty="0"/>
          </a:p>
        </p:txBody>
      </p:sp>
      <p:sp>
        <p:nvSpPr>
          <p:cNvPr id="119" name="Shape 117"/>
          <p:cNvSpPr/>
          <p:nvPr/>
        </p:nvSpPr>
        <p:spPr>
          <a:xfrm>
            <a:off x="5248275" y="7058918"/>
            <a:ext cx="1719263" cy="292298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285333" y="7109817"/>
            <a:ext cx="1810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title</a:t>
            </a:r>
            <a:endParaRPr lang="en-US" sz="1102" dirty="0"/>
          </a:p>
        </p:txBody>
      </p:sp>
      <p:sp>
        <p:nvSpPr>
          <p:cNvPr id="121" name="Shape 119"/>
          <p:cNvSpPr/>
          <p:nvPr/>
        </p:nvSpPr>
        <p:spPr>
          <a:xfrm>
            <a:off x="5248275" y="7424737"/>
            <a:ext cx="1719263" cy="238125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203039" y="7448550"/>
            <a:ext cx="1810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9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· 칩</a:t>
            </a:r>
            <a:endParaRPr lang="en-US" sz="998" dirty="0"/>
          </a:p>
        </p:txBody>
      </p:sp>
      <p:sp>
        <p:nvSpPr>
          <p:cNvPr id="123" name="Shape 121"/>
          <p:cNvSpPr/>
          <p:nvPr/>
        </p:nvSpPr>
        <p:spPr>
          <a:xfrm>
            <a:off x="7955161" y="1828800"/>
            <a:ext cx="2925961" cy="6583561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088636" y="192018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125" name="Shape 123"/>
          <p:cNvSpPr/>
          <p:nvPr/>
        </p:nvSpPr>
        <p:spPr>
          <a:xfrm>
            <a:off x="9144000" y="824760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126" name="Text 124"/>
          <p:cNvSpPr/>
          <p:nvPr/>
        </p:nvSpPr>
        <p:spPr>
          <a:xfrm>
            <a:off x="7534626" y="8512373"/>
            <a:ext cx="3767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컴팩트 (밀도 최대)</a:t>
            </a:r>
            <a:endParaRPr lang="en-US" sz="1702" dirty="0"/>
          </a:p>
        </p:txBody>
      </p:sp>
      <p:sp>
        <p:nvSpPr>
          <p:cNvPr id="129" name="Shape 127"/>
          <p:cNvSpPr/>
          <p:nvPr/>
        </p:nvSpPr>
        <p:spPr>
          <a:xfrm>
            <a:off x="8101905" y="2212628"/>
            <a:ext cx="2633663" cy="439043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138071" y="2336899"/>
            <a:ext cx="2816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meta title — 태그</a:t>
            </a:r>
            <a:endParaRPr lang="en-US" sz="1102" dirty="0"/>
          </a:p>
        </p:txBody>
      </p:sp>
      <p:sp>
        <p:nvSpPr>
          <p:cNvPr id="131" name="Shape 129"/>
          <p:cNvSpPr/>
          <p:nvPr/>
        </p:nvSpPr>
        <p:spPr>
          <a:xfrm>
            <a:off x="8101905" y="2743200"/>
            <a:ext cx="2633663" cy="43904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138071" y="2867471"/>
            <a:ext cx="2816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meta title — 태그</a:t>
            </a:r>
            <a:endParaRPr lang="en-US" sz="1102" dirty="0"/>
          </a:p>
        </p:txBody>
      </p:sp>
      <p:sp>
        <p:nvSpPr>
          <p:cNvPr id="133" name="Shape 131"/>
          <p:cNvSpPr/>
          <p:nvPr/>
        </p:nvSpPr>
        <p:spPr>
          <a:xfrm>
            <a:off x="8101905" y="3273623"/>
            <a:ext cx="2633663" cy="439043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138071" y="3397895"/>
            <a:ext cx="2816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meta title — 태그</a:t>
            </a:r>
            <a:endParaRPr lang="en-US" sz="1102" dirty="0"/>
          </a:p>
        </p:txBody>
      </p:sp>
      <p:sp>
        <p:nvSpPr>
          <p:cNvPr id="135" name="Shape 133"/>
          <p:cNvSpPr/>
          <p:nvPr/>
        </p:nvSpPr>
        <p:spPr>
          <a:xfrm>
            <a:off x="8101905" y="3804196"/>
            <a:ext cx="2633663" cy="43904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138071" y="3928467"/>
            <a:ext cx="2816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meta title — 태그</a:t>
            </a:r>
            <a:endParaRPr lang="en-US" sz="1102" dirty="0"/>
          </a:p>
        </p:txBody>
      </p:sp>
      <p:sp>
        <p:nvSpPr>
          <p:cNvPr id="137" name="Shape 135"/>
          <p:cNvSpPr/>
          <p:nvPr/>
        </p:nvSpPr>
        <p:spPr>
          <a:xfrm>
            <a:off x="8101905" y="4333875"/>
            <a:ext cx="2633663" cy="439043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138071" y="4458146"/>
            <a:ext cx="2816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meta title — 태그</a:t>
            </a:r>
            <a:endParaRPr lang="en-US" sz="1102" dirty="0"/>
          </a:p>
        </p:txBody>
      </p:sp>
      <p:sp>
        <p:nvSpPr>
          <p:cNvPr id="139" name="Shape 137"/>
          <p:cNvSpPr/>
          <p:nvPr/>
        </p:nvSpPr>
        <p:spPr>
          <a:xfrm>
            <a:off x="8101905" y="4864298"/>
            <a:ext cx="2633663" cy="43904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138071" y="4988570"/>
            <a:ext cx="2816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meta title — 태그</a:t>
            </a:r>
            <a:endParaRPr lang="en-US" sz="1102" dirty="0"/>
          </a:p>
        </p:txBody>
      </p:sp>
      <p:sp>
        <p:nvSpPr>
          <p:cNvPr id="141" name="Shape 139"/>
          <p:cNvSpPr/>
          <p:nvPr/>
        </p:nvSpPr>
        <p:spPr>
          <a:xfrm>
            <a:off x="8101905" y="5394871"/>
            <a:ext cx="2633663" cy="439043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138071" y="5519142"/>
            <a:ext cx="2816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meta title — 태그</a:t>
            </a:r>
            <a:endParaRPr lang="en-US" sz="1102" dirty="0"/>
          </a:p>
        </p:txBody>
      </p:sp>
      <p:sp>
        <p:nvSpPr>
          <p:cNvPr id="143" name="Shape 141"/>
          <p:cNvSpPr/>
          <p:nvPr/>
        </p:nvSpPr>
        <p:spPr>
          <a:xfrm>
            <a:off x="8101905" y="5925443"/>
            <a:ext cx="2633663" cy="43904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138071" y="6049714"/>
            <a:ext cx="2816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meta title — 태그</a:t>
            </a:r>
            <a:endParaRPr lang="en-US" sz="1102" dirty="0"/>
          </a:p>
        </p:txBody>
      </p:sp>
      <p:sp>
        <p:nvSpPr>
          <p:cNvPr id="145" name="Shape 143"/>
          <p:cNvSpPr/>
          <p:nvPr/>
        </p:nvSpPr>
        <p:spPr>
          <a:xfrm>
            <a:off x="8101905" y="6456015"/>
            <a:ext cx="2633663" cy="439043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138071" y="6580287"/>
            <a:ext cx="2816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meta title — 태그</a:t>
            </a:r>
            <a:endParaRPr lang="en-US" sz="1102" dirty="0"/>
          </a:p>
        </p:txBody>
      </p:sp>
      <p:sp>
        <p:nvSpPr>
          <p:cNvPr id="147" name="Shape 145"/>
          <p:cNvSpPr/>
          <p:nvPr/>
        </p:nvSpPr>
        <p:spPr>
          <a:xfrm>
            <a:off x="8101905" y="6985546"/>
            <a:ext cx="2633663" cy="439043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138071" y="7109817"/>
            <a:ext cx="2816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meta title — 태그</a:t>
            </a:r>
            <a:endParaRPr lang="en-US" sz="1102" dirty="0"/>
          </a:p>
        </p:txBody>
      </p:sp>
      <p:sp>
        <p:nvSpPr>
          <p:cNvPr id="149" name="Shape 147"/>
          <p:cNvSpPr/>
          <p:nvPr/>
        </p:nvSpPr>
        <p:spPr>
          <a:xfrm>
            <a:off x="8101905" y="7516118"/>
            <a:ext cx="2633663" cy="439043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138071" y="7640389"/>
            <a:ext cx="2816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1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meta title — 태그</a:t>
            </a:r>
            <a:endParaRPr lang="en-US" sz="1102" dirty="0"/>
          </a:p>
        </p:txBody>
      </p:sp>
      <p:sp>
        <p:nvSpPr>
          <p:cNvPr id="151" name="Shape 149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52" name="Text 150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153" name="Shape 151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4" name="Text 152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155" name="Text 153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뷰</a:t>
            </a:r>
            <a:endParaRPr lang="en-US" sz="1898" dirty="0"/>
          </a:p>
        </p:txBody>
      </p:sp>
      <p:sp>
        <p:nvSpPr>
          <p:cNvPr id="156" name="Text 154"/>
          <p:cNvSpPr/>
          <p:nvPr/>
        </p:nvSpPr>
        <p:spPr>
          <a:xfrm>
            <a:off x="11686133" y="26516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뷰(default). 모바일은 3열 → 2열 축소.</a:t>
            </a:r>
            <a:endParaRPr lang="en-US" sz="1598" dirty="0"/>
          </a:p>
        </p:txBody>
      </p:sp>
      <p:sp>
        <p:nvSpPr>
          <p:cNvPr id="157" name="Shape 155"/>
          <p:cNvSpPr/>
          <p:nvPr/>
        </p:nvSpPr>
        <p:spPr>
          <a:xfrm>
            <a:off x="11064180" y="3200400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1100346" y="3346996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9" name="Text 157"/>
          <p:cNvSpPr/>
          <p:nvPr/>
        </p:nvSpPr>
        <p:spPr>
          <a:xfrm>
            <a:off x="10989915" y="341888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160" name="Text 158"/>
          <p:cNvSpPr/>
          <p:nvPr/>
        </p:nvSpPr>
        <p:spPr>
          <a:xfrm>
            <a:off x="11686133" y="3342531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 뷰</a:t>
            </a:r>
            <a:endParaRPr lang="en-US" sz="1898" dirty="0"/>
          </a:p>
        </p:txBody>
      </p:sp>
      <p:sp>
        <p:nvSpPr>
          <p:cNvPr id="161" name="Text 159"/>
          <p:cNvSpPr/>
          <p:nvPr/>
        </p:nvSpPr>
        <p:spPr>
          <a:xfrm>
            <a:off x="11686133" y="3675608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 전환 옵션. 가로형 행 카드 1열.</a:t>
            </a:r>
            <a:endParaRPr lang="en-US" sz="1598" dirty="0"/>
          </a:p>
        </p:txBody>
      </p:sp>
      <p:sp>
        <p:nvSpPr>
          <p:cNvPr id="162" name="Shape 160"/>
          <p:cNvSpPr/>
          <p:nvPr/>
        </p:nvSpPr>
        <p:spPr>
          <a:xfrm>
            <a:off x="11064180" y="4150965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1100346" y="4297561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4" name="Text 162"/>
          <p:cNvSpPr/>
          <p:nvPr/>
        </p:nvSpPr>
        <p:spPr>
          <a:xfrm>
            <a:off x="10989915" y="437033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165" name="Text 163"/>
          <p:cNvSpPr/>
          <p:nvPr/>
        </p:nvSpPr>
        <p:spPr>
          <a:xfrm>
            <a:off x="11686133" y="4293245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컴팩트 뷰</a:t>
            </a:r>
            <a:endParaRPr lang="en-US" sz="1898" dirty="0"/>
          </a:p>
        </p:txBody>
      </p:sp>
      <p:sp>
        <p:nvSpPr>
          <p:cNvPr id="166" name="Text 164"/>
          <p:cNvSpPr/>
          <p:nvPr/>
        </p:nvSpPr>
        <p:spPr>
          <a:xfrm>
            <a:off x="11686133" y="462721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A50 기준 MVP 포함, 정보 밀도 최대.</a:t>
            </a:r>
            <a:endParaRPr lang="en-US" sz="1598" dirty="0"/>
          </a:p>
        </p:txBody>
      </p:sp>
      <p:sp>
        <p:nvSpPr>
          <p:cNvPr id="9" name="Shape 7"/>
          <p:cNvSpPr/>
          <p:nvPr/>
        </p:nvSpPr>
        <p:spPr>
          <a:xfrm>
            <a:off x="184437" y="221262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73114" y="228540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79" name="Shape 77"/>
          <p:cNvSpPr/>
          <p:nvPr/>
        </p:nvSpPr>
        <p:spPr>
          <a:xfrm>
            <a:off x="3842037" y="221262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0" name="Text 78"/>
          <p:cNvSpPr/>
          <p:nvPr/>
        </p:nvSpPr>
        <p:spPr>
          <a:xfrm>
            <a:off x="3730714" y="228540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127" name="Shape 125"/>
          <p:cNvSpPr/>
          <p:nvPr/>
        </p:nvSpPr>
        <p:spPr>
          <a:xfrm>
            <a:off x="7499637" y="221262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8" name="Text 126"/>
          <p:cNvSpPr/>
          <p:nvPr/>
        </p:nvSpPr>
        <p:spPr>
          <a:xfrm>
            <a:off x="7388314" y="228540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77118"/>
            <a:ext cx="64044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 · Mobile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49380" y="277118"/>
            <a:ext cx="48974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v1.1 · 프리미엄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580" y="696813"/>
            <a:ext cx="12243816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320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북마크 대시보드 (프리미엄 인사이트)</a:t>
            </a:r>
            <a:endParaRPr lang="en-US" sz="3203" dirty="0"/>
          </a:p>
        </p:txBody>
      </p:sp>
      <p:sp>
        <p:nvSpPr>
          <p:cNvPr id="5" name="Shape 3"/>
          <p:cNvSpPr/>
          <p:nvPr/>
        </p:nvSpPr>
        <p:spPr>
          <a:xfrm>
            <a:off x="1554361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07965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3063180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1124227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인사이트 (스크롤 상단)</a:t>
            </a:r>
            <a:endParaRPr lang="en-US" sz="1702" dirty="0"/>
          </a:p>
        </p:txBody>
      </p:sp>
      <p:sp>
        <p:nvSpPr>
          <p:cNvPr id="9" name="Shape 7"/>
          <p:cNvSpPr/>
          <p:nvPr/>
        </p:nvSpPr>
        <p:spPr>
          <a:xfrm>
            <a:off x="1701105" y="2121098"/>
            <a:ext cx="3273623" cy="401836"/>
          </a:xfrm>
          <a:prstGeom prst="rect">
            <a:avLst/>
          </a:prstGeom>
          <a:solidFill>
            <a:srgbClr val="E5E7EB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7251" y="2222004"/>
            <a:ext cx="35204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| 90일 | 전체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07765" y="212109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297186" y="219387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98" dirty="0"/>
          </a:p>
        </p:txBody>
      </p:sp>
      <p:sp>
        <p:nvSpPr>
          <p:cNvPr id="13" name="Shape 11"/>
          <p:cNvSpPr/>
          <p:nvPr/>
        </p:nvSpPr>
        <p:spPr>
          <a:xfrm>
            <a:off x="1701105" y="2651671"/>
            <a:ext cx="3273623" cy="18288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7251" y="3346996"/>
            <a:ext cx="3520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분포</a:t>
            </a:r>
            <a:endParaRPr lang="en-US" sz="1298" dirty="0"/>
          </a:p>
        </p:txBody>
      </p:sp>
      <p:sp>
        <p:nvSpPr>
          <p:cNvPr id="15" name="Text 13"/>
          <p:cNvSpPr/>
          <p:nvPr/>
        </p:nvSpPr>
        <p:spPr>
          <a:xfrm>
            <a:off x="1577251" y="3566071"/>
            <a:ext cx="3520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(도넛 차트)</a:t>
            </a:r>
            <a:endParaRPr lang="en-US" sz="1298" dirty="0"/>
          </a:p>
        </p:txBody>
      </p:sp>
      <p:sp>
        <p:nvSpPr>
          <p:cNvPr id="16" name="Shape 14"/>
          <p:cNvSpPr/>
          <p:nvPr/>
        </p:nvSpPr>
        <p:spPr>
          <a:xfrm>
            <a:off x="1407765" y="272504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1297186" y="279677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18" name="Shape 16"/>
          <p:cNvSpPr/>
          <p:nvPr/>
        </p:nvSpPr>
        <p:spPr>
          <a:xfrm>
            <a:off x="1701105" y="4590008"/>
            <a:ext cx="3273623" cy="18288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77251" y="5285333"/>
            <a:ext cx="3520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저장 활동</a:t>
            </a:r>
            <a:endParaRPr lang="en-US" sz="1298" dirty="0"/>
          </a:p>
        </p:txBody>
      </p:sp>
      <p:sp>
        <p:nvSpPr>
          <p:cNvPr id="20" name="Text 18"/>
          <p:cNvSpPr/>
          <p:nvPr/>
        </p:nvSpPr>
        <p:spPr>
          <a:xfrm>
            <a:off x="1577251" y="5504408"/>
            <a:ext cx="3520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(최근 8주 막대)</a:t>
            </a:r>
            <a:endParaRPr lang="en-US" sz="1298" dirty="0"/>
          </a:p>
        </p:txBody>
      </p:sp>
      <p:sp>
        <p:nvSpPr>
          <p:cNvPr id="21" name="Shape 19"/>
          <p:cNvSpPr/>
          <p:nvPr/>
        </p:nvSpPr>
        <p:spPr>
          <a:xfrm>
            <a:off x="1407765" y="466338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1297186" y="4736157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23" name="Shape 21"/>
          <p:cNvSpPr/>
          <p:nvPr/>
        </p:nvSpPr>
        <p:spPr>
          <a:xfrm>
            <a:off x="1701105" y="6528346"/>
            <a:ext cx="3273623" cy="164589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77251" y="7241679"/>
            <a:ext cx="3520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 클라우드 TOP10</a:t>
            </a:r>
            <a:endParaRPr lang="en-US" sz="1298" dirty="0"/>
          </a:p>
        </p:txBody>
      </p:sp>
      <p:sp>
        <p:nvSpPr>
          <p:cNvPr id="25" name="Shape 23"/>
          <p:cNvSpPr/>
          <p:nvPr/>
        </p:nvSpPr>
        <p:spPr>
          <a:xfrm>
            <a:off x="1407765" y="6601718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1297186" y="6674495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27" name="Text 25"/>
          <p:cNvSpPr/>
          <p:nvPr/>
        </p:nvSpPr>
        <p:spPr>
          <a:xfrm>
            <a:off x="1537424" y="8312348"/>
            <a:ext cx="360098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스크롤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4980" y="1737271"/>
            <a:ext cx="3566071" cy="7680871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 w="38100">
            <a:solidFill>
              <a:srgbClr val="1118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88436" y="1828800"/>
            <a:ext cx="658118" cy="91380"/>
          </a:xfrm>
          <a:prstGeom prst="roundRect">
            <a:avLst>
              <a:gd name="adj" fmla="val 39609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43800" y="9253538"/>
            <a:ext cx="548580" cy="63698"/>
          </a:xfrm>
          <a:prstGeom prst="roundRect">
            <a:avLst>
              <a:gd name="adj" fmla="val 43365"/>
            </a:avLst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5604698" y="9518154"/>
            <a:ext cx="4426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70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인사이트 (스크롤 하단)</a:t>
            </a:r>
            <a:endParaRPr lang="en-US" sz="1702" dirty="0"/>
          </a:p>
        </p:txBody>
      </p:sp>
      <p:sp>
        <p:nvSpPr>
          <p:cNvPr id="32" name="Shape 30"/>
          <p:cNvSpPr/>
          <p:nvPr/>
        </p:nvSpPr>
        <p:spPr>
          <a:xfrm>
            <a:off x="6181725" y="2212628"/>
            <a:ext cx="3273623" cy="2011561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7870" y="2999333"/>
            <a:ext cx="3520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최다 저장 도메인 TOP5</a:t>
            </a:r>
            <a:endParaRPr lang="en-US" sz="1298" dirty="0"/>
          </a:p>
        </p:txBody>
      </p:sp>
      <p:sp>
        <p:nvSpPr>
          <p:cNvPr id="34" name="Text 32"/>
          <p:cNvSpPr/>
          <p:nvPr/>
        </p:nvSpPr>
        <p:spPr>
          <a:xfrm>
            <a:off x="6057870" y="3218408"/>
            <a:ext cx="3520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(순위 리스트)</a:t>
            </a:r>
            <a:endParaRPr lang="en-US" sz="1298" dirty="0"/>
          </a:p>
        </p:txBody>
      </p:sp>
      <p:sp>
        <p:nvSpPr>
          <p:cNvPr id="35" name="Shape 33"/>
          <p:cNvSpPr/>
          <p:nvPr/>
        </p:nvSpPr>
        <p:spPr>
          <a:xfrm>
            <a:off x="5888236" y="2286000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5777805" y="235862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98" dirty="0"/>
          </a:p>
        </p:txBody>
      </p:sp>
      <p:sp>
        <p:nvSpPr>
          <p:cNvPr id="37" name="Shape 35"/>
          <p:cNvSpPr/>
          <p:nvPr/>
        </p:nvSpPr>
        <p:spPr>
          <a:xfrm>
            <a:off x="6181725" y="4407098"/>
            <a:ext cx="3273623" cy="237738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57870" y="5376714"/>
            <a:ext cx="3520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활동 히트맵</a:t>
            </a:r>
            <a:endParaRPr lang="en-US" sz="1298" dirty="0"/>
          </a:p>
        </p:txBody>
      </p:sp>
      <p:sp>
        <p:nvSpPr>
          <p:cNvPr id="39" name="Text 37"/>
          <p:cNvSpPr/>
          <p:nvPr/>
        </p:nvSpPr>
        <p:spPr>
          <a:xfrm>
            <a:off x="6057870" y="5595789"/>
            <a:ext cx="3520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2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(가로 스크롤)</a:t>
            </a:r>
            <a:endParaRPr lang="en-US" sz="1298" dirty="0"/>
          </a:p>
        </p:txBody>
      </p:sp>
      <p:sp>
        <p:nvSpPr>
          <p:cNvPr id="40" name="Shape 38"/>
          <p:cNvSpPr/>
          <p:nvPr/>
        </p:nvSpPr>
        <p:spPr>
          <a:xfrm>
            <a:off x="5888236" y="4480471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5777805" y="455324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98" dirty="0"/>
          </a:p>
        </p:txBody>
      </p:sp>
      <p:sp>
        <p:nvSpPr>
          <p:cNvPr id="42" name="Shape 40"/>
          <p:cNvSpPr/>
          <p:nvPr/>
        </p:nvSpPr>
        <p:spPr>
          <a:xfrm>
            <a:off x="11064180" y="1554361"/>
            <a:ext cx="6675090" cy="5485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3" name="Text 41"/>
          <p:cNvSpPr/>
          <p:nvPr/>
        </p:nvSpPr>
        <p:spPr>
          <a:xfrm>
            <a:off x="11210925" y="1669703"/>
            <a:ext cx="6574122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20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2002" dirty="0"/>
          </a:p>
        </p:txBody>
      </p:sp>
      <p:sp>
        <p:nvSpPr>
          <p:cNvPr id="44" name="Shape 42"/>
          <p:cNvSpPr/>
          <p:nvPr/>
        </p:nvSpPr>
        <p:spPr>
          <a:xfrm>
            <a:off x="11100346" y="232216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10989915" y="2394942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98" dirty="0"/>
          </a:p>
        </p:txBody>
      </p:sp>
      <p:sp>
        <p:nvSpPr>
          <p:cNvPr id="46" name="Text 44"/>
          <p:cNvSpPr/>
          <p:nvPr/>
        </p:nvSpPr>
        <p:spPr>
          <a:xfrm>
            <a:off x="11686133" y="2318593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분포</a:t>
            </a:r>
            <a:endParaRPr lang="en-US" sz="1898" dirty="0"/>
          </a:p>
        </p:txBody>
      </p:sp>
      <p:sp>
        <p:nvSpPr>
          <p:cNvPr id="47" name="Text 45"/>
          <p:cNvSpPr/>
          <p:nvPr/>
        </p:nvSpPr>
        <p:spPr>
          <a:xfrm>
            <a:off x="11686133" y="2651671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도넛 차트.</a:t>
            </a:r>
            <a:endParaRPr lang="en-US" sz="1598" dirty="0"/>
          </a:p>
        </p:txBody>
      </p:sp>
      <p:sp>
        <p:nvSpPr>
          <p:cNvPr id="48" name="Shape 46"/>
          <p:cNvSpPr/>
          <p:nvPr/>
        </p:nvSpPr>
        <p:spPr>
          <a:xfrm>
            <a:off x="11064180" y="2944118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9" name="Shape 47"/>
          <p:cNvSpPr/>
          <p:nvPr/>
        </p:nvSpPr>
        <p:spPr>
          <a:xfrm>
            <a:off x="11100346" y="309086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0" name="Text 48"/>
          <p:cNvSpPr/>
          <p:nvPr/>
        </p:nvSpPr>
        <p:spPr>
          <a:xfrm>
            <a:off x="10989915" y="316259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98" dirty="0"/>
          </a:p>
        </p:txBody>
      </p:sp>
      <p:sp>
        <p:nvSpPr>
          <p:cNvPr id="51" name="Text 49"/>
          <p:cNvSpPr/>
          <p:nvPr/>
        </p:nvSpPr>
        <p:spPr>
          <a:xfrm>
            <a:off x="11686133" y="3086398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저장 활동</a:t>
            </a:r>
            <a:endParaRPr lang="en-US" sz="1898" dirty="0"/>
          </a:p>
        </p:txBody>
      </p:sp>
      <p:sp>
        <p:nvSpPr>
          <p:cNvPr id="52" name="Text 50"/>
          <p:cNvSpPr/>
          <p:nvPr/>
        </p:nvSpPr>
        <p:spPr>
          <a:xfrm>
            <a:off x="11686133" y="341947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8주 막대 그래프.</a:t>
            </a:r>
            <a:endParaRPr lang="en-US" sz="1598" dirty="0"/>
          </a:p>
        </p:txBody>
      </p:sp>
      <p:sp>
        <p:nvSpPr>
          <p:cNvPr id="53" name="Shape 51"/>
          <p:cNvSpPr/>
          <p:nvPr/>
        </p:nvSpPr>
        <p:spPr>
          <a:xfrm>
            <a:off x="11064180" y="3748980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4" name="Shape 52"/>
          <p:cNvSpPr/>
          <p:nvPr/>
        </p:nvSpPr>
        <p:spPr>
          <a:xfrm>
            <a:off x="11100346" y="389572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5" name="Text 53"/>
          <p:cNvSpPr/>
          <p:nvPr/>
        </p:nvSpPr>
        <p:spPr>
          <a:xfrm>
            <a:off x="10989915" y="396746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98" dirty="0"/>
          </a:p>
        </p:txBody>
      </p:sp>
      <p:sp>
        <p:nvSpPr>
          <p:cNvPr id="56" name="Text 54"/>
          <p:cNvSpPr/>
          <p:nvPr/>
        </p:nvSpPr>
        <p:spPr>
          <a:xfrm>
            <a:off x="11686133" y="3891260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쓴 태그 TOP10</a:t>
            </a:r>
            <a:endParaRPr lang="en-US" sz="1898" dirty="0"/>
          </a:p>
        </p:txBody>
      </p:sp>
      <p:sp>
        <p:nvSpPr>
          <p:cNvPr id="57" name="Text 55"/>
          <p:cNvSpPr/>
          <p:nvPr/>
        </p:nvSpPr>
        <p:spPr>
          <a:xfrm>
            <a:off x="11686133" y="4224338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태그클라우드, 크기=빈도.</a:t>
            </a:r>
            <a:endParaRPr lang="en-US" sz="1598" dirty="0"/>
          </a:p>
        </p:txBody>
      </p:sp>
      <p:sp>
        <p:nvSpPr>
          <p:cNvPr id="58" name="Shape 56"/>
          <p:cNvSpPr/>
          <p:nvPr/>
        </p:nvSpPr>
        <p:spPr>
          <a:xfrm>
            <a:off x="11064180" y="4590008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9" name="Shape 57"/>
          <p:cNvSpPr/>
          <p:nvPr/>
        </p:nvSpPr>
        <p:spPr>
          <a:xfrm>
            <a:off x="11100346" y="473675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0" name="Text 58"/>
          <p:cNvSpPr/>
          <p:nvPr/>
        </p:nvSpPr>
        <p:spPr>
          <a:xfrm>
            <a:off x="10989915" y="480848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98" dirty="0"/>
          </a:p>
        </p:txBody>
      </p:sp>
      <p:sp>
        <p:nvSpPr>
          <p:cNvPr id="61" name="Text 59"/>
          <p:cNvSpPr/>
          <p:nvPr/>
        </p:nvSpPr>
        <p:spPr>
          <a:xfrm>
            <a:off x="11686133" y="4732288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최다 저장 도메인 TOP5</a:t>
            </a:r>
            <a:endParaRPr lang="en-US" sz="1898" dirty="0"/>
          </a:p>
        </p:txBody>
      </p:sp>
      <p:sp>
        <p:nvSpPr>
          <p:cNvPr id="62" name="Text 60"/>
          <p:cNvSpPr/>
          <p:nvPr/>
        </p:nvSpPr>
        <p:spPr>
          <a:xfrm>
            <a:off x="11686133" y="506536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리스트.</a:t>
            </a:r>
            <a:endParaRPr lang="en-US" sz="1598" dirty="0"/>
          </a:p>
        </p:txBody>
      </p:sp>
      <p:sp>
        <p:nvSpPr>
          <p:cNvPr id="63" name="Shape 61"/>
          <p:cNvSpPr/>
          <p:nvPr/>
        </p:nvSpPr>
        <p:spPr>
          <a:xfrm>
            <a:off x="11064180" y="5394871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0346" y="5541615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5" name="Text 63"/>
          <p:cNvSpPr/>
          <p:nvPr/>
        </p:nvSpPr>
        <p:spPr>
          <a:xfrm>
            <a:off x="10989915" y="5613350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98" dirty="0"/>
          </a:p>
        </p:txBody>
      </p:sp>
      <p:sp>
        <p:nvSpPr>
          <p:cNvPr id="66" name="Text 64"/>
          <p:cNvSpPr/>
          <p:nvPr/>
        </p:nvSpPr>
        <p:spPr>
          <a:xfrm>
            <a:off x="11686133" y="5537150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활동 히트맵</a:t>
            </a:r>
            <a:endParaRPr lang="en-US" sz="1898" dirty="0"/>
          </a:p>
        </p:txBody>
      </p:sp>
      <p:sp>
        <p:nvSpPr>
          <p:cNvPr id="67" name="Text 65"/>
          <p:cNvSpPr/>
          <p:nvPr/>
        </p:nvSpPr>
        <p:spPr>
          <a:xfrm>
            <a:off x="11686133" y="5870228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contribution 스타일 — 모바일은 가로 스크롤.</a:t>
            </a:r>
            <a:endParaRPr lang="en-US" sz="1598" dirty="0"/>
          </a:p>
        </p:txBody>
      </p:sp>
      <p:sp>
        <p:nvSpPr>
          <p:cNvPr id="68" name="Shape 66"/>
          <p:cNvSpPr/>
          <p:nvPr/>
        </p:nvSpPr>
        <p:spPr>
          <a:xfrm>
            <a:off x="11064180" y="6418808"/>
            <a:ext cx="667509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0346" y="6565553"/>
            <a:ext cx="401836" cy="4018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0" name="Text 68"/>
          <p:cNvSpPr/>
          <p:nvPr/>
        </p:nvSpPr>
        <p:spPr>
          <a:xfrm>
            <a:off x="10989915" y="6637288"/>
            <a:ext cx="624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5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98" dirty="0"/>
          </a:p>
        </p:txBody>
      </p:sp>
      <p:sp>
        <p:nvSpPr>
          <p:cNvPr id="71" name="Text 69"/>
          <p:cNvSpPr/>
          <p:nvPr/>
        </p:nvSpPr>
        <p:spPr>
          <a:xfrm>
            <a:off x="11686133" y="6561088"/>
            <a:ext cx="6234732" cy="33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98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선택</a:t>
            </a:r>
            <a:endParaRPr lang="en-US" sz="1898" dirty="0"/>
          </a:p>
        </p:txBody>
      </p:sp>
      <p:sp>
        <p:nvSpPr>
          <p:cNvPr id="72" name="Text 70"/>
          <p:cNvSpPr/>
          <p:nvPr/>
        </p:nvSpPr>
        <p:spPr>
          <a:xfrm>
            <a:off x="11686133" y="6894165"/>
            <a:ext cx="6234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59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30일/90일/전체. 무료는 최근 7일 요약만 노출. 차트는 세로 스택.</a:t>
            </a:r>
            <a:endParaRPr lang="en-US" sz="159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2914</Words>
  <Application>Microsoft Office PowerPoint</Application>
  <PresentationFormat>사용자 지정</PresentationFormat>
  <Paragraphs>770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Ray Yang</cp:lastModifiedBy>
  <cp:revision>17</cp:revision>
  <dcterms:created xsi:type="dcterms:W3CDTF">2026-07-14T08:42:43Z</dcterms:created>
  <dcterms:modified xsi:type="dcterms:W3CDTF">2026-07-14T08:54:15Z</dcterms:modified>
</cp:coreProperties>
</file>