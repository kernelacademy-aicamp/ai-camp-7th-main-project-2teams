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29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2-4.svg"/><Relationship Id="rId5" Type="http://schemas.openxmlformats.org/officeDocument/2006/relationships/image" Target="../media/image2.png"/><Relationship Id="rId4" Type="http://schemas.openxmlformats.org/officeDocument/2006/relationships/image" Target="../media/image-12-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4-4.svg"/><Relationship Id="rId5" Type="http://schemas.openxmlformats.org/officeDocument/2006/relationships/image" Target="../media/image4.png"/><Relationship Id="rId4" Type="http://schemas.openxmlformats.org/officeDocument/2006/relationships/image" Target="../media/image-14-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161" y="3689896"/>
            <a:ext cx="16576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모와바 (Mowaba)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161" y="4874270"/>
            <a:ext cx="165761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최종안 반영 · 번호 배지 · Description 패널 적용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97161" y="5577780"/>
            <a:ext cx="4023271" cy="10968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1097161" y="7863780"/>
            <a:ext cx="165761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반영: 죽은 링크(dead link) 감지·경고 배지 · 카카오톡 CSV 임포트 지원 · IA 화면 요소에 빨간 번호 배지 → 우측 Description과 1:1 매칭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· Web App (실제 화면)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비로그인 진입 흐름 — 시작하기 → 로그인 → Google 계속하기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비로그인 · 실제 배포본 반영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5211961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871" y="1331863"/>
            <a:ext cx="48032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3B4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Mowaba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2920" y="2024062"/>
            <a:ext cx="48032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저장한 북마크를 AI가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2920" y="2286000"/>
            <a:ext cx="48032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정리합니다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9702" y="2860774"/>
            <a:ext cx="512971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태그·카테고리 자동 분류,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89702" y="3063180"/>
            <a:ext cx="512971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검색까지 한 번에.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723900" y="3619500"/>
            <a:ext cx="1524000" cy="15240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250" y="3771900"/>
            <a:ext cx="1333500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Chrome 익스텐션 설치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2390775" y="3619500"/>
            <a:ext cx="1524000" cy="15240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4125" y="3771900"/>
            <a:ext cx="1333500" cy="693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북마크 저장하기 (Cmd+Shift+S)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4057650" y="3619500"/>
            <a:ext cx="1524000" cy="15240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1000" y="3771900"/>
            <a:ext cx="1383030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자연어로 검색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462980" y="7132290"/>
            <a:ext cx="3383161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3822" y="7378898"/>
            <a:ext cx="37214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62980" y="6693396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1424880" y="675709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31061" y="5112841"/>
            <a:ext cx="7161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00800" y="1097161"/>
            <a:ext cx="5211961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671" y="1737271"/>
            <a:ext cx="585192" cy="5851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5" name="Shape 23"/>
          <p:cNvSpPr/>
          <p:nvPr/>
        </p:nvSpPr>
        <p:spPr>
          <a:xfrm>
            <a:off x="9061698" y="1737271"/>
            <a:ext cx="585192" cy="5851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671" y="2322463"/>
            <a:ext cx="585192" cy="5851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9061698" y="2322463"/>
            <a:ext cx="585192" cy="5851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6322621" y="3115121"/>
            <a:ext cx="53683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Mowaba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140202" y="3592711"/>
            <a:ext cx="57331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자동으로 정리하는 북마크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6949380" y="4297561"/>
            <a:ext cx="4114800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3640" y="4544169"/>
            <a:ext cx="4526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Google로 계속하기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380" y="3858667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3" name="Text 31"/>
          <p:cNvSpPr/>
          <p:nvPr/>
        </p:nvSpPr>
        <p:spPr>
          <a:xfrm>
            <a:off x="6911280" y="392236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49380" y="5211961"/>
            <a:ext cx="4114800" cy="731490"/>
          </a:xfrm>
          <a:prstGeom prst="rect">
            <a:avLst/>
          </a:prstGeom>
          <a:solidFill>
            <a:srgbClr val="F5D949"/>
          </a:solidFill>
          <a:ln w="28575">
            <a:solidFill>
              <a:srgbClr val="D9C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3640" y="5458569"/>
            <a:ext cx="4526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카카오로 계속하기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949380" y="4773067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7" name="Text 35"/>
          <p:cNvSpPr/>
          <p:nvPr/>
        </p:nvSpPr>
        <p:spPr>
          <a:xfrm>
            <a:off x="6911280" y="483676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40202" y="6390829"/>
            <a:ext cx="57331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6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보기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8622655" y="5870377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0" name="Text 38"/>
          <p:cNvSpPr/>
          <p:nvPr/>
        </p:nvSpPr>
        <p:spPr>
          <a:xfrm>
            <a:off x="8584555" y="593407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5" name="Text 43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 버튼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랜딩(/welcome) 하단 CTA. 클릭 시 로그인 페이지(/login)로 이동.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1978580" y="290765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9" name="Shape 47"/>
          <p:cNvSpPr/>
          <p:nvPr/>
        </p:nvSpPr>
        <p:spPr>
          <a:xfrm>
            <a:off x="12197953" y="2999184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0" name="Text 48"/>
          <p:cNvSpPr/>
          <p:nvPr/>
        </p:nvSpPr>
        <p:spPr>
          <a:xfrm>
            <a:off x="12159853" y="306288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3148965" y="302627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Google로 계속하기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2197953" y="3401467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기본 로그인 방식. 클릭 시 Google OAuth 진행.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11978580" y="41148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4" name="Shape 52"/>
          <p:cNvSpPr/>
          <p:nvPr/>
        </p:nvSpPr>
        <p:spPr>
          <a:xfrm>
            <a:off x="12197953" y="42061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5" name="Text 53"/>
          <p:cNvSpPr/>
          <p:nvPr/>
        </p:nvSpPr>
        <p:spPr>
          <a:xfrm>
            <a:off x="12159853" y="42698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3148965" y="423326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카카오로 계속하기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2197953" y="4608463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배포본에 이미 노출 중 (기존 IA상 v1.1 계획보다 앞당겨 반영됨).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1978580" y="5321796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9" name="Shape 57"/>
          <p:cNvSpPr/>
          <p:nvPr/>
        </p:nvSpPr>
        <p:spPr>
          <a:xfrm>
            <a:off x="12197953" y="5413177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853" y="547687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3148965" y="5440263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보기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2197953" y="5815459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없이 랜딩(/welcome) 다시 확인 가능한 링크.</a:t>
            </a:r>
            <a:endParaRPr lang="en-US" sz="1275" dirty="0"/>
          </a:p>
        </p:txBody>
      </p:sp>
      <p:sp>
        <p:nvSpPr>
          <p:cNvPr id="63" name="Shape 61"/>
          <p:cNvSpPr/>
          <p:nvPr/>
        </p:nvSpPr>
        <p:spPr>
          <a:xfrm>
            <a:off x="11978580" y="6528792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4" name="Shape 62"/>
          <p:cNvSpPr/>
          <p:nvPr/>
        </p:nvSpPr>
        <p:spPr>
          <a:xfrm>
            <a:off x="12197953" y="662017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5" name="Text 63"/>
          <p:cNvSpPr/>
          <p:nvPr/>
        </p:nvSpPr>
        <p:spPr>
          <a:xfrm>
            <a:off x="12159853" y="668387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3148965" y="6647259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진행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2197953" y="7022455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선택 → 권한 동의 → 로그인 완료 → 대시보드 이동.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548580" y="9618166"/>
            <a:ext cx="1139610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배포본(ai-camp-7th-main-project-2teams-li8.vercel.app) 캡처 기준 재구성 — 랜딩 타이틀 아직 "Bookmarker"(구 서비스명) 잔존, 로그인 화면은 "Mowaba"로 갱신됨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· Chrome Ext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— 비로그인 상태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비로그인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780" y="2194471"/>
            <a:ext cx="3291780" cy="182880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780" y="2194471"/>
            <a:ext cx="3291780" cy="182880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780" y="2194471"/>
            <a:ext cx="3291780" cy="182880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780" y="19201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4396680" y="19838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871" y="4754761"/>
            <a:ext cx="36576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8991" y="5092898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버튼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51871" y="44804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213771" y="45441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(비로그인)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팝업 진입 시 기본 화면. MVP, 비로그인 상태.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버튼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구글 로그인 진행, 로그인 후 저장 기능 활성화.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Chrome Ext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— 로그인 후 저장 흐름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로그인 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071" y="1737271"/>
            <a:ext cx="2925961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773" y="2075408"/>
            <a:ext cx="32185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버튼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071" y="14629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241971" y="15266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50990" y="2018556"/>
            <a:ext cx="716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120580" y="1737271"/>
            <a:ext cx="3474690" cy="914400"/>
          </a:xfrm>
          <a:prstGeom prst="rect">
            <a:avLst/>
          </a:prstGeom>
          <a:solidFill>
            <a:srgbClr val="E8E8E8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8460" y="2063502"/>
            <a:ext cx="35789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저장됨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580" y="14629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082480" y="15266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071" y="3298031"/>
            <a:ext cx="98892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미리보기 — confidence 0.6 이상만 표시, 0~3개 가변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0071" y="29259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1241971" y="29896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071" y="3931890"/>
            <a:ext cx="2956471" cy="4754761"/>
          </a:xfrm>
          <a:prstGeom prst="rect">
            <a:avLst/>
          </a:prstGeom>
          <a:solidFill>
            <a:srgbClr val="FFFFFF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2980" y="4196358"/>
            <a:ext cx="28498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A · 태그 1개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462980" y="43890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424880" y="44527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462980" y="5120580"/>
            <a:ext cx="2042071" cy="511969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0877" y="5275362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62980" y="5852071"/>
            <a:ext cx="28498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대분류만 명확, 중·소 미확정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4602361" y="3931890"/>
            <a:ext cx="2956471" cy="4754761"/>
          </a:xfrm>
          <a:prstGeom prst="rect">
            <a:avLst/>
          </a:prstGeom>
          <a:solidFill>
            <a:srgbClr val="FFFFFF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5271" y="4196358"/>
            <a:ext cx="28498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B · 태그 2개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4785271" y="43890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4747171" y="44527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85271" y="5120580"/>
            <a:ext cx="2042071" cy="475357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3167" y="5257056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4785271" y="5705773"/>
            <a:ext cx="2042071" cy="475357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3167" y="5842248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4785271" y="6400800"/>
            <a:ext cx="2668524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대분류+중분류, 소분류 confidence 미달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7924800" y="3931890"/>
            <a:ext cx="2956471" cy="4754761"/>
          </a:xfrm>
          <a:prstGeom prst="rect">
            <a:avLst/>
          </a:prstGeom>
          <a:solidFill>
            <a:srgbClr val="FFFFFF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7561" y="4196358"/>
            <a:ext cx="28498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C · 태그 3개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8107561" y="43890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8" name="Text 36"/>
          <p:cNvSpPr/>
          <p:nvPr/>
        </p:nvSpPr>
        <p:spPr>
          <a:xfrm>
            <a:off x="8069461" y="44527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107561" y="5120580"/>
            <a:ext cx="2042071" cy="438894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5457" y="5238750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8107561" y="5650855"/>
            <a:ext cx="2042071" cy="438894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5457" y="5769025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8107561" y="6181279"/>
            <a:ext cx="2042071" cy="438894"/>
          </a:xfrm>
          <a:prstGeom prst="rect">
            <a:avLst/>
          </a:prstGeom>
          <a:solidFill>
            <a:srgbClr val="E8E8E8"/>
          </a:solidFill>
          <a:ln w="2857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5457" y="6299448"/>
            <a:ext cx="224627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8107561" y="6858000"/>
            <a:ext cx="28498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대·중·소 모두 confidence 0.6 이상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0" name="Text 48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버튼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2197953" y="2194471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단축키: Cmd+Shift+S 또는 익스텐션 버튼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12331303" y="2443014"/>
            <a:ext cx="572062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탭 제목, URL, 본문 앞 2000자 수집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12197953" y="2691557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POST /api/bookmarks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12331303" y="2940100"/>
            <a:ext cx="572062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(user_id,url) UNIQUE + upsert로 중복 저장 방지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2197953" y="3188643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저장 시점 URL 상태 코드 확인(HEAD 우선, 실패 시 GET 폴백)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12197953" y="3437186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원문 텍스트는 서버 처리 후 저장하지 않음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1978580" y="393189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9" name="Shape 57"/>
          <p:cNvSpPr/>
          <p:nvPr/>
        </p:nvSpPr>
        <p:spPr>
          <a:xfrm>
            <a:off x="12197953" y="40232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853" y="40869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3148965" y="405035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완료 토스트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2197953" y="4425553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1.5초, 최대 3초 이내 노출.</a:t>
            </a:r>
            <a:endParaRPr lang="en-US" sz="1275" dirty="0"/>
          </a:p>
        </p:txBody>
      </p:sp>
      <p:sp>
        <p:nvSpPr>
          <p:cNvPr id="63" name="Shape 61"/>
          <p:cNvSpPr/>
          <p:nvPr/>
        </p:nvSpPr>
        <p:spPr>
          <a:xfrm>
            <a:off x="11978580" y="4882753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4" name="Shape 62"/>
          <p:cNvSpPr/>
          <p:nvPr/>
        </p:nvSpPr>
        <p:spPr>
          <a:xfrm>
            <a:off x="12197953" y="4974282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5" name="Text 63"/>
          <p:cNvSpPr/>
          <p:nvPr/>
        </p:nvSpPr>
        <p:spPr>
          <a:xfrm>
            <a:off x="12159853" y="503798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3148965" y="5001369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미리보기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2197953" y="5376565"/>
            <a:ext cx="54814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자동 태깅, 대분류 13종 기준. 태그 0~3개 가변, confidence 0.6 미만은 자동 제외.</a:t>
            </a:r>
            <a:endParaRPr lang="en-US" sz="1275" dirty="0"/>
          </a:p>
        </p:txBody>
      </p:sp>
      <p:sp>
        <p:nvSpPr>
          <p:cNvPr id="68" name="Shape 66"/>
          <p:cNvSpPr/>
          <p:nvPr/>
        </p:nvSpPr>
        <p:spPr>
          <a:xfrm>
            <a:off x="11978580" y="6345882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9" name="Shape 67"/>
          <p:cNvSpPr/>
          <p:nvPr/>
        </p:nvSpPr>
        <p:spPr>
          <a:xfrm>
            <a:off x="12197953" y="643726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0" name="Text 68"/>
          <p:cNvSpPr/>
          <p:nvPr/>
        </p:nvSpPr>
        <p:spPr>
          <a:xfrm>
            <a:off x="12159853" y="650096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3148965" y="6464498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A (1개)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12197953" y="6839694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대분류만 확신도 충족, 중·소분류는 애매하거나 정보 부족.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11978580" y="7552879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4" name="Shape 72"/>
          <p:cNvSpPr/>
          <p:nvPr/>
        </p:nvSpPr>
        <p:spPr>
          <a:xfrm>
            <a:off x="12197953" y="7644259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5" name="Text 73"/>
          <p:cNvSpPr/>
          <p:nvPr/>
        </p:nvSpPr>
        <p:spPr>
          <a:xfrm>
            <a:off x="12159853" y="770795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13148965" y="767149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B (2개)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12197953" y="8046690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대+중분류 확신도 충족, 소분류만 제외.</a:t>
            </a:r>
            <a:endParaRPr lang="en-US" sz="1275" dirty="0"/>
          </a:p>
        </p:txBody>
      </p:sp>
      <p:sp>
        <p:nvSpPr>
          <p:cNvPr id="78" name="Shape 76"/>
          <p:cNvSpPr/>
          <p:nvPr/>
        </p:nvSpPr>
        <p:spPr>
          <a:xfrm>
            <a:off x="11978580" y="850389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9" name="Shape 77"/>
          <p:cNvSpPr/>
          <p:nvPr/>
        </p:nvSpPr>
        <p:spPr>
          <a:xfrm>
            <a:off x="12197953" y="85952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0" name="Text 78"/>
          <p:cNvSpPr/>
          <p:nvPr/>
        </p:nvSpPr>
        <p:spPr>
          <a:xfrm>
            <a:off x="12159853" y="86589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13148965" y="862235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C (3개)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12197953" y="8997553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대·중·소 모두 confidence 0.6 이상 — 가장 이상적인 케이스.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랜딩 페이지 (/welcome)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비로그인 · PRD A39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780" y="1645890"/>
            <a:ext cx="10149780" cy="2011561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534" y="2520702"/>
            <a:ext cx="104542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섹션 (3개)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05780" y="13716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967680" y="14352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780" y="4023271"/>
            <a:ext cx="3261271" cy="256029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717" y="5184279"/>
            <a:ext cx="35873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49961" y="4023271"/>
            <a:ext cx="3261271" cy="256029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6897" y="5184279"/>
            <a:ext cx="35873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94290" y="4023271"/>
            <a:ext cx="3261271" cy="256029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1227" y="5184279"/>
            <a:ext cx="35873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871" y="7132290"/>
            <a:ext cx="36576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8991" y="7470428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버튼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51871" y="68580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4213771" y="69216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섹션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ServiceFeatures 공용 컴포넌트 사용, 3섹션 노출.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1978580" y="290765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7953" y="2999184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12159853" y="306288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148965" y="302627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분기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197953" y="3401467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인증 상태에 따라 CTA 분기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197953" y="3650010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비로그인: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클릭 시 로그인 페이지로 이동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197953" y="3898553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후: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클릭 시 대시보드 홈으로 이동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 (신규 유저)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신규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161" y="1645890"/>
            <a:ext cx="9966871" cy="182880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7658" y="2429321"/>
            <a:ext cx="1026587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웹스토어 링크 안내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97161" y="13716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059061" y="14352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161" y="3840361"/>
            <a:ext cx="9966871" cy="4754761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161" y="3840361"/>
            <a:ext cx="9966871" cy="4754761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161" y="3840361"/>
            <a:ext cx="9966871" cy="4754761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658" y="6086773"/>
            <a:ext cx="1026587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GIF (첫 저장 과정)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97161" y="35660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9061" y="36297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설치 안내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웹스토어 링크 안내.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북마크 저장 유도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모멘트 유도. 하위에 데모 GIF(2.1)로 첫 저장 과정을 보여줌.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페이지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비로그인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4890" y="1828800"/>
            <a:ext cx="2011561" cy="182880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890" y="1828800"/>
            <a:ext cx="2011561" cy="182880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890" y="1828800"/>
            <a:ext cx="2011561" cy="182880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290" y="4206180"/>
            <a:ext cx="4754761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52" y="4544318"/>
            <a:ext cx="52302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03290" y="39318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3665190" y="39955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03290" y="5486400"/>
            <a:ext cx="4754761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52" y="5824538"/>
            <a:ext cx="52302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/ 네이버 (v1.1)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03290" y="52119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3665190" y="52756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기본 로그인 방식.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7" name="Text 25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/ 네이버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빠른 추가 옵션, MVP 제외.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레이아웃 — 대시보드 전체 구조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로그인 후 · 핵심화면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2834580" cy="8412361"/>
          </a:xfrm>
          <a:prstGeom prst="rect">
            <a:avLst/>
          </a:prstGeom>
          <a:solidFill>
            <a:srgbClr val="F5F5F5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490" y="112395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" name="Text 6"/>
          <p:cNvSpPr/>
          <p:nvPr/>
        </p:nvSpPr>
        <p:spPr>
          <a:xfrm>
            <a:off x="693390" y="118764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490" y="1447800"/>
            <a:ext cx="784771" cy="43815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390" y="1571625"/>
            <a:ext cx="86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573411" y="1447800"/>
            <a:ext cx="784771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5311" y="1571625"/>
            <a:ext cx="86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즐겨찾기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415480" y="1447800"/>
            <a:ext cx="784771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380" y="1571625"/>
            <a:ext cx="86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폴더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31490" y="200025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93390" y="206394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490" y="2394347"/>
            <a:ext cx="271563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▾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31490" y="2743200"/>
            <a:ext cx="2468761" cy="40005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886075"/>
            <a:ext cx="114300" cy="1143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950" y="28479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31490" y="32004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343275"/>
            <a:ext cx="114300" cy="1143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950" y="33051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31490" y="36576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800475"/>
            <a:ext cx="114300" cy="1143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" y="37623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31490" y="41148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257675"/>
            <a:ext cx="114300" cy="1143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123950" y="42195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라이프스타일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731490" y="45720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714875"/>
            <a:ext cx="114300" cy="1143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1123950" y="46767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731490" y="50292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5172075"/>
            <a:ext cx="114300" cy="1143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1123950" y="51339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731490" y="54864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629275"/>
            <a:ext cx="114300" cy="114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1123950" y="55911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731490" y="59436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6086475"/>
            <a:ext cx="114300" cy="1143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123950" y="60483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731490" y="64008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6543675"/>
            <a:ext cx="114300" cy="114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123950" y="65055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731490" y="68580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7000875"/>
            <a:ext cx="1143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1123950" y="69627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731490" y="73152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7458075"/>
            <a:ext cx="114300" cy="1143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23950" y="74199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731490" y="7772400"/>
            <a:ext cx="2468761" cy="40005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7915275"/>
            <a:ext cx="114300" cy="1143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1123950" y="7877175"/>
            <a:ext cx="2179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미분류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731490" y="83058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5" name="Text 53"/>
          <p:cNvSpPr/>
          <p:nvPr/>
        </p:nvSpPr>
        <p:spPr>
          <a:xfrm>
            <a:off x="693390" y="83694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31490" y="8629650"/>
            <a:ext cx="2468761" cy="58519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52" y="8821043"/>
            <a:ext cx="271563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아바타 + 메일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3602682" y="1097161"/>
            <a:ext cx="8010079" cy="767953"/>
          </a:xfrm>
          <a:prstGeom prst="rect">
            <a:avLst/>
          </a:prstGeom>
          <a:solidFill>
            <a:srgbClr val="F9F9F9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85592" y="1206996"/>
            <a:ext cx="548580" cy="54858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85592" y="1206996"/>
            <a:ext cx="548580" cy="54858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85592" y="1206996"/>
            <a:ext cx="548580" cy="54858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59911" y="1381125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사용법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8793361" y="1238250"/>
            <a:ext cx="1143000" cy="47625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5261" y="1381125"/>
            <a:ext cx="1219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업로드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10069711" y="1238250"/>
            <a:ext cx="1428750" cy="476250"/>
          </a:xfrm>
          <a:prstGeom prst="rect">
            <a:avLst/>
          </a:prstGeom>
          <a:solidFill>
            <a:srgbClr val="E0E0E0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98273" y="1381125"/>
            <a:ext cx="1571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북마크 추가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10057354" y="1014285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8" name="Text 66"/>
          <p:cNvSpPr/>
          <p:nvPr/>
        </p:nvSpPr>
        <p:spPr>
          <a:xfrm>
            <a:off x="10031611" y="1040011"/>
            <a:ext cx="8441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602682" y="2103090"/>
            <a:ext cx="8010079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85592" y="2212777"/>
            <a:ext cx="4004965" cy="511969"/>
          </a:xfrm>
          <a:prstGeom prst="rect">
            <a:avLst/>
          </a:prstGeom>
          <a:solidFill>
            <a:srgbClr val="999999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85592" y="2367558"/>
            <a:ext cx="4405461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검색</a:t>
            </a:r>
            <a:endParaRPr lang="en-US" sz="1275" dirty="0"/>
          </a:p>
        </p:txBody>
      </p:sp>
      <p:sp>
        <p:nvSpPr>
          <p:cNvPr id="72" name="Shape 70"/>
          <p:cNvSpPr/>
          <p:nvPr/>
        </p:nvSpPr>
        <p:spPr>
          <a:xfrm>
            <a:off x="3773235" y="19201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3" name="Text 71"/>
          <p:cNvSpPr/>
          <p:nvPr/>
        </p:nvSpPr>
        <p:spPr>
          <a:xfrm>
            <a:off x="3747492" y="19838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3602682" y="3017490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90325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6" name="Text 74"/>
          <p:cNvSpPr/>
          <p:nvPr/>
        </p:nvSpPr>
        <p:spPr>
          <a:xfrm>
            <a:off x="3564582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3712369" y="3127177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12369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12369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12369" y="3639294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1" name="Shape 79"/>
          <p:cNvSpPr/>
          <p:nvPr/>
        </p:nvSpPr>
        <p:spPr>
          <a:xfrm>
            <a:off x="3712369" y="3876973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2" name="Shape 80"/>
          <p:cNvSpPr/>
          <p:nvPr/>
        </p:nvSpPr>
        <p:spPr>
          <a:xfrm>
            <a:off x="6242298" y="3017490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51984" y="3127177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51984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51984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51984" y="3639294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7" name="Shape 85"/>
          <p:cNvSpPr/>
          <p:nvPr/>
        </p:nvSpPr>
        <p:spPr>
          <a:xfrm>
            <a:off x="6351984" y="3876973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Shape 86"/>
          <p:cNvSpPr/>
          <p:nvPr/>
        </p:nvSpPr>
        <p:spPr>
          <a:xfrm>
            <a:off x="8881765" y="3017490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91600" y="3127177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91600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91600" y="3127177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91600" y="3639294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3" name="Shape 91"/>
          <p:cNvSpPr/>
          <p:nvPr/>
        </p:nvSpPr>
        <p:spPr>
          <a:xfrm>
            <a:off x="8991600" y="3876973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4" name="Shape 92"/>
          <p:cNvSpPr/>
          <p:nvPr/>
        </p:nvSpPr>
        <p:spPr>
          <a:xfrm>
            <a:off x="3602682" y="5248573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12369" y="5358259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12369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12369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12369" y="5870377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9" name="Shape 97"/>
          <p:cNvSpPr/>
          <p:nvPr/>
        </p:nvSpPr>
        <p:spPr>
          <a:xfrm>
            <a:off x="3712369" y="6108055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0" name="Shape 98"/>
          <p:cNvSpPr/>
          <p:nvPr/>
        </p:nvSpPr>
        <p:spPr>
          <a:xfrm>
            <a:off x="6242298" y="5248573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351984" y="5358259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51984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51984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51984" y="5870377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351984" y="6108055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881765" y="5248573"/>
            <a:ext cx="2365177" cy="20115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91600" y="5358259"/>
            <a:ext cx="402282" cy="402282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91600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91600" y="5358259"/>
            <a:ext cx="402282" cy="402282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91600" y="5870377"/>
            <a:ext cx="2145655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991600" y="6108055"/>
            <a:ext cx="1180058" cy="1096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115" name="Shape 113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6" name="Text 114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선택 네비게이션</a:t>
            </a:r>
            <a:endParaRPr lang="en-US" sz="1500" dirty="0"/>
          </a:p>
        </p:txBody>
      </p:sp>
      <p:sp>
        <p:nvSpPr>
          <p:cNvPr id="118" name="Text 116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이동</a:t>
            </a:r>
            <a:endParaRPr lang="en-US" sz="1275" dirty="0"/>
          </a:p>
        </p:txBody>
      </p:sp>
      <p:sp>
        <p:nvSpPr>
          <p:cNvPr id="119" name="Shape 117"/>
          <p:cNvSpPr/>
          <p:nvPr/>
        </p:nvSpPr>
        <p:spPr>
          <a:xfrm>
            <a:off x="11978580" y="290765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2197953" y="2999184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1" name="Text 119"/>
          <p:cNvSpPr/>
          <p:nvPr/>
        </p:nvSpPr>
        <p:spPr>
          <a:xfrm>
            <a:off x="12159853" y="306288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2" name="Text 120"/>
          <p:cNvSpPr/>
          <p:nvPr/>
        </p:nvSpPr>
        <p:spPr>
          <a:xfrm>
            <a:off x="13148965" y="302627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드롭다운</a:t>
            </a:r>
            <a:endParaRPr lang="en-US" sz="1500" dirty="0"/>
          </a:p>
        </p:txBody>
      </p:sp>
      <p:sp>
        <p:nvSpPr>
          <p:cNvPr id="123" name="Text 121"/>
          <p:cNvSpPr/>
          <p:nvPr/>
        </p:nvSpPr>
        <p:spPr>
          <a:xfrm>
            <a:off x="12197953" y="3401467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tags[0] 기준 유저별 자동 생성·매핑.</a:t>
            </a:r>
            <a:endParaRPr lang="en-US" sz="1275" dirty="0"/>
          </a:p>
        </p:txBody>
      </p:sp>
      <p:sp>
        <p:nvSpPr>
          <p:cNvPr id="124" name="Shape 122"/>
          <p:cNvSpPr/>
          <p:nvPr/>
        </p:nvSpPr>
        <p:spPr>
          <a:xfrm>
            <a:off x="11978580" y="3858667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2197953" y="3950196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6" name="Text 124"/>
          <p:cNvSpPr/>
          <p:nvPr/>
        </p:nvSpPr>
        <p:spPr>
          <a:xfrm>
            <a:off x="12159853" y="401389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7" name="Text 125"/>
          <p:cNvSpPr/>
          <p:nvPr/>
        </p:nvSpPr>
        <p:spPr>
          <a:xfrm>
            <a:off x="13148965" y="3977283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버튼</a:t>
            </a:r>
            <a:endParaRPr lang="en-US" sz="1500" dirty="0"/>
          </a:p>
        </p:txBody>
      </p:sp>
      <p:sp>
        <p:nvSpPr>
          <p:cNvPr id="128" name="Text 126"/>
          <p:cNvSpPr/>
          <p:nvPr/>
        </p:nvSpPr>
        <p:spPr>
          <a:xfrm>
            <a:off x="12197953" y="4352479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사이드바 하단 고정, 클릭 시 프로필 팝업.</a:t>
            </a:r>
            <a:endParaRPr lang="en-US" sz="1275" dirty="0"/>
          </a:p>
        </p:txBody>
      </p:sp>
      <p:sp>
        <p:nvSpPr>
          <p:cNvPr id="129" name="Shape 127"/>
          <p:cNvSpPr/>
          <p:nvPr/>
        </p:nvSpPr>
        <p:spPr>
          <a:xfrm>
            <a:off x="11978580" y="4809679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2197953" y="4901059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1" name="Text 129"/>
          <p:cNvSpPr/>
          <p:nvPr/>
        </p:nvSpPr>
        <p:spPr>
          <a:xfrm>
            <a:off x="12159853" y="496475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32" name="Text 130"/>
          <p:cNvSpPr/>
          <p:nvPr/>
        </p:nvSpPr>
        <p:spPr>
          <a:xfrm>
            <a:off x="13148965" y="492829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추가 버튼</a:t>
            </a:r>
            <a:endParaRPr lang="en-US" sz="1500" dirty="0"/>
          </a:p>
        </p:txBody>
      </p:sp>
      <p:sp>
        <p:nvSpPr>
          <p:cNvPr id="133" name="Text 131"/>
          <p:cNvSpPr/>
          <p:nvPr/>
        </p:nvSpPr>
        <p:spPr>
          <a:xfrm>
            <a:off x="12197953" y="5303490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클릭 시 파일 임포트 페이지(WEB-14)로 이동</a:t>
            </a:r>
            <a:endParaRPr lang="en-US" sz="1275" dirty="0"/>
          </a:p>
        </p:txBody>
      </p:sp>
      <p:sp>
        <p:nvSpPr>
          <p:cNvPr id="134" name="Text 132"/>
          <p:cNvSpPr/>
          <p:nvPr/>
        </p:nvSpPr>
        <p:spPr>
          <a:xfrm>
            <a:off x="12197953" y="5542508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클릭 시 URL 직접 추가 팝업 열기</a:t>
            </a:r>
            <a:endParaRPr lang="en-US" sz="1275" dirty="0"/>
          </a:p>
        </p:txBody>
      </p:sp>
      <p:sp>
        <p:nvSpPr>
          <p:cNvPr id="135" name="Shape 133"/>
          <p:cNvSpPr/>
          <p:nvPr/>
        </p:nvSpPr>
        <p:spPr>
          <a:xfrm>
            <a:off x="11978580" y="576069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2197953" y="58520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7" name="Text 135"/>
          <p:cNvSpPr/>
          <p:nvPr/>
        </p:nvSpPr>
        <p:spPr>
          <a:xfrm>
            <a:off x="12159853" y="59157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38" name="Text 136"/>
          <p:cNvSpPr/>
          <p:nvPr/>
        </p:nvSpPr>
        <p:spPr>
          <a:xfrm>
            <a:off x="13148965" y="587915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창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12197953" y="6254353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검색, pgvector 유사도 기반.</a:t>
            </a:r>
            <a:endParaRPr lang="en-US" sz="1275" dirty="0"/>
          </a:p>
        </p:txBody>
      </p:sp>
      <p:sp>
        <p:nvSpPr>
          <p:cNvPr id="140" name="Text 138"/>
          <p:cNvSpPr/>
          <p:nvPr/>
        </p:nvSpPr>
        <p:spPr>
          <a:xfrm>
            <a:off x="12197953" y="6493371"/>
            <a:ext cx="585397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i="1" dirty="0">
                <a:solidFill>
                  <a:srgbClr val="3B4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p13 공통 콘텐츠 참고</a:t>
            </a:r>
            <a:endParaRPr lang="en-US" sz="1125" dirty="0"/>
          </a:p>
        </p:txBody>
      </p:sp>
      <p:sp>
        <p:nvSpPr>
          <p:cNvPr id="141" name="Shape 139"/>
          <p:cNvSpPr/>
          <p:nvPr/>
        </p:nvSpPr>
        <p:spPr>
          <a:xfrm>
            <a:off x="11978580" y="6711553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2197953" y="6803082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43" name="Text 141"/>
          <p:cNvSpPr/>
          <p:nvPr/>
        </p:nvSpPr>
        <p:spPr>
          <a:xfrm>
            <a:off x="12159853" y="686678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44" name="Text 142"/>
          <p:cNvSpPr/>
          <p:nvPr/>
        </p:nvSpPr>
        <p:spPr>
          <a:xfrm>
            <a:off x="13148965" y="6830169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</a:t>
            </a:r>
            <a:endParaRPr lang="en-US" sz="1500" dirty="0"/>
          </a:p>
        </p:txBody>
      </p:sp>
      <p:sp>
        <p:nvSpPr>
          <p:cNvPr id="145" name="Text 143"/>
          <p:cNvSpPr/>
          <p:nvPr/>
        </p:nvSpPr>
        <p:spPr>
          <a:xfrm>
            <a:off x="12197953" y="7205365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파비콘·제목·태그·즐겨찾기·메뉴로 구성.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· Web App 공통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상세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45890"/>
            <a:ext cx="10332690" cy="1280071"/>
          </a:xfrm>
          <a:prstGeom prst="rect">
            <a:avLst/>
          </a:prstGeom>
          <a:solidFill>
            <a:srgbClr val="F9F9F9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690" y="1920180"/>
            <a:ext cx="731490" cy="73149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690" y="1920180"/>
            <a:ext cx="731490" cy="73149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690" y="1920180"/>
            <a:ext cx="731490" cy="731490"/>
          </a:xfrm>
          <a:prstGeom prst="rect">
            <a:avLst/>
          </a:prstGeom>
          <a:ln w="28575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690" y="16458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0590" y="17095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490" y="1865263"/>
            <a:ext cx="1737271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6627" y="2129730"/>
            <a:ext cx="191099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사용법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5303490" y="159097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265390" y="165467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671" y="1865263"/>
            <a:ext cx="1920180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7662" y="2129730"/>
            <a:ext cx="211219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파일업로드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223671" y="159097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185571" y="165467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326761" y="1865263"/>
            <a:ext cx="1920180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0752" y="2129730"/>
            <a:ext cx="211219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북마크추가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326761" y="159097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4" name="Text 22"/>
          <p:cNvSpPr/>
          <p:nvPr/>
        </p:nvSpPr>
        <p:spPr>
          <a:xfrm>
            <a:off x="9288661" y="165467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3657600"/>
            <a:ext cx="10332690" cy="5303490"/>
          </a:xfrm>
          <a:prstGeom prst="rect">
            <a:avLst/>
          </a:prstGeom>
          <a:solidFill>
            <a:srgbClr val="999999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410" y="6178302"/>
            <a:ext cx="106426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버튼 클릭 시 이동/동작은 우측 Description 참고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로고 (좌측)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홈 이동.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사용법 버튼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온보딩 안내 모달 재오픈.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1978580" y="3602682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0" name="Shape 38"/>
          <p:cNvSpPr/>
          <p:nvPr/>
        </p:nvSpPr>
        <p:spPr>
          <a:xfrm>
            <a:off x="12197953" y="369406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1" name="Text 39"/>
          <p:cNvSpPr/>
          <p:nvPr/>
        </p:nvSpPr>
        <p:spPr>
          <a:xfrm>
            <a:off x="12159853" y="375776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148965" y="3721298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업로드 버튼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197953" y="4096494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파일 임포트 페이지(WEB-14)로 이동.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1978580" y="4553694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2197953" y="4645075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6" name="Text 44"/>
          <p:cNvSpPr/>
          <p:nvPr/>
        </p:nvSpPr>
        <p:spPr>
          <a:xfrm>
            <a:off x="12159853" y="470877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3148965" y="467216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추가 버튼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197953" y="5047357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URL 직접 추가 팝업 오픈.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4135"/>
            <a:ext cx="10058400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· 헤더 &gt; 북마크 추가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88615"/>
            <a:ext cx="113019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추가 팝업 (오버레이 모달)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3622"/>
            <a:ext cx="633675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565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1004888" y="2133154"/>
            <a:ext cx="513397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정상 링크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1238250" y="2476500"/>
            <a:ext cx="4667250" cy="4533900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7211" y="2703612"/>
            <a:ext cx="38721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추가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22540" y="2685008"/>
            <a:ext cx="4132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497211" y="3176588"/>
            <a:ext cx="4149030" cy="59620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 w="2857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3480" y="3375571"/>
            <a:ext cx="439203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https://ai-camp-7th-main-project-2teams-li8.vercel.app/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7211" y="3946029"/>
            <a:ext cx="313686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미리보기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497211" y="4213771"/>
            <a:ext cx="4149030" cy="1555403"/>
          </a:xfrm>
          <a:prstGeom prst="roundRect">
            <a:avLst>
              <a:gd name="adj" fmla="val 4899"/>
            </a:avLst>
          </a:prstGeom>
          <a:solidFill>
            <a:srgbClr val="F5F8FD"/>
          </a:solidFill>
          <a:ln w="19050">
            <a:solidFill>
              <a:srgbClr val="C3CB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730573" y="4551015"/>
            <a:ext cx="415230" cy="41523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2326928" y="4516636"/>
            <a:ext cx="3593783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Bookmarker — AI 북마크 관리 · 모와바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326928" y="4827687"/>
            <a:ext cx="359378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https://ai-camp-7th-main-project-2teams-li8.vercel...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497211" y="6028283"/>
            <a:ext cx="1944886" cy="59620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 w="28575">
            <a:solidFill>
              <a:srgbClr val="C3CB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9111" y="6202561"/>
            <a:ext cx="20210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닫기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16498" y="6028283"/>
            <a:ext cx="2229743" cy="596205"/>
          </a:xfrm>
          <a:prstGeom prst="roundRect">
            <a:avLst>
              <a:gd name="adj" fmla="val 12781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378398" y="6202561"/>
            <a:ext cx="23059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추가 버튼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3638" y="2133154"/>
            <a:ext cx="513397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죽은 링크 경고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477000" y="2476500"/>
            <a:ext cx="4667250" cy="4533900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5961" y="2703612"/>
            <a:ext cx="38721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추가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561290" y="2685008"/>
            <a:ext cx="4132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735961" y="3176588"/>
            <a:ext cx="4149030" cy="59620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 w="28575">
            <a:solidFill>
              <a:srgbClr val="BBBB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2230" y="3375571"/>
            <a:ext cx="439203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https://ai-campmain-project-2teams-li8.vercel.app/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35961" y="3946029"/>
            <a:ext cx="313686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미리보기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735961" y="4213771"/>
            <a:ext cx="4149030" cy="1555403"/>
          </a:xfrm>
          <a:prstGeom prst="roundRect">
            <a:avLst>
              <a:gd name="adj" fmla="val 4899"/>
            </a:avLst>
          </a:prstGeom>
          <a:solidFill>
            <a:srgbClr val="F5F8FD"/>
          </a:solidFill>
          <a:ln w="19050">
            <a:solidFill>
              <a:srgbClr val="C3CB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969323" y="4421386"/>
            <a:ext cx="415230" cy="41523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7565678" y="4301430"/>
            <a:ext cx="3365087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ai-campmain-project-2teams-li8.vercel.app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565678" y="4698057"/>
            <a:ext cx="359378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https://ai-campmain-project-2teams-li8.vercel.app/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969323" y="5084415"/>
            <a:ext cx="384581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이 링크는 더 이상 존재하지 않는 것 같아요. 그래도 저장할 수 있어요.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35961" y="6028283"/>
            <a:ext cx="1944886" cy="59620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 w="28575">
            <a:solidFill>
              <a:srgbClr val="C3CB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7861" y="6202561"/>
            <a:ext cx="20210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닫기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655248" y="6028283"/>
            <a:ext cx="2229743" cy="596205"/>
          </a:xfrm>
          <a:prstGeom prst="roundRect">
            <a:avLst>
              <a:gd name="adj" fmla="val 12781"/>
            </a:avLst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617148" y="6202561"/>
            <a:ext cx="23059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추가 버튼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14450" y="3138488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38" name="Text 36"/>
          <p:cNvSpPr/>
          <p:nvPr/>
        </p:nvSpPr>
        <p:spPr>
          <a:xfrm>
            <a:off x="1276350" y="3179415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14450" y="413385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40" name="Text 38"/>
          <p:cNvSpPr/>
          <p:nvPr/>
        </p:nvSpPr>
        <p:spPr>
          <a:xfrm>
            <a:off x="1276350" y="417477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314450" y="6104483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42" name="Text 40"/>
          <p:cNvSpPr/>
          <p:nvPr/>
        </p:nvSpPr>
        <p:spPr>
          <a:xfrm>
            <a:off x="1276350" y="6145411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92170" y="1235273"/>
            <a:ext cx="5933511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2197655" y="17907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47" name="Text 45"/>
          <p:cNvSpPr/>
          <p:nvPr/>
        </p:nvSpPr>
        <p:spPr>
          <a:xfrm>
            <a:off x="12159555" y="18316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3149263" y="17811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입력 필드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197655" y="2152650"/>
            <a:ext cx="58536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형식 validation 적용.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1978580" y="25527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1" name="Shape 49"/>
          <p:cNvSpPr/>
          <p:nvPr/>
        </p:nvSpPr>
        <p:spPr>
          <a:xfrm>
            <a:off x="12197655" y="27432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555" y="27841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3149263" y="27336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상태 확인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2197655" y="3105150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URL 상태 확인 결과 죽은 링크 감지 시 경고 문구 노출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2197655" y="3362325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경고는 비차단이며 그대로 저장 가능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2197655" y="3619500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URL 검증 후 POST /api/bookmarks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2197655" y="3876675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저장 흐름과 동일하게 AI 태깅 + 임베딩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12197655" y="4133850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URL 상태 코드 확인: HEAD 우선, 실패 시 GET 폴백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2197655" y="4391025"/>
            <a:ext cx="58536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404/410만 is_dead=true 처리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11978580" y="46863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1" name="Shape 59"/>
          <p:cNvSpPr/>
          <p:nvPr/>
        </p:nvSpPr>
        <p:spPr>
          <a:xfrm>
            <a:off x="12197655" y="48768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62" name="Text 60"/>
          <p:cNvSpPr/>
          <p:nvPr/>
        </p:nvSpPr>
        <p:spPr>
          <a:xfrm>
            <a:off x="12159555" y="49177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3149263" y="48672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닫기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2197655" y="5238750"/>
            <a:ext cx="58536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팝업 닫기 · 외부 영역 클릭으로도 닫힘.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· 헤더 &gt; 사용법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 안내 모달 (공통, 재진입용)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161" y="2011561"/>
            <a:ext cx="9966871" cy="6583561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2980" y="2328714"/>
            <a:ext cx="95124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사용법 안내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462980" y="3017490"/>
            <a:ext cx="3017490" cy="5211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2106" y="5504408"/>
            <a:ext cx="33192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설치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62980" y="29259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424880" y="29896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380" y="3017490"/>
            <a:ext cx="3017490" cy="5211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2506" y="5504408"/>
            <a:ext cx="33192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저장하기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380" y="29259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625280" y="29896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780" y="3017490"/>
            <a:ext cx="3017490" cy="5211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2906" y="5504408"/>
            <a:ext cx="33192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검색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63780" y="29259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825680" y="29896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익스텐션 설치 단계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웹스토어 링크 안내.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저장 단계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Cmd+Shift+S 또는 익스텐션 버튼, AI 자동 태깅 설명.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11978580" y="3858667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12197953" y="3950196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5" name="Text 33"/>
          <p:cNvSpPr/>
          <p:nvPr/>
        </p:nvSpPr>
        <p:spPr>
          <a:xfrm>
            <a:off x="12159853" y="401389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148965" y="3977283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 단계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197953" y="4352479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문구로 검색 방법 안내.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548580" y="9719370"/>
            <a:ext cx="1217059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사용법 버튼으로 재진입, ServiceFeatures 공유. MVP는 단순 안내 모달, 자동 5-step Wizard는 v1.1 이후 검토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4135"/>
            <a:ext cx="10058400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· Web App 공통 &gt; 사용설명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88615"/>
            <a:ext cx="113019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사이드바 상세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3622"/>
            <a:ext cx="633675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565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3429000" cy="8412361"/>
          </a:xfrm>
          <a:prstGeom prst="rect">
            <a:avLst/>
          </a:prstGeom>
          <a:solidFill>
            <a:srgbClr val="F5F5F5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425" y="1428750"/>
            <a:ext cx="964853" cy="43815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325" y="1548705"/>
            <a:ext cx="10410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774478" y="1428750"/>
            <a:ext cx="964853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6378" y="1548705"/>
            <a:ext cx="10410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즐겨찾기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816423" y="1428750"/>
            <a:ext cx="964853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8323" y="1548705"/>
            <a:ext cx="10410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폴더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733425" y="11430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11839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3425" y="200025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95325" y="204117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3425" y="2409379"/>
            <a:ext cx="3352800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▾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33425" y="2781300"/>
            <a:ext cx="3048000" cy="38100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925" y="2914650"/>
            <a:ext cx="114300" cy="1143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475" y="287268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33425" y="320992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925" y="3343275"/>
            <a:ext cx="114300" cy="1143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475" y="330130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33425" y="3638550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925" y="3771900"/>
            <a:ext cx="114300" cy="1143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475" y="372993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33425" y="406717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925" y="4200525"/>
            <a:ext cx="114300" cy="1143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133475" y="415855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라이프스타일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733425" y="4495800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925" y="4629150"/>
            <a:ext cx="114300" cy="1143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475" y="458718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733425" y="492442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925" y="5057775"/>
            <a:ext cx="114300" cy="1143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1133475" y="501580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733425" y="5353050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925" y="5486400"/>
            <a:ext cx="114300" cy="114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475" y="544443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733425" y="578167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925" y="5915025"/>
            <a:ext cx="114300" cy="1143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133475" y="587305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733425" y="6210300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925" y="6343650"/>
            <a:ext cx="114300" cy="114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475" y="630168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733425" y="663892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925" y="6772275"/>
            <a:ext cx="114300" cy="1143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1133475" y="673030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733425" y="7067550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925" y="7200900"/>
            <a:ext cx="114300" cy="1143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33475" y="7158930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733425" y="7496175"/>
            <a:ext cx="30480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3925" y="7629525"/>
            <a:ext cx="114300" cy="1143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1133475" y="7587555"/>
            <a:ext cx="27241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미분류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733425" y="817245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55" name="Text 53"/>
          <p:cNvSpPr/>
          <p:nvPr/>
        </p:nvSpPr>
        <p:spPr>
          <a:xfrm>
            <a:off x="695325" y="821337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733425" y="8496300"/>
            <a:ext cx="3048000" cy="57150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4875" y="8676829"/>
            <a:ext cx="2975610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아바타 + 이메일 ›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4118521" y="4410075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59" name="Text 57"/>
          <p:cNvSpPr/>
          <p:nvPr/>
        </p:nvSpPr>
        <p:spPr>
          <a:xfrm>
            <a:off x="4080421" y="4451003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4804321" y="4482405"/>
            <a:ext cx="31432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· 프로필 팝업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4118521" y="4714875"/>
            <a:ext cx="4000500" cy="38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04271" y="4993928"/>
            <a:ext cx="37719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팝업 항목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4404271" y="5419725"/>
            <a:ext cx="3429000" cy="190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4" name="Text 62"/>
          <p:cNvSpPr/>
          <p:nvPr/>
        </p:nvSpPr>
        <p:spPr>
          <a:xfrm>
            <a:off x="4404271" y="5683597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프로필 정보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4404271" y="6296025"/>
            <a:ext cx="3429000" cy="1905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6" name="Text 64"/>
          <p:cNvSpPr/>
          <p:nvPr/>
        </p:nvSpPr>
        <p:spPr>
          <a:xfrm>
            <a:off x="4404271" y="6597997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설정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4404271" y="7210425"/>
            <a:ext cx="3429000" cy="1905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68" name="Text 66"/>
          <p:cNvSpPr/>
          <p:nvPr/>
        </p:nvSpPr>
        <p:spPr>
          <a:xfrm>
            <a:off x="4404271" y="7512397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로그아웃</a:t>
            </a:r>
            <a:endParaRPr lang="en-US" sz="1650" dirty="0"/>
          </a:p>
        </p:txBody>
      </p:sp>
      <p:pic>
        <p:nvPicPr>
          <p:cNvPr id="6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619500" y="7620000"/>
            <a:ext cx="952500" cy="1333500"/>
          </a:xfrm>
          <a:prstGeom prst="rect">
            <a:avLst/>
          </a:prstGeom>
        </p:spPr>
      </p:pic>
      <p:sp>
        <p:nvSpPr>
          <p:cNvPr id="70" name="Shape 67"/>
          <p:cNvSpPr/>
          <p:nvPr/>
        </p:nvSpPr>
        <p:spPr>
          <a:xfrm>
            <a:off x="7762875" y="1019175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71" name="Text 68"/>
          <p:cNvSpPr/>
          <p:nvPr/>
        </p:nvSpPr>
        <p:spPr>
          <a:xfrm>
            <a:off x="7724775" y="1060103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7762875" y="1266825"/>
            <a:ext cx="4000500" cy="295275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953375" y="1317278"/>
            <a:ext cx="20955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350" dirty="0"/>
          </a:p>
        </p:txBody>
      </p:sp>
      <p:sp>
        <p:nvSpPr>
          <p:cNvPr id="74" name="Shape 71"/>
          <p:cNvSpPr/>
          <p:nvPr/>
        </p:nvSpPr>
        <p:spPr>
          <a:xfrm>
            <a:off x="7953375" y="1628775"/>
            <a:ext cx="36195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067675" y="1663154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8067675" y="1853654"/>
            <a:ext cx="31432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abcde@gmail.com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7953375" y="2200275"/>
            <a:ext cx="36195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067675" y="2234654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데이터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8067675" y="2453729"/>
            <a:ext cx="372999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북마크를 JSON/HTML/CSV로 내보냅니다.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8067675" y="2733675"/>
            <a:ext cx="1079153" cy="285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029575" y="2777430"/>
            <a:ext cx="11553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내보내기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9223028" y="2733675"/>
            <a:ext cx="1079153" cy="285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184928" y="2777430"/>
            <a:ext cx="11553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내보내기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10379273" y="2733675"/>
            <a:ext cx="1079153" cy="285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341173" y="2777430"/>
            <a:ext cx="115535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내보내기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7953375" y="3209925"/>
            <a:ext cx="36195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A0A0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067675" y="3244304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구역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8067675" y="3434804"/>
            <a:ext cx="372999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탈퇴 시 모든 북마크가 즉시 파기됩니다.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8067675" y="3686175"/>
            <a:ext cx="1047750" cy="24765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0" name="Text 87"/>
          <p:cNvSpPr/>
          <p:nvPr/>
        </p:nvSpPr>
        <p:spPr>
          <a:xfrm>
            <a:off x="8029575" y="3710880"/>
            <a:ext cx="11239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탈퇴</a:t>
            </a:r>
            <a:endParaRPr lang="en-US" sz="825" dirty="0"/>
          </a:p>
        </p:txBody>
      </p:sp>
      <p:pic>
        <p:nvPicPr>
          <p:cNvPr id="9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8750" y="4000500"/>
            <a:ext cx="3619500" cy="2857500"/>
          </a:xfrm>
          <a:prstGeom prst="rect">
            <a:avLst/>
          </a:prstGeom>
        </p:spPr>
      </p:pic>
      <p:sp>
        <p:nvSpPr>
          <p:cNvPr id="92" name="Shape 88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11892170" y="1235273"/>
            <a:ext cx="5933511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95" name="Shape 91"/>
          <p:cNvSpPr/>
          <p:nvPr/>
        </p:nvSpPr>
        <p:spPr>
          <a:xfrm>
            <a:off x="12197655" y="17907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96" name="Text 92"/>
          <p:cNvSpPr/>
          <p:nvPr/>
        </p:nvSpPr>
        <p:spPr>
          <a:xfrm>
            <a:off x="12159555" y="18316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97" name="Text 93"/>
          <p:cNvSpPr/>
          <p:nvPr/>
        </p:nvSpPr>
        <p:spPr>
          <a:xfrm>
            <a:off x="13149263" y="17811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선택 네비게이션</a:t>
            </a:r>
            <a:endParaRPr lang="en-US" sz="1500" dirty="0"/>
          </a:p>
        </p:txBody>
      </p:sp>
      <p:sp>
        <p:nvSpPr>
          <p:cNvPr id="98" name="Text 94"/>
          <p:cNvSpPr/>
          <p:nvPr/>
        </p:nvSpPr>
        <p:spPr>
          <a:xfrm>
            <a:off x="12197655" y="2152650"/>
            <a:ext cx="58536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홈/즐겨찾기/내 폴더 순서 고정.</a:t>
            </a:r>
            <a:endParaRPr lang="en-US" sz="1275" dirty="0"/>
          </a:p>
        </p:txBody>
      </p:sp>
      <p:sp>
        <p:nvSpPr>
          <p:cNvPr id="99" name="Shape 95"/>
          <p:cNvSpPr/>
          <p:nvPr/>
        </p:nvSpPr>
        <p:spPr>
          <a:xfrm>
            <a:off x="11978580" y="25527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0" name="Shape 96"/>
          <p:cNvSpPr/>
          <p:nvPr/>
        </p:nvSpPr>
        <p:spPr>
          <a:xfrm>
            <a:off x="12197655" y="27432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01" name="Text 97"/>
          <p:cNvSpPr/>
          <p:nvPr/>
        </p:nvSpPr>
        <p:spPr>
          <a:xfrm>
            <a:off x="12159555" y="27841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2" name="Text 98"/>
          <p:cNvSpPr/>
          <p:nvPr/>
        </p:nvSpPr>
        <p:spPr>
          <a:xfrm>
            <a:off x="13149263" y="27336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드롭다운</a:t>
            </a:r>
            <a:endParaRPr lang="en-US" sz="1500" dirty="0"/>
          </a:p>
        </p:txBody>
      </p:sp>
      <p:sp>
        <p:nvSpPr>
          <p:cNvPr id="103" name="Text 99"/>
          <p:cNvSpPr/>
          <p:nvPr/>
        </p:nvSpPr>
        <p:spPr>
          <a:xfrm>
            <a:off x="12197655" y="3105150"/>
            <a:ext cx="5853648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tags[0] 기준 자동 생성. 13종 대분류 밖이거나 tags=[] 시 미분류 처리.</a:t>
            </a:r>
            <a:endParaRPr lang="en-US" sz="1275" dirty="0"/>
          </a:p>
        </p:txBody>
      </p:sp>
      <p:sp>
        <p:nvSpPr>
          <p:cNvPr id="104" name="Shape 100"/>
          <p:cNvSpPr/>
          <p:nvPr/>
        </p:nvSpPr>
        <p:spPr>
          <a:xfrm>
            <a:off x="11978580" y="37338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5" name="Shape 101"/>
          <p:cNvSpPr/>
          <p:nvPr/>
        </p:nvSpPr>
        <p:spPr>
          <a:xfrm>
            <a:off x="12197655" y="39243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06" name="Text 102"/>
          <p:cNvSpPr/>
          <p:nvPr/>
        </p:nvSpPr>
        <p:spPr>
          <a:xfrm>
            <a:off x="12159555" y="39652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07" name="Text 103"/>
          <p:cNvSpPr/>
          <p:nvPr/>
        </p:nvSpPr>
        <p:spPr>
          <a:xfrm>
            <a:off x="13149263" y="39147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버튼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12197655" y="4286250"/>
            <a:ext cx="58536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고정. 아바타+이메일+아이콘.</a:t>
            </a:r>
            <a:endParaRPr lang="en-US" sz="1275" dirty="0"/>
          </a:p>
        </p:txBody>
      </p:sp>
      <p:sp>
        <p:nvSpPr>
          <p:cNvPr id="109" name="Shape 105"/>
          <p:cNvSpPr/>
          <p:nvPr/>
        </p:nvSpPr>
        <p:spPr>
          <a:xfrm>
            <a:off x="11978580" y="46863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0" name="Shape 106"/>
          <p:cNvSpPr/>
          <p:nvPr/>
        </p:nvSpPr>
        <p:spPr>
          <a:xfrm>
            <a:off x="12197655" y="48768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11" name="Text 107"/>
          <p:cNvSpPr/>
          <p:nvPr/>
        </p:nvSpPr>
        <p:spPr>
          <a:xfrm>
            <a:off x="12159555" y="49177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12" name="Text 108"/>
          <p:cNvSpPr/>
          <p:nvPr/>
        </p:nvSpPr>
        <p:spPr>
          <a:xfrm>
            <a:off x="13149263" y="4867275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팝업</a:t>
            </a:r>
            <a:endParaRPr lang="en-US" sz="1500" dirty="0"/>
          </a:p>
        </p:txBody>
      </p:sp>
      <p:sp>
        <p:nvSpPr>
          <p:cNvPr id="113" name="Text 109"/>
          <p:cNvSpPr/>
          <p:nvPr/>
        </p:nvSpPr>
        <p:spPr>
          <a:xfrm>
            <a:off x="12197655" y="5238750"/>
            <a:ext cx="5853648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오픈, 외부 클릭 시 닫힘. 정보/설정/로그아웃 포함.</a:t>
            </a:r>
            <a:endParaRPr lang="en-US" sz="1275" dirty="0"/>
          </a:p>
        </p:txBody>
      </p:sp>
      <p:sp>
        <p:nvSpPr>
          <p:cNvPr id="114" name="Shape 110"/>
          <p:cNvSpPr/>
          <p:nvPr/>
        </p:nvSpPr>
        <p:spPr>
          <a:xfrm>
            <a:off x="11978580" y="57531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5" name="Shape 111"/>
          <p:cNvSpPr/>
          <p:nvPr/>
        </p:nvSpPr>
        <p:spPr>
          <a:xfrm>
            <a:off x="12197953" y="594360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116" name="Text 112"/>
          <p:cNvSpPr/>
          <p:nvPr/>
        </p:nvSpPr>
        <p:spPr>
          <a:xfrm>
            <a:off x="12159853" y="598452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117" name="Text 113"/>
          <p:cNvSpPr/>
          <p:nvPr/>
        </p:nvSpPr>
        <p:spPr>
          <a:xfrm>
            <a:off x="13148965" y="596443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500" dirty="0"/>
          </a:p>
        </p:txBody>
      </p:sp>
      <p:sp>
        <p:nvSpPr>
          <p:cNvPr id="118" name="Text 114"/>
          <p:cNvSpPr/>
          <p:nvPr/>
        </p:nvSpPr>
        <p:spPr>
          <a:xfrm>
            <a:off x="12197953" y="6305550"/>
            <a:ext cx="5481450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팝업 내 항목. 저장된 북마크 전체 내보내기(JSON, HTML, CSV). 회원탈퇴.</a:t>
            </a:r>
            <a:endParaRPr lang="en-US" sz="1275" dirty="0"/>
          </a:p>
        </p:txBody>
      </p:sp>
      <p:cxnSp>
        <p:nvCxnSpPr>
          <p:cNvPr id="121" name="구부러진 연결선 120"/>
          <p:cNvCxnSpPr/>
          <p:nvPr/>
        </p:nvCxnSpPr>
        <p:spPr>
          <a:xfrm flipV="1">
            <a:off x="3398108" y="8172450"/>
            <a:ext cx="1006163" cy="613204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구부러진 연결선 122"/>
          <p:cNvCxnSpPr/>
          <p:nvPr/>
        </p:nvCxnSpPr>
        <p:spPr>
          <a:xfrm rot="5400000" flipH="1" flipV="1">
            <a:off x="5323077" y="4337203"/>
            <a:ext cx="2465003" cy="2414594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· 공통 콘텐츠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· 정렬 · 뷰 선택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361"/>
            <a:ext cx="10332690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0150" y="1800969"/>
            <a:ext cx="106870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북마크 검색...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2800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13437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468761"/>
            <a:ext cx="4023271" cy="5485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6" y="2641848"/>
            <a:ext cx="442559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검색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14400" y="21944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22581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690"/>
            <a:ext cx="2925961" cy="639961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102" y="3675608"/>
            <a:ext cx="32185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2004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32640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23271" y="3474690"/>
            <a:ext cx="2925961" cy="639961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6973" y="3675608"/>
            <a:ext cx="32185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23271" y="32004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3985171" y="32640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3108871" cy="2194471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6" y="5550098"/>
            <a:ext cx="34197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2975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" y="43612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97561" y="4572000"/>
            <a:ext cx="3108871" cy="21944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117" y="5550098"/>
            <a:ext cx="34197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80871" y="4572000"/>
            <a:ext cx="3108871" cy="21944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427" y="5550098"/>
            <a:ext cx="34197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컴팩트뷰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92170" y="1235273"/>
            <a:ext cx="5933511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2197953" y="1771650"/>
            <a:ext cx="5321796" cy="1428750"/>
          </a:xfrm>
          <a:prstGeom prst="roundRect">
            <a:avLst>
              <a:gd name="adj" fmla="val 5333"/>
            </a:avLst>
          </a:prstGeom>
          <a:solidFill>
            <a:srgbClr val="F0F1F3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88453" y="1924050"/>
            <a:ext cx="543487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88453" y="2148780"/>
            <a:ext cx="543487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쿼리를 text-embedding-3-small 임베딩으로 변환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88453" y="2373511"/>
            <a:ext cx="543487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cosine similarity로 사용자 북마크 중 상위 20개 검색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88453" y="2598241"/>
            <a:ext cx="543487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인덱스(pgvector 0.5+) 사용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88453" y="2822972"/>
            <a:ext cx="543487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 임계값 0.5 이상 표시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2197953" y="33909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0" name="Text 38"/>
          <p:cNvSpPr/>
          <p:nvPr/>
        </p:nvSpPr>
        <p:spPr>
          <a:xfrm>
            <a:off x="12159853" y="3449836"/>
            <a:ext cx="8441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148965" y="341173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 입력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197953" y="3790950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50자 입력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197953" y="4047530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/api/search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197953" y="4304109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머신러닝 입문 자료, 디자인 참고할 사이트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1978580" y="455295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6" name="Shape 44"/>
          <p:cNvSpPr/>
          <p:nvPr/>
        </p:nvSpPr>
        <p:spPr>
          <a:xfrm>
            <a:off x="12197953" y="474345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7" name="Text 45"/>
          <p:cNvSpPr/>
          <p:nvPr/>
        </p:nvSpPr>
        <p:spPr>
          <a:xfrm>
            <a:off x="12159853" y="4802386"/>
            <a:ext cx="8441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3148965" y="476428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검색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197953" y="5143500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형태, max-width 200px 초과 시 말줄임.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1978580" y="55245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1" name="Shape 49"/>
          <p:cNvSpPr/>
          <p:nvPr/>
        </p:nvSpPr>
        <p:spPr>
          <a:xfrm>
            <a:off x="12197953" y="57150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853" y="5773936"/>
            <a:ext cx="8441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3148965" y="573583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최신순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2197953" y="6115050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정렬(default).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1978580" y="649605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6" name="Shape 54"/>
          <p:cNvSpPr/>
          <p:nvPr/>
        </p:nvSpPr>
        <p:spPr>
          <a:xfrm>
            <a:off x="12197953" y="668655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7" name="Text 55"/>
          <p:cNvSpPr/>
          <p:nvPr/>
        </p:nvSpPr>
        <p:spPr>
          <a:xfrm>
            <a:off x="12159853" y="6745486"/>
            <a:ext cx="8441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3148965" y="670738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유사도순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2197953" y="7086600"/>
            <a:ext cx="585397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검색 결과 기준 정렬.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11978580" y="74676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1" name="Shape 59"/>
          <p:cNvSpPr/>
          <p:nvPr/>
        </p:nvSpPr>
        <p:spPr>
          <a:xfrm>
            <a:off x="12197953" y="76581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2" name="Text 60"/>
          <p:cNvSpPr/>
          <p:nvPr/>
        </p:nvSpPr>
        <p:spPr>
          <a:xfrm>
            <a:off x="12159853" y="7717036"/>
            <a:ext cx="8441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3148965" y="7678936"/>
            <a:ext cx="4501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 선택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2197953" y="8058150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뷰: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뷰 default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2197953" y="8305205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 뷰: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 뷰 전환 옵션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2197953" y="8552259"/>
            <a:ext cx="585397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컴팩트 뷰:</a:t>
            </a: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컴팩트 뷰 전환 옵션, A50 기준 MVP 포함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4135"/>
            <a:ext cx="10058400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3.0~5.0 · 공통 콘텐츠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88615"/>
            <a:ext cx="113019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컴포넌트 상세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3622"/>
            <a:ext cx="633675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565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857250" y="2331690"/>
            <a:ext cx="5257800" cy="59436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250" y="2331690"/>
            <a:ext cx="5257800" cy="2971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Shape 6"/>
          <p:cNvSpPr/>
          <p:nvPr/>
        </p:nvSpPr>
        <p:spPr>
          <a:xfrm>
            <a:off x="857250" y="5274915"/>
            <a:ext cx="5257800" cy="2857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143250" y="3474690"/>
            <a:ext cx="68580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5150" y="3718471"/>
            <a:ext cx="7620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0011" y="2514600"/>
            <a:ext cx="1257300" cy="365671"/>
          </a:xfrm>
          <a:prstGeom prst="rect">
            <a:avLst/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146" y="2598390"/>
            <a:ext cx="138303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0011" y="3044130"/>
            <a:ext cx="201168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링크 끊김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7630" y="251460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9530" y="2644080"/>
            <a:ext cx="5334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26211" y="251460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8111" y="2644080"/>
            <a:ext cx="5334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74940" y="251460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6840" y="2644080"/>
            <a:ext cx="5334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608290" y="2971800"/>
            <a:ext cx="190500" cy="13707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103340" y="3108871"/>
            <a:ext cx="1828800" cy="118869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0" y="3317528"/>
            <a:ext cx="163449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수정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194721" y="3703290"/>
            <a:ext cx="1645890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1"/>
          <p:cNvSpPr/>
          <p:nvPr/>
        </p:nvSpPr>
        <p:spPr>
          <a:xfrm>
            <a:off x="4286250" y="3866108"/>
            <a:ext cx="163449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 삭제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131540" y="5577780"/>
            <a:ext cx="3200400" cy="15999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3"/>
          <p:cNvSpPr/>
          <p:nvPr/>
        </p:nvSpPr>
        <p:spPr>
          <a:xfrm>
            <a:off x="1131540" y="5989290"/>
            <a:ext cx="1668661" cy="5715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1540" y="6377880"/>
            <a:ext cx="822871" cy="31998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3440" y="6438751"/>
            <a:ext cx="899071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예능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45940" y="6377880"/>
            <a:ext cx="1005780" cy="31998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07840" y="6438751"/>
            <a:ext cx="108198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31540" y="6858000"/>
            <a:ext cx="4709071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Text 29"/>
          <p:cNvSpPr/>
          <p:nvPr/>
        </p:nvSpPr>
        <p:spPr>
          <a:xfrm>
            <a:off x="1131540" y="7078861"/>
            <a:ext cx="517997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2026년 7월 7일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40011" y="217929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34" name="Text 31"/>
          <p:cNvSpPr/>
          <p:nvPr/>
        </p:nvSpPr>
        <p:spPr>
          <a:xfrm>
            <a:off x="1001911" y="222021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377630" y="217929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36" name="Text 33"/>
          <p:cNvSpPr/>
          <p:nvPr/>
        </p:nvSpPr>
        <p:spPr>
          <a:xfrm>
            <a:off x="4339530" y="222021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1040011" y="336039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38" name="Text 35"/>
          <p:cNvSpPr/>
          <p:nvPr/>
        </p:nvSpPr>
        <p:spPr>
          <a:xfrm>
            <a:off x="1001911" y="340131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131540" y="546348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40" name="Text 37"/>
          <p:cNvSpPr/>
          <p:nvPr/>
        </p:nvSpPr>
        <p:spPr>
          <a:xfrm>
            <a:off x="1093440" y="550440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1131540" y="6149280"/>
            <a:ext cx="609600" cy="304800"/>
          </a:xfrm>
          <a:prstGeom prst="roundRect">
            <a:avLst>
              <a:gd name="adj" fmla="val 12500"/>
            </a:avLst>
          </a:prstGeom>
          <a:solidFill>
            <a:srgbClr val="D64545"/>
          </a:solidFill>
          <a:ln/>
        </p:spPr>
      </p:sp>
      <p:sp>
        <p:nvSpPr>
          <p:cNvPr id="42" name="Text 39"/>
          <p:cNvSpPr/>
          <p:nvPr/>
        </p:nvSpPr>
        <p:spPr>
          <a:xfrm>
            <a:off x="1093440" y="6190208"/>
            <a:ext cx="6858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7162800" y="2442121"/>
            <a:ext cx="44005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클릭 시 열리는 화면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7162800" y="2731740"/>
            <a:ext cx="4000500" cy="51435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91400" y="2947541"/>
            <a:ext cx="34575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수정</a:t>
            </a:r>
            <a:endParaRPr lang="en-US" sz="1425" dirty="0"/>
          </a:p>
        </p:txBody>
      </p:sp>
      <p:sp>
        <p:nvSpPr>
          <p:cNvPr id="46" name="Text 43"/>
          <p:cNvSpPr/>
          <p:nvPr/>
        </p:nvSpPr>
        <p:spPr>
          <a:xfrm>
            <a:off x="10687050" y="2934593"/>
            <a:ext cx="32385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7391400" y="3284190"/>
            <a:ext cx="354330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Text 45"/>
          <p:cNvSpPr/>
          <p:nvPr/>
        </p:nvSpPr>
        <p:spPr>
          <a:xfrm>
            <a:off x="7391400" y="3423196"/>
            <a:ext cx="389763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title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7391400" y="3766096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7391400" y="4008090"/>
            <a:ext cx="819150" cy="285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53300" y="4051846"/>
            <a:ext cx="8953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웹앱 ✕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8286750" y="4008090"/>
            <a:ext cx="990600" cy="285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48650" y="4051846"/>
            <a:ext cx="10668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스트림릿 ✕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7391400" y="4408140"/>
            <a:ext cx="27241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24750" y="4509046"/>
            <a:ext cx="284988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입력 후 Enter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10267950" y="4408140"/>
            <a:ext cx="6667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229850" y="4509046"/>
            <a:ext cx="7429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391400" y="4985296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</a:t>
            </a:r>
            <a:endParaRPr lang="en-US" sz="975" dirty="0"/>
          </a:p>
        </p:txBody>
      </p:sp>
      <p:sp>
        <p:nvSpPr>
          <p:cNvPr id="59" name="Shape 56"/>
          <p:cNvSpPr/>
          <p:nvPr/>
        </p:nvSpPr>
        <p:spPr>
          <a:xfrm>
            <a:off x="7391400" y="5227290"/>
            <a:ext cx="35433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524750" y="5347246"/>
            <a:ext cx="35623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10706100" y="5347246"/>
            <a:ext cx="3048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75" dirty="0"/>
          </a:p>
        </p:txBody>
      </p:sp>
      <p:sp>
        <p:nvSpPr>
          <p:cNvPr id="62" name="Text 59"/>
          <p:cNvSpPr/>
          <p:nvPr/>
        </p:nvSpPr>
        <p:spPr>
          <a:xfrm>
            <a:off x="7391400" y="5842546"/>
            <a:ext cx="157162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7391400" y="6084540"/>
            <a:ext cx="3543300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524750" y="6179790"/>
            <a:ext cx="3604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북마크에 대한 메모를 남겨보세요.</a:t>
            </a:r>
            <a:endParaRPr lang="en-US" sz="975" dirty="0"/>
          </a:p>
        </p:txBody>
      </p:sp>
      <p:sp>
        <p:nvSpPr>
          <p:cNvPr id="65" name="Shape 62"/>
          <p:cNvSpPr/>
          <p:nvPr/>
        </p:nvSpPr>
        <p:spPr>
          <a:xfrm>
            <a:off x="7391400" y="7132290"/>
            <a:ext cx="15240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315200" y="7252246"/>
            <a:ext cx="167640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</a:t>
            </a:r>
            <a:endParaRPr lang="en-US" sz="1125" dirty="0"/>
          </a:p>
        </p:txBody>
      </p:sp>
      <p:sp>
        <p:nvSpPr>
          <p:cNvPr id="67" name="Shape 64"/>
          <p:cNvSpPr/>
          <p:nvPr/>
        </p:nvSpPr>
        <p:spPr>
          <a:xfrm>
            <a:off x="9258300" y="7132290"/>
            <a:ext cx="1676400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44444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174480" y="7252246"/>
            <a:ext cx="184404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125" dirty="0"/>
          </a:p>
        </p:txBody>
      </p:sp>
      <p:pic>
        <p:nvPicPr>
          <p:cNvPr id="6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836890" y="2922240"/>
            <a:ext cx="1478161" cy="796230"/>
          </a:xfrm>
          <a:prstGeom prst="rect">
            <a:avLst/>
          </a:prstGeom>
        </p:spPr>
      </p:pic>
      <p:sp>
        <p:nvSpPr>
          <p:cNvPr id="70" name="Shape 66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1892170" y="1235273"/>
            <a:ext cx="5933511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73" name="Shape 69"/>
          <p:cNvSpPr/>
          <p:nvPr/>
        </p:nvSpPr>
        <p:spPr>
          <a:xfrm>
            <a:off x="12197655" y="179070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4" name="Text 70"/>
          <p:cNvSpPr/>
          <p:nvPr/>
        </p:nvSpPr>
        <p:spPr>
          <a:xfrm>
            <a:off x="12159555" y="1849636"/>
            <a:ext cx="843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5" name="Text 71"/>
          <p:cNvSpPr/>
          <p:nvPr/>
        </p:nvSpPr>
        <p:spPr>
          <a:xfrm>
            <a:off x="13149263" y="1811536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태그(대)</a:t>
            </a:r>
            <a:endParaRPr lang="en-US" sz="1500" dirty="0"/>
          </a:p>
        </p:txBody>
      </p:sp>
      <p:sp>
        <p:nvSpPr>
          <p:cNvPr id="76" name="Text 72"/>
          <p:cNvSpPr/>
          <p:nvPr/>
        </p:nvSpPr>
        <p:spPr>
          <a:xfrm>
            <a:off x="12197655" y="2190750"/>
            <a:ext cx="5853648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 배지. 콘텐츠 대표 카테고리 1개, 카드 좌상단 고정 표시.</a:t>
            </a:r>
            <a:endParaRPr lang="en-US" sz="1275" dirty="0"/>
          </a:p>
        </p:txBody>
      </p:sp>
      <p:sp>
        <p:nvSpPr>
          <p:cNvPr id="77" name="Shape 73"/>
          <p:cNvSpPr/>
          <p:nvPr/>
        </p:nvSpPr>
        <p:spPr>
          <a:xfrm>
            <a:off x="11978580" y="28194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8" name="Shape 74"/>
          <p:cNvSpPr/>
          <p:nvPr/>
        </p:nvSpPr>
        <p:spPr>
          <a:xfrm>
            <a:off x="12197655" y="300990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9" name="Text 75"/>
          <p:cNvSpPr/>
          <p:nvPr/>
        </p:nvSpPr>
        <p:spPr>
          <a:xfrm>
            <a:off x="12159555" y="3068836"/>
            <a:ext cx="843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0" name="Text 76"/>
          <p:cNvSpPr/>
          <p:nvPr/>
        </p:nvSpPr>
        <p:spPr>
          <a:xfrm>
            <a:off x="13149263" y="3030736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즐겨찾기 · 바로가기 · 메뉴모달</a:t>
            </a:r>
            <a:endParaRPr lang="en-US" sz="1500" dirty="0"/>
          </a:p>
        </p:txBody>
      </p:sp>
      <p:sp>
        <p:nvSpPr>
          <p:cNvPr id="81" name="Text 77"/>
          <p:cNvSpPr/>
          <p:nvPr/>
        </p:nvSpPr>
        <p:spPr>
          <a:xfrm>
            <a:off x="12197655" y="3448050"/>
            <a:ext cx="5481143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 즐겨찾기 토글(사이드바 즐겨찾기 탭에서 필터링) · ↗ 원본 링크 새 탭 이동 · ⋮ 메뉴 모달(수정/삭제) 오픈.</a:t>
            </a:r>
            <a:endParaRPr lang="en-US" sz="1275" dirty="0"/>
          </a:p>
        </p:txBody>
      </p:sp>
      <p:sp>
        <p:nvSpPr>
          <p:cNvPr id="82" name="Shape 78"/>
          <p:cNvSpPr/>
          <p:nvPr/>
        </p:nvSpPr>
        <p:spPr>
          <a:xfrm>
            <a:off x="11978580" y="43053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3" name="Shape 79"/>
          <p:cNvSpPr/>
          <p:nvPr/>
        </p:nvSpPr>
        <p:spPr>
          <a:xfrm>
            <a:off x="12197655" y="449580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4" name="Text 80"/>
          <p:cNvSpPr/>
          <p:nvPr/>
        </p:nvSpPr>
        <p:spPr>
          <a:xfrm>
            <a:off x="12159555" y="4554736"/>
            <a:ext cx="843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85" name="Text 81"/>
          <p:cNvSpPr/>
          <p:nvPr/>
        </p:nvSpPr>
        <p:spPr>
          <a:xfrm>
            <a:off x="13149263" y="4516636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끊김 뱃지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12197655" y="4895850"/>
            <a:ext cx="5481143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is_dead=true일 때만 앰버톤으로 표시. 삭제·검색제외 등 추가 동작 없이 시각 표시만 제공.</a:t>
            </a:r>
            <a:endParaRPr lang="en-US" sz="1275" dirty="0"/>
          </a:p>
        </p:txBody>
      </p:sp>
      <p:sp>
        <p:nvSpPr>
          <p:cNvPr id="87" name="Shape 83"/>
          <p:cNvSpPr/>
          <p:nvPr/>
        </p:nvSpPr>
        <p:spPr>
          <a:xfrm>
            <a:off x="11978580" y="558165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8" name="Shape 84"/>
          <p:cNvSpPr/>
          <p:nvPr/>
        </p:nvSpPr>
        <p:spPr>
          <a:xfrm>
            <a:off x="12197655" y="577215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9" name="Text 85"/>
          <p:cNvSpPr/>
          <p:nvPr/>
        </p:nvSpPr>
        <p:spPr>
          <a:xfrm>
            <a:off x="12159555" y="5831086"/>
            <a:ext cx="843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90" name="Text 86"/>
          <p:cNvSpPr/>
          <p:nvPr/>
        </p:nvSpPr>
        <p:spPr>
          <a:xfrm>
            <a:off x="13149263" y="5792986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title</a:t>
            </a:r>
            <a:endParaRPr lang="en-US" sz="1500" dirty="0"/>
          </a:p>
        </p:txBody>
      </p:sp>
      <p:sp>
        <p:nvSpPr>
          <p:cNvPr id="91" name="Text 87"/>
          <p:cNvSpPr/>
          <p:nvPr/>
        </p:nvSpPr>
        <p:spPr>
          <a:xfrm>
            <a:off x="12197655" y="6172200"/>
            <a:ext cx="585364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2줄, 이후 말줄임 처리.</a:t>
            </a:r>
            <a:endParaRPr lang="en-US" sz="1275" dirty="0"/>
          </a:p>
        </p:txBody>
      </p:sp>
      <p:sp>
        <p:nvSpPr>
          <p:cNvPr id="92" name="Shape 88"/>
          <p:cNvSpPr/>
          <p:nvPr/>
        </p:nvSpPr>
        <p:spPr>
          <a:xfrm>
            <a:off x="11978580" y="6553200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3" name="Shape 89"/>
          <p:cNvSpPr/>
          <p:nvPr/>
        </p:nvSpPr>
        <p:spPr>
          <a:xfrm>
            <a:off x="12197655" y="674370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4" name="Text 90"/>
          <p:cNvSpPr/>
          <p:nvPr/>
        </p:nvSpPr>
        <p:spPr>
          <a:xfrm>
            <a:off x="12159555" y="6802636"/>
            <a:ext cx="843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95" name="Text 91"/>
          <p:cNvSpPr/>
          <p:nvPr/>
        </p:nvSpPr>
        <p:spPr>
          <a:xfrm>
            <a:off x="13149263" y="6764536"/>
            <a:ext cx="45020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칩 (중·소)</a:t>
            </a:r>
            <a:endParaRPr lang="en-US" sz="1500" dirty="0"/>
          </a:p>
        </p:txBody>
      </p:sp>
      <p:sp>
        <p:nvSpPr>
          <p:cNvPr id="96" name="Text 92"/>
          <p:cNvSpPr/>
          <p:nvPr/>
        </p:nvSpPr>
        <p:spPr>
          <a:xfrm>
            <a:off x="12197655" y="7143750"/>
            <a:ext cx="5481143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중·소 계층 최대 3개, confidence 0.6 미만 제외. 골든셋 n=115 baseline F1 0.82, 실측 macro-F1 0.85, 대분류 정확도 0.93.</a:t>
            </a:r>
            <a:endParaRPr lang="en-US" sz="1275" dirty="0"/>
          </a:p>
        </p:txBody>
      </p:sp>
      <p:cxnSp>
        <p:nvCxnSpPr>
          <p:cNvPr id="98" name="구부러진 연결선 97"/>
          <p:cNvCxnSpPr/>
          <p:nvPr/>
        </p:nvCxnSpPr>
        <p:spPr>
          <a:xfrm flipV="1">
            <a:off x="5025330" y="3030736"/>
            <a:ext cx="2137470" cy="370582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북마크 대시보드 (프리미엄 인사이트)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· 프리미엄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2980"/>
            <a:ext cx="3474690" cy="2925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2980" y="2011561"/>
            <a:ext cx="1828800" cy="182880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1886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" y="12523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462980"/>
            <a:ext cx="3474690" cy="2925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290" y="3657600"/>
            <a:ext cx="438894" cy="45720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482" y="3383161"/>
            <a:ext cx="438894" cy="73149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6675" y="3108871"/>
            <a:ext cx="438894" cy="100578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867" y="3657600"/>
            <a:ext cx="438894" cy="45720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059" y="3383161"/>
            <a:ext cx="438894" cy="731490"/>
          </a:xfrm>
          <a:prstGeom prst="rect">
            <a:avLst/>
          </a:prstGeom>
          <a:solidFill>
            <a:srgbClr val="CCCCCC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886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33900" y="12523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462980"/>
            <a:ext cx="3017490" cy="29259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201" y="2898428"/>
            <a:ext cx="30175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 클라우드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11886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8191500" y="12523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4754761"/>
            <a:ext cx="3474690" cy="21944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690" y="5120580"/>
            <a:ext cx="2925961" cy="14629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690" y="5486400"/>
            <a:ext cx="2925961" cy="14629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88690" y="5852071"/>
            <a:ext cx="1609279" cy="14629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4804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" y="45441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0" y="4754761"/>
            <a:ext cx="3474690" cy="21944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290" y="5120580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9"/>
          <p:cNvSpPr/>
          <p:nvPr/>
        </p:nvSpPr>
        <p:spPr>
          <a:xfrm>
            <a:off x="5321796" y="5120580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5797153" y="5120580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6272659" y="5120580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48165" y="5120580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671" y="5120580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290" y="5559475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Shape 35"/>
          <p:cNvSpPr/>
          <p:nvPr/>
        </p:nvSpPr>
        <p:spPr>
          <a:xfrm>
            <a:off x="5321796" y="5559475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5797153" y="5559475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Shape 37"/>
          <p:cNvSpPr/>
          <p:nvPr/>
        </p:nvSpPr>
        <p:spPr>
          <a:xfrm>
            <a:off x="6272659" y="5559475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0" name="Shape 38"/>
          <p:cNvSpPr/>
          <p:nvPr/>
        </p:nvSpPr>
        <p:spPr>
          <a:xfrm>
            <a:off x="6748165" y="5559475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671" y="5559475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290" y="5998369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3" name="Shape 41"/>
          <p:cNvSpPr/>
          <p:nvPr/>
        </p:nvSpPr>
        <p:spPr>
          <a:xfrm>
            <a:off x="5321796" y="5998369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Shape 42"/>
          <p:cNvSpPr/>
          <p:nvPr/>
        </p:nvSpPr>
        <p:spPr>
          <a:xfrm>
            <a:off x="5797153" y="5998369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2659" y="5998369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6" name="Shape 44"/>
          <p:cNvSpPr/>
          <p:nvPr/>
        </p:nvSpPr>
        <p:spPr>
          <a:xfrm>
            <a:off x="6748165" y="5998369"/>
            <a:ext cx="365671" cy="36567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Shape 45"/>
          <p:cNvSpPr/>
          <p:nvPr/>
        </p:nvSpPr>
        <p:spPr>
          <a:xfrm>
            <a:off x="7223671" y="5998369"/>
            <a:ext cx="365671" cy="365671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0" y="44804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9" name="Text 47"/>
          <p:cNvSpPr/>
          <p:nvPr/>
        </p:nvSpPr>
        <p:spPr>
          <a:xfrm>
            <a:off x="4533900" y="45441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229600" y="4754761"/>
            <a:ext cx="3017490" cy="21944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361" y="5120580"/>
            <a:ext cx="914400" cy="54858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74261" y="5293668"/>
            <a:ext cx="9906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9418290" y="5120580"/>
            <a:ext cx="914400" cy="54858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80190" y="5293668"/>
            <a:ext cx="9906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0424071" y="5120580"/>
            <a:ext cx="731490" cy="54858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85971" y="5293668"/>
            <a:ext cx="80769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</a:t>
            </a:r>
            <a:endParaRPr lang="en-US" sz="1275" dirty="0"/>
          </a:p>
        </p:txBody>
      </p:sp>
      <p:sp>
        <p:nvSpPr>
          <p:cNvPr id="57" name="Shape 55"/>
          <p:cNvSpPr/>
          <p:nvPr/>
        </p:nvSpPr>
        <p:spPr>
          <a:xfrm>
            <a:off x="8229600" y="448047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8" name="Text 56"/>
          <p:cNvSpPr/>
          <p:nvPr/>
        </p:nvSpPr>
        <p:spPr>
          <a:xfrm>
            <a:off x="8191500" y="454416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3" name="Text 61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카테고리별 분포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도넛 차트.</a:t>
            </a:r>
            <a:endParaRPr lang="en-US" sz="1275" dirty="0"/>
          </a:p>
        </p:txBody>
      </p:sp>
      <p:sp>
        <p:nvSpPr>
          <p:cNvPr id="66" name="Shape 64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7" name="Shape 65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8" name="Text 66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저장 활동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8주 막대 그래프.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11978580" y="3602682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2" name="Shape 70"/>
          <p:cNvSpPr/>
          <p:nvPr/>
        </p:nvSpPr>
        <p:spPr>
          <a:xfrm>
            <a:off x="12197953" y="3694063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3" name="Text 71"/>
          <p:cNvSpPr/>
          <p:nvPr/>
        </p:nvSpPr>
        <p:spPr>
          <a:xfrm>
            <a:off x="12159853" y="375776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13148965" y="3721298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쓴 태그 TOP10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2197953" y="4096494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태그클라우드, 크기=빈도.</a:t>
            </a:r>
            <a:endParaRPr lang="en-US" sz="1275" dirty="0"/>
          </a:p>
        </p:txBody>
      </p:sp>
      <p:sp>
        <p:nvSpPr>
          <p:cNvPr id="76" name="Shape 74"/>
          <p:cNvSpPr/>
          <p:nvPr/>
        </p:nvSpPr>
        <p:spPr>
          <a:xfrm>
            <a:off x="11978580" y="4553694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7" name="Shape 75"/>
          <p:cNvSpPr/>
          <p:nvPr/>
        </p:nvSpPr>
        <p:spPr>
          <a:xfrm>
            <a:off x="12197953" y="4645075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8" name="Text 76"/>
          <p:cNvSpPr/>
          <p:nvPr/>
        </p:nvSpPr>
        <p:spPr>
          <a:xfrm>
            <a:off x="12159853" y="470877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13148965" y="467216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최다 저장 도메인 TOP5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2197953" y="5047357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 리스트.</a:t>
            </a:r>
            <a:endParaRPr lang="en-US" sz="1275" dirty="0"/>
          </a:p>
        </p:txBody>
      </p:sp>
      <p:sp>
        <p:nvSpPr>
          <p:cNvPr id="81" name="Shape 79"/>
          <p:cNvSpPr/>
          <p:nvPr/>
        </p:nvSpPr>
        <p:spPr>
          <a:xfrm>
            <a:off x="11978580" y="5504557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2" name="Shape 80"/>
          <p:cNvSpPr/>
          <p:nvPr/>
        </p:nvSpPr>
        <p:spPr>
          <a:xfrm>
            <a:off x="12197953" y="5596086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3" name="Text 81"/>
          <p:cNvSpPr/>
          <p:nvPr/>
        </p:nvSpPr>
        <p:spPr>
          <a:xfrm>
            <a:off x="12159853" y="565978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13148965" y="5623173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활동 히트맵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12197953" y="5998369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contribution 스타일.</a:t>
            </a:r>
            <a:endParaRPr lang="en-US" sz="1275" dirty="0"/>
          </a:p>
        </p:txBody>
      </p:sp>
      <p:sp>
        <p:nvSpPr>
          <p:cNvPr id="86" name="Shape 84"/>
          <p:cNvSpPr/>
          <p:nvPr/>
        </p:nvSpPr>
        <p:spPr>
          <a:xfrm>
            <a:off x="11978580" y="6455569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7" name="Shape 85"/>
          <p:cNvSpPr/>
          <p:nvPr/>
        </p:nvSpPr>
        <p:spPr>
          <a:xfrm>
            <a:off x="12197953" y="654709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8" name="Text 86"/>
          <p:cNvSpPr/>
          <p:nvPr/>
        </p:nvSpPr>
        <p:spPr>
          <a:xfrm>
            <a:off x="12159853" y="6610796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3148965" y="657418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선택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2197953" y="6949380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30일/90일/전체. 무료는 최근 7일 요약만 노출.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임포트 (WEB-14) — ① 소스 선택 · 초기 업로드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로그인 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071" y="1645890"/>
            <a:ext cx="4709071" cy="767953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4617" y="1910804"/>
            <a:ext cx="51799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북마크 HTML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071" y="13716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241971" y="14352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890"/>
            <a:ext cx="4709071" cy="767953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36746" y="1910804"/>
            <a:ext cx="51799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34100" y="14352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071" y="2834580"/>
            <a:ext cx="9601200" cy="265167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053" y="4029373"/>
            <a:ext cx="98892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파일을 드래그하거나 클릭해서 선택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0071" y="256029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1241971" y="262398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51871" y="5760690"/>
            <a:ext cx="3657600" cy="731490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8991" y="6007298"/>
            <a:ext cx="40233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선택 버튼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51871" y="54864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213771" y="55500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071" y="6858000"/>
            <a:ext cx="96012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011" y="7196138"/>
            <a:ext cx="10561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파일 정보 (파일명·크기·소스타입)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80071" y="65835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1241971" y="66472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선택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북마크 HTML / 카카오톡 CSV 중 선택 후 업로드.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1978580" y="290765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2197953" y="2999184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853" y="306288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148965" y="302627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CSV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197953" y="3401467"/>
            <a:ext cx="54814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채팅 내보내기 CSV. Message 컬럼 내 URL만 추출, 대화 본문은 미보관.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1978580" y="41148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0" name="Shape 38"/>
          <p:cNvSpPr/>
          <p:nvPr/>
        </p:nvSpPr>
        <p:spPr>
          <a:xfrm>
            <a:off x="12197953" y="42061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1" name="Text 39"/>
          <p:cNvSpPr/>
          <p:nvPr/>
        </p:nvSpPr>
        <p:spPr>
          <a:xfrm>
            <a:off x="12159853" y="42698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148965" y="423326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드래그앤드롭 영역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197953" y="4608463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업로드 영역.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1978580" y="5065663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2197953" y="5157192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6" name="Text 44"/>
          <p:cNvSpPr/>
          <p:nvPr/>
        </p:nvSpPr>
        <p:spPr>
          <a:xfrm>
            <a:off x="12159853" y="5220891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3148965" y="5184279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선택 버튼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197953" y="5559475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또는 CSV 파일 선택.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1978580" y="601667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0" name="Shape 48"/>
          <p:cNvSpPr/>
          <p:nvPr/>
        </p:nvSpPr>
        <p:spPr>
          <a:xfrm>
            <a:off x="12197953" y="6108055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1" name="Text 49"/>
          <p:cNvSpPr/>
          <p:nvPr/>
        </p:nvSpPr>
        <p:spPr>
          <a:xfrm>
            <a:off x="12159853" y="6171754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3148965" y="613529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파일 정보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2197953" y="6510486"/>
            <a:ext cx="54814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파일명·크기 및 선택 소스 타입(HTML/카카오톡 CSV) 표시. 업로드 버튼 클릭 시 파일 검증 상태로 전환.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임포트 (WEB-14) — ② 업로드/태깅 진행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로그인 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1106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161" y="1828800"/>
            <a:ext cx="8138071" cy="54858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161" y="1828800"/>
            <a:ext cx="4882753" cy="548580"/>
          </a:xfrm>
          <a:prstGeom prst="rect">
            <a:avLst/>
          </a:prstGeom>
          <a:solidFill>
            <a:srgbClr val="666666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161" y="15543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059061" y="16180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290" y="1792188"/>
            <a:ext cx="1645890" cy="585192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35996" y="1983581"/>
            <a:ext cx="1810479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9418290" y="151789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9380190" y="1581596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161" y="3657600"/>
            <a:ext cx="8138071" cy="548580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161" y="3657600"/>
            <a:ext cx="2441377" cy="548580"/>
          </a:xfrm>
          <a:prstGeom prst="rect">
            <a:avLst/>
          </a:prstGeom>
          <a:solidFill>
            <a:srgbClr val="666666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161" y="33831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1059061" y="34468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3" name="Text 21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진행 상태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197953" y="2194471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프로그레스 바 표시.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1978580" y="2651671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7953" y="274320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8" name="Text 26"/>
          <p:cNvSpPr/>
          <p:nvPr/>
        </p:nvSpPr>
        <p:spPr>
          <a:xfrm>
            <a:off x="12159853" y="2806898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148965" y="277028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버튼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197953" y="3145482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진행 중 취소 가능. 속도 표시는 v1.1 고도화 항목.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11978580" y="3858667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97953" y="3950196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3" name="Text 31"/>
          <p:cNvSpPr/>
          <p:nvPr/>
        </p:nvSpPr>
        <p:spPr>
          <a:xfrm>
            <a:off x="12159853" y="4013895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148965" y="3977283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태깅 처리 상태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197953" y="4352479"/>
            <a:ext cx="54814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태깅 진행 상태(GPT-4o-mini 순차 처리). 카카오톡 CSV는 Message 내 URL만 추출 후 동일 흐름으로 AI 태깅, 대화 본문은 저장하지 않음.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7856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· Web App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866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임포트 — ③ 완료 · 실패 · 부분완료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MVP/v1.1 · 로그인 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863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3444180" cy="8412361"/>
          </a:xfrm>
          <a:prstGeom prst="rect">
            <a:avLst/>
          </a:prstGeom>
          <a:solidFill>
            <a:srgbClr val="E8E8E8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490" y="1343769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완료(성공)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490" y="15543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/>
          <p:nvPr/>
        </p:nvSpPr>
        <p:spPr>
          <a:xfrm>
            <a:off x="693390" y="16180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871" y="8595271"/>
            <a:ext cx="2895600" cy="639961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091" y="8814048"/>
            <a:ext cx="318516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홈으로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4358580" y="1097161"/>
            <a:ext cx="344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490" y="1343769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41490" y="15543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03390" y="16180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32871" y="8595271"/>
            <a:ext cx="2895600" cy="639961"/>
          </a:xfrm>
          <a:prstGeom prst="rect">
            <a:avLst/>
          </a:prstGeom>
          <a:solidFill>
            <a:srgbClr val="FFFFFF"/>
          </a:solidFill>
          <a:ln w="28575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8091" y="8814048"/>
            <a:ext cx="318516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168580" y="1097161"/>
            <a:ext cx="344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490" y="1343769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부분완료(v1.1)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51490" y="1554361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8313390" y="161805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2197953" y="1792188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12159853" y="1855887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148965" y="1819275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완료(성공)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197953" y="2194471"/>
            <a:ext cx="54814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HTML/CSV 임포트 완료 결과 표시. 성공 메시지+완료 개수. 결과요약(소스별)/임포트로그는 v1.1.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11978580" y="2907655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97953" y="2999184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9853" y="3062883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48965" y="3026271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197953" y="3401467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메시지+재시도 버튼. 에러 상세정보/문제보고는 v1.1.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1978580" y="4114800"/>
            <a:ext cx="5760690" cy="18157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2197953" y="4206180"/>
            <a:ext cx="767953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853" y="4269879"/>
            <a:ext cx="8441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148965" y="4233267"/>
            <a:ext cx="48078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 완료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197953" y="4608463"/>
            <a:ext cx="585397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메시지+실패 목록 (v1.1).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80" y="228154"/>
            <a:ext cx="1005840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· 콘텐츠 &gt; 뷰 선택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48580" y="594717"/>
            <a:ext cx="113019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· 리스트 · 컴팩트 뷰 비교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02511" y="407491"/>
            <a:ext cx="63367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전체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580" y="950565"/>
            <a:ext cx="17190690" cy="218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097161"/>
            <a:ext cx="344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490" y="1307604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그리드(default)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490" y="1554361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/>
          <p:nvPr/>
        </p:nvSpPr>
        <p:spPr>
          <a:xfrm>
            <a:off x="693390" y="1618059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0980" y="2103090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180" y="2179290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380" y="2255490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180" y="3150840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180" y="3303240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180" y="3455640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180" y="3703290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6871" y="2103090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071" y="2179290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9271" y="2255490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2423071" y="3150840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23071" y="3303240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071" y="3455640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23071" y="3703290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2"/>
          <p:cNvSpPr/>
          <p:nvPr/>
        </p:nvSpPr>
        <p:spPr>
          <a:xfrm>
            <a:off x="700980" y="4206180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180" y="4282380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380" y="4358580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180" y="5253930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180" y="5406330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180" y="5558730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180" y="5806380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2346871" y="4206180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071" y="4282380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9271" y="4358580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23071" y="5253930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23071" y="5406330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Shape 34"/>
          <p:cNvSpPr/>
          <p:nvPr/>
        </p:nvSpPr>
        <p:spPr>
          <a:xfrm>
            <a:off x="2423071" y="5558730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071" y="5806380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700980" y="6309271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180" y="6385471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3380" y="6461671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180" y="7357021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180" y="7509421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Shape 41"/>
          <p:cNvSpPr/>
          <p:nvPr/>
        </p:nvSpPr>
        <p:spPr>
          <a:xfrm>
            <a:off x="777180" y="7661821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180" y="7909471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46871" y="6309271"/>
            <a:ext cx="1493490" cy="18288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23071" y="6385471"/>
            <a:ext cx="1341090" cy="876300"/>
          </a:xfrm>
          <a:prstGeom prst="rect">
            <a:avLst/>
          </a:prstGeom>
          <a:solidFill>
            <a:srgbClr val="F0F0F0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99271" y="6461671"/>
            <a:ext cx="209550" cy="2095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2423071" y="7357021"/>
            <a:ext cx="1112490" cy="857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2423071" y="7509421"/>
            <a:ext cx="617190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Shape 48"/>
          <p:cNvSpPr/>
          <p:nvPr/>
        </p:nvSpPr>
        <p:spPr>
          <a:xfrm>
            <a:off x="2423071" y="7661821"/>
            <a:ext cx="51435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23071" y="7909471"/>
            <a:ext cx="536228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4358580" y="1097161"/>
            <a:ext cx="344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41490" y="1307604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541490" y="1554361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5" name="Text 53"/>
          <p:cNvSpPr/>
          <p:nvPr/>
        </p:nvSpPr>
        <p:spPr>
          <a:xfrm>
            <a:off x="4503390" y="1618059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4510980" y="2103090"/>
            <a:ext cx="3139380" cy="10057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4330" y="2236440"/>
            <a:ext cx="514350" cy="5143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58" name="Shape 56"/>
          <p:cNvSpPr/>
          <p:nvPr/>
        </p:nvSpPr>
        <p:spPr>
          <a:xfrm>
            <a:off x="5272980" y="2312640"/>
            <a:ext cx="1615380" cy="95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5272980" y="2503140"/>
            <a:ext cx="1255365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0" name="Shape 58"/>
          <p:cNvSpPr/>
          <p:nvPr/>
        </p:nvSpPr>
        <p:spPr>
          <a:xfrm>
            <a:off x="5272980" y="2674590"/>
            <a:ext cx="5334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83611" y="2893665"/>
            <a:ext cx="4762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2" name="Shape 60"/>
          <p:cNvSpPr/>
          <p:nvPr/>
        </p:nvSpPr>
        <p:spPr>
          <a:xfrm>
            <a:off x="4510980" y="3291780"/>
            <a:ext cx="3139380" cy="10057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44330" y="3425130"/>
            <a:ext cx="514350" cy="5143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64" name="Shape 62"/>
          <p:cNvSpPr/>
          <p:nvPr/>
        </p:nvSpPr>
        <p:spPr>
          <a:xfrm>
            <a:off x="5272980" y="3501330"/>
            <a:ext cx="1615380" cy="95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5" name="Shape 63"/>
          <p:cNvSpPr/>
          <p:nvPr/>
        </p:nvSpPr>
        <p:spPr>
          <a:xfrm>
            <a:off x="5272980" y="3691830"/>
            <a:ext cx="1255365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Shape 64"/>
          <p:cNvSpPr/>
          <p:nvPr/>
        </p:nvSpPr>
        <p:spPr>
          <a:xfrm>
            <a:off x="5272980" y="3863280"/>
            <a:ext cx="5334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83611" y="4082355"/>
            <a:ext cx="4762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8" name="Shape 66"/>
          <p:cNvSpPr/>
          <p:nvPr/>
        </p:nvSpPr>
        <p:spPr>
          <a:xfrm>
            <a:off x="4510980" y="4480471"/>
            <a:ext cx="3139380" cy="10057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44330" y="4613821"/>
            <a:ext cx="514350" cy="5143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70" name="Shape 68"/>
          <p:cNvSpPr/>
          <p:nvPr/>
        </p:nvSpPr>
        <p:spPr>
          <a:xfrm>
            <a:off x="5272980" y="4690021"/>
            <a:ext cx="1615380" cy="95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1" name="Shape 69"/>
          <p:cNvSpPr/>
          <p:nvPr/>
        </p:nvSpPr>
        <p:spPr>
          <a:xfrm>
            <a:off x="5272980" y="4880521"/>
            <a:ext cx="1255365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2" name="Shape 70"/>
          <p:cNvSpPr/>
          <p:nvPr/>
        </p:nvSpPr>
        <p:spPr>
          <a:xfrm>
            <a:off x="5272980" y="5051971"/>
            <a:ext cx="5334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83611" y="5271046"/>
            <a:ext cx="4762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4" name="Shape 72"/>
          <p:cNvSpPr/>
          <p:nvPr/>
        </p:nvSpPr>
        <p:spPr>
          <a:xfrm>
            <a:off x="4510980" y="5669161"/>
            <a:ext cx="3139380" cy="10057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44330" y="5802511"/>
            <a:ext cx="514350" cy="5143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76" name="Shape 74"/>
          <p:cNvSpPr/>
          <p:nvPr/>
        </p:nvSpPr>
        <p:spPr>
          <a:xfrm>
            <a:off x="5272980" y="5878711"/>
            <a:ext cx="1615380" cy="95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7" name="Shape 75"/>
          <p:cNvSpPr/>
          <p:nvPr/>
        </p:nvSpPr>
        <p:spPr>
          <a:xfrm>
            <a:off x="5272980" y="6069211"/>
            <a:ext cx="1255365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8" name="Shape 76"/>
          <p:cNvSpPr/>
          <p:nvPr/>
        </p:nvSpPr>
        <p:spPr>
          <a:xfrm>
            <a:off x="5272980" y="6240661"/>
            <a:ext cx="5334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83611" y="6459736"/>
            <a:ext cx="4762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0" name="Shape 78"/>
          <p:cNvSpPr/>
          <p:nvPr/>
        </p:nvSpPr>
        <p:spPr>
          <a:xfrm>
            <a:off x="4510980" y="6858000"/>
            <a:ext cx="3139380" cy="1005780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644330" y="6991350"/>
            <a:ext cx="514350" cy="51435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82" name="Shape 80"/>
          <p:cNvSpPr/>
          <p:nvPr/>
        </p:nvSpPr>
        <p:spPr>
          <a:xfrm>
            <a:off x="5272980" y="7067550"/>
            <a:ext cx="1615380" cy="952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3" name="Shape 81"/>
          <p:cNvSpPr/>
          <p:nvPr/>
        </p:nvSpPr>
        <p:spPr>
          <a:xfrm>
            <a:off x="5272980" y="7258050"/>
            <a:ext cx="1255365" cy="476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4" name="Shape 82"/>
          <p:cNvSpPr/>
          <p:nvPr/>
        </p:nvSpPr>
        <p:spPr>
          <a:xfrm>
            <a:off x="5272980" y="7429500"/>
            <a:ext cx="533400" cy="16192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83611" y="7648575"/>
            <a:ext cx="4762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6" name="Shape 84"/>
          <p:cNvSpPr/>
          <p:nvPr/>
        </p:nvSpPr>
        <p:spPr>
          <a:xfrm>
            <a:off x="8168580" y="1097161"/>
            <a:ext cx="344418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51490" y="1307604"/>
            <a:ext cx="3386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컴팩트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8351490" y="1554361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9" name="Text 87"/>
          <p:cNvSpPr/>
          <p:nvPr/>
        </p:nvSpPr>
        <p:spPr>
          <a:xfrm>
            <a:off x="8313390" y="1618059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8320980" y="2103090"/>
            <a:ext cx="3139380" cy="6016823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16230" y="2270671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92" name="Shape 90"/>
          <p:cNvSpPr/>
          <p:nvPr/>
        </p:nvSpPr>
        <p:spPr>
          <a:xfrm>
            <a:off x="8835330" y="2293590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3" name="Shape 91"/>
          <p:cNvSpPr/>
          <p:nvPr/>
        </p:nvSpPr>
        <p:spPr>
          <a:xfrm>
            <a:off x="8835330" y="2436465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4" name="Shape 92"/>
          <p:cNvSpPr/>
          <p:nvPr/>
        </p:nvSpPr>
        <p:spPr>
          <a:xfrm>
            <a:off x="10965061" y="2402086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5" name="Shape 93"/>
          <p:cNvSpPr/>
          <p:nvPr/>
        </p:nvSpPr>
        <p:spPr>
          <a:xfrm>
            <a:off x="8416230" y="2806898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6" name="Shape 94"/>
          <p:cNvSpPr/>
          <p:nvPr/>
        </p:nvSpPr>
        <p:spPr>
          <a:xfrm>
            <a:off x="8416230" y="3038475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97" name="Shape 95"/>
          <p:cNvSpPr/>
          <p:nvPr/>
        </p:nvSpPr>
        <p:spPr>
          <a:xfrm>
            <a:off x="8835330" y="3061246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8" name="Shape 96"/>
          <p:cNvSpPr/>
          <p:nvPr/>
        </p:nvSpPr>
        <p:spPr>
          <a:xfrm>
            <a:off x="8835330" y="3204121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9" name="Shape 97"/>
          <p:cNvSpPr/>
          <p:nvPr/>
        </p:nvSpPr>
        <p:spPr>
          <a:xfrm>
            <a:off x="10965061" y="3169890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0" name="Shape 98"/>
          <p:cNvSpPr/>
          <p:nvPr/>
        </p:nvSpPr>
        <p:spPr>
          <a:xfrm>
            <a:off x="8416230" y="3575596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1" name="Shape 99"/>
          <p:cNvSpPr/>
          <p:nvPr/>
        </p:nvSpPr>
        <p:spPr>
          <a:xfrm>
            <a:off x="8416230" y="3807023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835330" y="3829943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835330" y="3972818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965061" y="3937546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416230" y="4343400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416230" y="4574828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835330" y="4597598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835330" y="4740473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965061" y="4706243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416230" y="5111055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416230" y="5343525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835330" y="5366296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35330" y="5509171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965061" y="5473898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416230" y="5879753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416230" y="6111180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835330" y="6134100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835330" y="6276975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965061" y="6242596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416230" y="6647408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416230" y="6878836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835330" y="6901755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835330" y="7044630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965061" y="7010400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416230" y="7416105"/>
            <a:ext cx="2891730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416230" y="7647533"/>
            <a:ext cx="304800" cy="304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835330" y="7670453"/>
            <a:ext cx="1615380" cy="76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835330" y="7813328"/>
            <a:ext cx="1004887" cy="4286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965061" y="7778055"/>
            <a:ext cx="400050" cy="47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978580" y="1097161"/>
            <a:ext cx="5760690" cy="8412361"/>
          </a:xfrm>
          <a:prstGeom prst="rect">
            <a:avLst/>
          </a:prstGeom>
          <a:solidFill>
            <a:srgbClr val="FFFFFF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978580" y="1097161"/>
            <a:ext cx="5760690" cy="548580"/>
          </a:xfrm>
          <a:prstGeom prst="rect">
            <a:avLst/>
          </a:prstGeom>
          <a:solidFill>
            <a:srgbClr val="2B2B2B"/>
          </a:solidFill>
          <a:ln w="28575">
            <a:solidFill>
              <a:srgbClr val="99999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892170" y="1240482"/>
            <a:ext cx="59335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133" name="Shape 131"/>
          <p:cNvSpPr/>
          <p:nvPr/>
        </p:nvSpPr>
        <p:spPr>
          <a:xfrm>
            <a:off x="12197655" y="1792486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4" name="Text 132"/>
          <p:cNvSpPr/>
          <p:nvPr/>
        </p:nvSpPr>
        <p:spPr>
          <a:xfrm>
            <a:off x="12159555" y="1856184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5" name="Text 133"/>
          <p:cNvSpPr/>
          <p:nvPr/>
        </p:nvSpPr>
        <p:spPr>
          <a:xfrm>
            <a:off x="13149263" y="1819126"/>
            <a:ext cx="48080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뷰</a:t>
            </a:r>
            <a:endParaRPr lang="en-US" sz="1500" dirty="0"/>
          </a:p>
        </p:txBody>
      </p:sp>
      <p:sp>
        <p:nvSpPr>
          <p:cNvPr id="136" name="Text 134"/>
          <p:cNvSpPr/>
          <p:nvPr/>
        </p:nvSpPr>
        <p:spPr>
          <a:xfrm>
            <a:off x="12197655" y="2194471"/>
            <a:ext cx="585364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뷰(default).</a:t>
            </a:r>
            <a:endParaRPr lang="en-US" sz="1275" dirty="0"/>
          </a:p>
        </p:txBody>
      </p:sp>
      <p:sp>
        <p:nvSpPr>
          <p:cNvPr id="137" name="Shape 135"/>
          <p:cNvSpPr/>
          <p:nvPr/>
        </p:nvSpPr>
        <p:spPr>
          <a:xfrm>
            <a:off x="11978580" y="2651671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2197655" y="2743200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9" name="Text 137"/>
          <p:cNvSpPr/>
          <p:nvPr/>
        </p:nvSpPr>
        <p:spPr>
          <a:xfrm>
            <a:off x="12159555" y="2806898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0" name="Text 138"/>
          <p:cNvSpPr/>
          <p:nvPr/>
        </p:nvSpPr>
        <p:spPr>
          <a:xfrm>
            <a:off x="13149263" y="2770584"/>
            <a:ext cx="48080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 뷰</a:t>
            </a:r>
            <a:endParaRPr lang="en-US" sz="1500" dirty="0"/>
          </a:p>
        </p:txBody>
      </p:sp>
      <p:sp>
        <p:nvSpPr>
          <p:cNvPr id="141" name="Text 139"/>
          <p:cNvSpPr/>
          <p:nvPr/>
        </p:nvSpPr>
        <p:spPr>
          <a:xfrm>
            <a:off x="12197655" y="3145036"/>
            <a:ext cx="585364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 전환 옵션.</a:t>
            </a:r>
            <a:endParaRPr lang="en-US" sz="1275" dirty="0"/>
          </a:p>
        </p:txBody>
      </p:sp>
      <p:sp>
        <p:nvSpPr>
          <p:cNvPr id="142" name="Shape 140"/>
          <p:cNvSpPr/>
          <p:nvPr/>
        </p:nvSpPr>
        <p:spPr>
          <a:xfrm>
            <a:off x="11978580" y="3602236"/>
            <a:ext cx="5760690" cy="18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2197655" y="3693765"/>
            <a:ext cx="767655" cy="36567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44" name="Text 142"/>
          <p:cNvSpPr/>
          <p:nvPr/>
        </p:nvSpPr>
        <p:spPr>
          <a:xfrm>
            <a:off x="12159555" y="3757464"/>
            <a:ext cx="8438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5" name="Text 143"/>
          <p:cNvSpPr/>
          <p:nvPr/>
        </p:nvSpPr>
        <p:spPr>
          <a:xfrm>
            <a:off x="13149263" y="3721298"/>
            <a:ext cx="48080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컴팩트 뷰</a:t>
            </a:r>
            <a:endParaRPr lang="en-US" sz="1500" dirty="0"/>
          </a:p>
        </p:txBody>
      </p:sp>
      <p:sp>
        <p:nvSpPr>
          <p:cNvPr id="146" name="Text 144"/>
          <p:cNvSpPr/>
          <p:nvPr/>
        </p:nvSpPr>
        <p:spPr>
          <a:xfrm>
            <a:off x="12197655" y="4096643"/>
            <a:ext cx="5853648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A50 기준 MVP 포함, 정보 밀도 최대.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2073</Words>
  <Application>Microsoft Office PowerPoint</Application>
  <PresentationFormat>사용자 지정</PresentationFormat>
  <Paragraphs>571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 Yang</cp:lastModifiedBy>
  <cp:revision>4</cp:revision>
  <dcterms:created xsi:type="dcterms:W3CDTF">2026-07-09T07:35:24Z</dcterms:created>
  <dcterms:modified xsi:type="dcterms:W3CDTF">2026-07-09T07:44:19Z</dcterms:modified>
</cp:coreProperties>
</file>